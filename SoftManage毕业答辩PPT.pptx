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C00707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134E8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0"/>
            <a:ext cx="73152" cy="6858000"/>
          </a:xfrm>
          <a:prstGeom prst="rect">
            <a:avLst/>
          </a:prstGeom>
          <a:solidFill>
            <a:srgbClr val="FFB33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7280" y="1371600"/>
            <a:ext cx="7772400" cy="2560320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0876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C00707"/>
                </a:solidFill>
              </a:rPr>
              <a:t>SoftManage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4231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34E8E"/>
                </a:solidFill>
              </a:rPr>
              <a:t>软件项目管理系统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97180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666666"/>
                </a:solidFill>
              </a:rPr>
              <a:t>毕业设计答辩报告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1148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B33F"/>
                </a:solidFill>
              </a:rPr>
              <a:t>Spring Boot 3 · Vue 3 · 微服务架构 · 状态机工作流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" y="4846320"/>
            <a:ext cx="2194560" cy="914400"/>
          </a:xfrm>
          <a:prstGeom prst="rect">
            <a:avLst/>
          </a:prstGeom>
          <a:solidFill>
            <a:srgbClr val="134E8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484632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B33F"/>
                </a:solidFill>
              </a:rPr>
              <a:t>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5321808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微服务模块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0" y="4846320"/>
            <a:ext cx="2194560" cy="914400"/>
          </a:xfrm>
          <a:prstGeom prst="rect">
            <a:avLst/>
          </a:prstGeom>
          <a:solidFill>
            <a:srgbClr val="134E8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0" y="484632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B33F"/>
                </a:solidFill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5321808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独立数据库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4846320"/>
            <a:ext cx="2194560" cy="914400"/>
          </a:xfrm>
          <a:prstGeom prst="rect">
            <a:avLst/>
          </a:prstGeom>
          <a:solidFill>
            <a:srgbClr val="134E8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484632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B33F"/>
                </a:solidFill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5321808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角色权限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778239" y="4846320"/>
            <a:ext cx="2194560" cy="914400"/>
          </a:xfrm>
          <a:prstGeom prst="rect">
            <a:avLst/>
          </a:prstGeom>
          <a:solidFill>
            <a:srgbClr val="134E8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78239" y="484632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B33F"/>
                </a:solidFill>
              </a:rPr>
              <a:t>8+4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39" y="5321808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状态/异常流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548872" y="6473952"/>
            <a:ext cx="457200" cy="292608"/>
          </a:xfrm>
          <a:prstGeom prst="rect">
            <a:avLst/>
          </a:prstGeom>
          <a:solidFill>
            <a:srgbClr val="134E8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567160" y="6473952"/>
            <a:ext cx="4206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0E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C00707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目录 ·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DDCC"/>
                </a:solidFill>
              </a:rPr>
              <a:t>15页全程导览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134E8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548872" y="6473952"/>
            <a:ext cx="457200" cy="292608"/>
          </a:xfrm>
          <a:prstGeom prst="rect">
            <a:avLst/>
          </a:prstGeom>
          <a:solidFill>
            <a:srgbClr val="134E8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567160" y="6473952"/>
            <a:ext cx="4206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143000"/>
            <a:ext cx="475488" cy="658368"/>
          </a:xfrm>
          <a:prstGeom prst="rect">
            <a:avLst/>
          </a:prstGeom>
          <a:solidFill>
            <a:srgbClr val="134E8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1143000"/>
            <a:ext cx="47548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9808" y="1143000"/>
            <a:ext cx="3090672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1188720"/>
            <a:ext cx="2971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</a:rPr>
              <a:t>项目概述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1508760"/>
            <a:ext cx="2971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</a:rPr>
              <a:t>背景、目标、价值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05072" y="1143000"/>
            <a:ext cx="475488" cy="658368"/>
          </a:xfrm>
          <a:prstGeom prst="rect">
            <a:avLst/>
          </a:prstGeom>
          <a:solidFill>
            <a:srgbClr val="134E8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05072" y="1143000"/>
            <a:ext cx="47548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1143000"/>
            <a:ext cx="3090672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35424" y="1188720"/>
            <a:ext cx="2971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</a:rPr>
              <a:t>系统架构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5424" y="1508760"/>
            <a:ext cx="2971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</a:rPr>
              <a:t>微服务拓扑与通信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35824" y="1143000"/>
            <a:ext cx="475488" cy="658368"/>
          </a:xfrm>
          <a:prstGeom prst="rect">
            <a:avLst/>
          </a:prstGeom>
          <a:solidFill>
            <a:srgbClr val="134E8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35824" y="1143000"/>
            <a:ext cx="47548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11312" y="1143000"/>
            <a:ext cx="3090672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66176" y="1188720"/>
            <a:ext cx="2971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</a:rPr>
              <a:t>认证与安全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66176" y="1508760"/>
            <a:ext cx="2971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</a:rPr>
              <a:t>JWT + 网关过滤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1892808"/>
            <a:ext cx="475488" cy="658368"/>
          </a:xfrm>
          <a:prstGeom prst="rect">
            <a:avLst/>
          </a:prstGeom>
          <a:solidFill>
            <a:srgbClr val="134E8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4320" y="1892808"/>
            <a:ext cx="47548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9808" y="1892808"/>
            <a:ext cx="3090672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1938528"/>
            <a:ext cx="2971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</a:rPr>
              <a:t>工作流引擎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" y="2258568"/>
            <a:ext cx="2971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</a:rPr>
              <a:t>状态机 + 异常流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005072" y="1892808"/>
            <a:ext cx="475488" cy="658368"/>
          </a:xfrm>
          <a:prstGeom prst="rect">
            <a:avLst/>
          </a:prstGeom>
          <a:solidFill>
            <a:srgbClr val="134E8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005072" y="1892808"/>
            <a:ext cx="47548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480560" y="1892808"/>
            <a:ext cx="3090672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35424" y="1938528"/>
            <a:ext cx="2971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</a:rPr>
              <a:t>任务看板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35424" y="2258568"/>
            <a:ext cx="2971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</a:rPr>
              <a:t>Redis缓存 + 看板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35824" y="1892808"/>
            <a:ext cx="475488" cy="658368"/>
          </a:xfrm>
          <a:prstGeom prst="rect">
            <a:avLst/>
          </a:prstGeom>
          <a:solidFill>
            <a:srgbClr val="C00707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35824" y="1892808"/>
            <a:ext cx="47548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11312" y="1892808"/>
            <a:ext cx="3090672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66176" y="1938528"/>
            <a:ext cx="2971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</a:rPr>
              <a:t>报表与甘特图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66176" y="2258568"/>
            <a:ext cx="2971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</a:rPr>
              <a:t>ECharts可视化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2642616"/>
            <a:ext cx="475488" cy="658368"/>
          </a:xfrm>
          <a:prstGeom prst="rect">
            <a:avLst/>
          </a:prstGeom>
          <a:solidFill>
            <a:srgbClr val="C00707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74320" y="2642616"/>
            <a:ext cx="47548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9808" y="2642616"/>
            <a:ext cx="3090672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04672" y="2688336"/>
            <a:ext cx="2971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</a:rPr>
              <a:t>通知与审计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4672" y="3008376"/>
            <a:ext cx="2971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</a:rPr>
              <a:t>RabbitMQ异步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005072" y="2642616"/>
            <a:ext cx="475488" cy="658368"/>
          </a:xfrm>
          <a:prstGeom prst="rect">
            <a:avLst/>
          </a:prstGeom>
          <a:solidFill>
            <a:srgbClr val="C00707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005072" y="2642616"/>
            <a:ext cx="47548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08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480560" y="2642616"/>
            <a:ext cx="3090672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35424" y="2688336"/>
            <a:ext cx="2971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</a:rPr>
              <a:t>角色功能矩阵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35424" y="3008376"/>
            <a:ext cx="2971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</a:rPr>
              <a:t>PM/DEV/TEST/ADMIN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735824" y="2642616"/>
            <a:ext cx="475488" cy="658368"/>
          </a:xfrm>
          <a:prstGeom prst="rect">
            <a:avLst/>
          </a:prstGeom>
          <a:solidFill>
            <a:srgbClr val="C00707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735824" y="2642616"/>
            <a:ext cx="47548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09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211312" y="2642616"/>
            <a:ext cx="3090672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266176" y="2688336"/>
            <a:ext cx="2971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</a:rPr>
              <a:t>数据库设计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66176" y="3008376"/>
            <a:ext cx="2971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</a:rPr>
              <a:t>6库独立 + ER核心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74320" y="3392424"/>
            <a:ext cx="475488" cy="658368"/>
          </a:xfrm>
          <a:prstGeom prst="rect">
            <a:avLst/>
          </a:prstGeom>
          <a:solidFill>
            <a:srgbClr val="C00707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74320" y="3392424"/>
            <a:ext cx="47548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49808" y="3392424"/>
            <a:ext cx="3090672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04672" y="3438144"/>
            <a:ext cx="2971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</a:rPr>
              <a:t>前端工程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04672" y="3758184"/>
            <a:ext cx="2971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</a:rPr>
              <a:t>Vue3 + Pinia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005072" y="3392424"/>
            <a:ext cx="475488" cy="658368"/>
          </a:xfrm>
          <a:prstGeom prst="rect">
            <a:avLst/>
          </a:prstGeom>
          <a:solidFill>
            <a:srgbClr val="FF440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005072" y="3392424"/>
            <a:ext cx="47548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11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480560" y="3392424"/>
            <a:ext cx="3090672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535424" y="3438144"/>
            <a:ext cx="2971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</a:rPr>
              <a:t>核心亮点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535424" y="3758184"/>
            <a:ext cx="2971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</a:rPr>
              <a:t>三大技术创新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735824" y="3392424"/>
            <a:ext cx="475488" cy="658368"/>
          </a:xfrm>
          <a:prstGeom prst="rect">
            <a:avLst/>
          </a:prstGeom>
          <a:solidFill>
            <a:srgbClr val="FF440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735824" y="3392424"/>
            <a:ext cx="47548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211312" y="3392424"/>
            <a:ext cx="3090672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266176" y="3438144"/>
            <a:ext cx="2971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</a:rPr>
              <a:t>测试与优化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266176" y="3758184"/>
            <a:ext cx="2971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</a:rPr>
              <a:t>性能验证报告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74320" y="4142232"/>
            <a:ext cx="475488" cy="658368"/>
          </a:xfrm>
          <a:prstGeom prst="rect">
            <a:avLst/>
          </a:prstGeom>
          <a:solidFill>
            <a:srgbClr val="FF440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74320" y="4142232"/>
            <a:ext cx="47548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13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49808" y="4142232"/>
            <a:ext cx="3090672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04672" y="4187952"/>
            <a:ext cx="2971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</a:rPr>
              <a:t>运行演示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04672" y="4507992"/>
            <a:ext cx="2971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</a:rPr>
              <a:t>关键页面截图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005072" y="4142232"/>
            <a:ext cx="475488" cy="658368"/>
          </a:xfrm>
          <a:prstGeom prst="rect">
            <a:avLst/>
          </a:prstGeom>
          <a:solidFill>
            <a:srgbClr val="FF440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005072" y="4142232"/>
            <a:ext cx="47548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14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480560" y="4142232"/>
            <a:ext cx="3090672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535424" y="4187952"/>
            <a:ext cx="2971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</a:rPr>
              <a:t>项目总结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35424" y="4507992"/>
            <a:ext cx="2971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</a:rPr>
              <a:t>成果量化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735824" y="4142232"/>
            <a:ext cx="475488" cy="658368"/>
          </a:xfrm>
          <a:prstGeom prst="rect">
            <a:avLst/>
          </a:prstGeom>
          <a:solidFill>
            <a:srgbClr val="FF440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7735824" y="4142232"/>
            <a:ext cx="47548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15</a:t>
            </a:r>
          </a:p>
        </p:txBody>
      </p:sp>
      <p:sp>
        <p:nvSpPr>
          <p:cNvPr id="81" name="Rectangle 80"/>
          <p:cNvSpPr/>
          <p:nvPr/>
        </p:nvSpPr>
        <p:spPr>
          <a:xfrm>
            <a:off x="8211312" y="4142232"/>
            <a:ext cx="3090672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8266176" y="4187952"/>
            <a:ext cx="2971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</a:rPr>
              <a:t>展望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266176" y="4507992"/>
            <a:ext cx="2971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</a:rPr>
              <a:t>未来迭代规划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0E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C00707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01 · 项目概述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DDCC"/>
                </a:solidFill>
              </a:rPr>
              <a:t>背景、目标与核心价值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134E8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548872" y="6473952"/>
            <a:ext cx="457200" cy="292608"/>
          </a:xfrm>
          <a:prstGeom prst="rect">
            <a:avLst/>
          </a:prstGeom>
          <a:solidFill>
            <a:srgbClr val="134E8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567160" y="6473952"/>
            <a:ext cx="4206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097280"/>
            <a:ext cx="5303520" cy="5394960"/>
          </a:xfrm>
          <a:prstGeom prst="rect">
            <a:avLst/>
          </a:prstGeom>
          <a:solidFill>
            <a:srgbClr val="FFFFFF"/>
          </a:solidFill>
          <a:ln w="15240">
            <a:solidFill>
              <a:srgbClr val="E8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188720"/>
            <a:ext cx="49377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600" b="1">
                <a:solidFill>
                  <a:srgbClr val="C00707"/>
                </a:solidFill>
              </a:rPr>
              <a:t>📌 研究背景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1A1A1A"/>
                </a:solidFill>
              </a:rPr>
              <a:t>软件工程团队普遍面临任务状态混乱、跨角色协作低效、异常流程无法追踪等痛点。现有工具（如 Jira）功能分散、定制化不足，缺乏完整闭环验证机制。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C00707"/>
                </a:solidFill>
              </a:rPr>
              <a:t>🎯 项目目标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1A1A1A"/>
                </a:solidFill>
              </a:rPr>
              <a:t>构建面向软件研发全生命周期的微服务管理平台，覆盖 需求→开发→测试→发布 全流程，以状态机驱动流转、MQ 解耦通信、多角色权限管控为核心设计理念。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C00707"/>
                </a:solidFill>
              </a:rPr>
              <a:t>💡 核心价值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1A1A1A"/>
                </a:solidFill>
              </a:rPr>
              <a:t>▸ 统一状态机引擎，8状态+4异常流，精准闭环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1A1A1A"/>
                </a:solidFill>
              </a:rPr>
              <a:t>▸ 微服务独立部署，6数据库隔离，高内聚低耦合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1A1A1A"/>
                </a:solidFill>
              </a:rPr>
              <a:t>▸ 角色驱动 UI，PM/DEV/TEST/ADMIN 各司其职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1A1A1A"/>
                </a:solidFill>
              </a:rPr>
              <a:t>▸ Redis 双级缓存 + RabbitMQ 异步，提升响应效率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52160" y="1188720"/>
            <a:ext cx="2743200" cy="1508760"/>
          </a:xfrm>
          <a:prstGeom prst="rect">
            <a:avLst/>
          </a:prstGeom>
          <a:solidFill>
            <a:srgbClr val="C00707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60" y="1325880"/>
            <a:ext cx="2743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</a:rPr>
              <a:t>95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20574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</a:rPr>
              <a:t>Java 源文件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23960" y="1188720"/>
            <a:ext cx="2743200" cy="1508760"/>
          </a:xfrm>
          <a:prstGeom prst="rect">
            <a:avLst/>
          </a:prstGeom>
          <a:solidFill>
            <a:srgbClr val="134E8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23960" y="1325880"/>
            <a:ext cx="2743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</a:rPr>
              <a:t>37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23960" y="20574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</a:rPr>
              <a:t>Vue/JS 组件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52160" y="3017520"/>
            <a:ext cx="2743200" cy="1508760"/>
          </a:xfrm>
          <a:prstGeom prst="rect">
            <a:avLst/>
          </a:prstGeom>
          <a:solidFill>
            <a:srgbClr val="FF440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52160" y="3154680"/>
            <a:ext cx="2743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</a:rPr>
              <a:t>156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52160" y="3886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</a:rPr>
              <a:t>总文件数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823960" y="3017520"/>
            <a:ext cx="2743200" cy="1508760"/>
          </a:xfrm>
          <a:prstGeom prst="rect">
            <a:avLst/>
          </a:prstGeom>
          <a:solidFill>
            <a:srgbClr val="FFB33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23960" y="3154680"/>
            <a:ext cx="2743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23960" y="3886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</a:rPr>
              <a:t>独立数据库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52160" y="502920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34E8E"/>
                </a:solidFill>
              </a:rPr>
              <a:t>「需求驱动 · 状态流转 · 全程可追溯」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0E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C00707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02 · 系统架构设计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DDCC"/>
                </a:solidFill>
              </a:rPr>
              <a:t>微服务拓扑 · 分层通信 · 职责边界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134E8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548872" y="6473952"/>
            <a:ext cx="457200" cy="292608"/>
          </a:xfrm>
          <a:prstGeom prst="rect">
            <a:avLst/>
          </a:prstGeom>
          <a:solidFill>
            <a:srgbClr val="134E8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567160" y="6473952"/>
            <a:ext cx="4206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" y="1143000"/>
            <a:ext cx="320040" cy="749808"/>
          </a:xfrm>
          <a:prstGeom prst="rect">
            <a:avLst/>
          </a:prstGeom>
          <a:solidFill>
            <a:srgbClr val="134E8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" y="1143000"/>
            <a:ext cx="320040" cy="749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前端层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" y="2084831"/>
            <a:ext cx="320040" cy="749808"/>
          </a:xfrm>
          <a:prstGeom prst="rect">
            <a:avLst/>
          </a:prstGeom>
          <a:solidFill>
            <a:srgbClr val="C00707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" y="2084831"/>
            <a:ext cx="320040" cy="749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网关层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" y="2999232"/>
            <a:ext cx="320040" cy="749808"/>
          </a:xfrm>
          <a:prstGeom prst="rect">
            <a:avLst/>
          </a:prstGeom>
          <a:solidFill>
            <a:srgbClr val="FF440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" y="2999232"/>
            <a:ext cx="320040" cy="749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服务层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" y="5120640"/>
            <a:ext cx="320040" cy="749808"/>
          </a:xfrm>
          <a:prstGeom prst="rect">
            <a:avLst/>
          </a:prstGeom>
          <a:solidFill>
            <a:srgbClr val="FFB33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" y="5120640"/>
            <a:ext cx="320040" cy="749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数据层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" y="6035040"/>
            <a:ext cx="320040" cy="749808"/>
          </a:xfrm>
          <a:prstGeom prst="rect">
            <a:avLst/>
          </a:prstGeom>
          <a:solidFill>
            <a:srgbClr val="66666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" y="6035040"/>
            <a:ext cx="320040" cy="749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基础设施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1097280"/>
            <a:ext cx="11430000" cy="777240"/>
          </a:xfrm>
          <a:prstGeom prst="rect">
            <a:avLst/>
          </a:prstGeom>
          <a:solidFill>
            <a:srgbClr val="134E8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1170432"/>
            <a:ext cx="2468880" cy="621792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1170432"/>
            <a:ext cx="24688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34E8E"/>
                </a:solidFill>
              </a:rPr>
              <a:t>Vue 3 + Pinia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91840" y="1170432"/>
            <a:ext cx="2468880" cy="621792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91840" y="1170432"/>
            <a:ext cx="24688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34E8E"/>
                </a:solidFill>
              </a:rPr>
              <a:t>Element Plus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35040" y="1170432"/>
            <a:ext cx="2468880" cy="621792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35040" y="1170432"/>
            <a:ext cx="24688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34E8E"/>
                </a:solidFill>
              </a:rPr>
              <a:t>ECharts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778240" y="1170432"/>
            <a:ext cx="2468880" cy="621792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78240" y="1170432"/>
            <a:ext cx="24688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34E8E"/>
                </a:solidFill>
              </a:rPr>
              <a:t>Axios / Router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0" y="1920240"/>
            <a:ext cx="73152" cy="201168"/>
          </a:xfrm>
          <a:prstGeom prst="rect">
            <a:avLst/>
          </a:prstGeom>
          <a:solidFill>
            <a:srgbClr val="FF440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00400" y="2084831"/>
            <a:ext cx="5486400" cy="777240"/>
          </a:xfrm>
          <a:prstGeom prst="rect">
            <a:avLst/>
          </a:prstGeom>
          <a:solidFill>
            <a:srgbClr val="C00707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00400" y="2084831"/>
            <a:ext cx="5486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API Gateway (port 8080)  ·  JWT 全局过滤  ·  路由转发  ·  限流保护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0" y="2907792"/>
            <a:ext cx="73152" cy="128016"/>
          </a:xfrm>
          <a:prstGeom prst="rect">
            <a:avLst/>
          </a:prstGeom>
          <a:solidFill>
            <a:srgbClr val="FF440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65760" y="2999232"/>
            <a:ext cx="1783080" cy="914400"/>
          </a:xfrm>
          <a:prstGeom prst="rect">
            <a:avLst/>
          </a:prstGeom>
          <a:solidFill>
            <a:srgbClr val="C00707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" y="2999232"/>
            <a:ext cx="1783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sm-auth
8001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267712" y="2999232"/>
            <a:ext cx="1783080" cy="914400"/>
          </a:xfrm>
          <a:prstGeom prst="rect">
            <a:avLst/>
          </a:prstGeom>
          <a:solidFill>
            <a:srgbClr val="134E8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267712" y="2999232"/>
            <a:ext cx="1783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sm-task
8002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69664" y="2999232"/>
            <a:ext cx="1783080" cy="914400"/>
          </a:xfrm>
          <a:prstGeom prst="rect">
            <a:avLst/>
          </a:prstGeom>
          <a:solidFill>
            <a:srgbClr val="FF440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69664" y="2999232"/>
            <a:ext cx="1783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sm-workflow
8003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71616" y="2999232"/>
            <a:ext cx="1783080" cy="914400"/>
          </a:xfrm>
          <a:prstGeom prst="rect">
            <a:avLst/>
          </a:prstGeom>
          <a:solidFill>
            <a:srgbClr val="FFB33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071616" y="2999232"/>
            <a:ext cx="1783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sm-report
8004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973568" y="2999232"/>
            <a:ext cx="1783080" cy="914400"/>
          </a:xfrm>
          <a:prstGeom prst="rect">
            <a:avLst/>
          </a:prstGeom>
          <a:solidFill>
            <a:srgbClr val="2E7D32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973568" y="2999232"/>
            <a:ext cx="1783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sm-notify
8005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875520" y="2999232"/>
            <a:ext cx="1783080" cy="914400"/>
          </a:xfrm>
          <a:prstGeom prst="rect">
            <a:avLst/>
          </a:prstGeom>
          <a:solidFill>
            <a:srgbClr val="6A1A4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875520" y="2999232"/>
            <a:ext cx="1783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sm-audit
8006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760" y="4023360"/>
            <a:ext cx="11338560" cy="347472"/>
          </a:xfrm>
          <a:prstGeom prst="rect">
            <a:avLst/>
          </a:prstGeom>
          <a:solidFill>
            <a:srgbClr val="4A4A4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5760" y="4023360"/>
            <a:ext cx="1133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B33F"/>
                </a:solidFill>
              </a:rPr>
              <a:t>◀──  RabbitMQ 消息总线  (workflow / notification / audit exchange)  ──▶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4526280"/>
            <a:ext cx="1783080" cy="594360"/>
          </a:xfrm>
          <a:prstGeom prst="rect">
            <a:avLst/>
          </a:prstGeom>
          <a:solidFill>
            <a:srgbClr val="134E8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65760" y="4526280"/>
            <a:ext cx="1783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auth_db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267712" y="4526280"/>
            <a:ext cx="1783080" cy="594360"/>
          </a:xfrm>
          <a:prstGeom prst="rect">
            <a:avLst/>
          </a:prstGeom>
          <a:solidFill>
            <a:srgbClr val="134E8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267712" y="4526280"/>
            <a:ext cx="1783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task_db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169664" y="4526280"/>
            <a:ext cx="1783080" cy="594360"/>
          </a:xfrm>
          <a:prstGeom prst="rect">
            <a:avLst/>
          </a:prstGeom>
          <a:solidFill>
            <a:srgbClr val="134E8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169664" y="4526280"/>
            <a:ext cx="1783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workflow_db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071616" y="4526280"/>
            <a:ext cx="1783080" cy="594360"/>
          </a:xfrm>
          <a:prstGeom prst="rect">
            <a:avLst/>
          </a:prstGeom>
          <a:solidFill>
            <a:srgbClr val="134E8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071616" y="4526280"/>
            <a:ext cx="1783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report_db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973568" y="4526280"/>
            <a:ext cx="1783080" cy="594360"/>
          </a:xfrm>
          <a:prstGeom prst="rect">
            <a:avLst/>
          </a:prstGeom>
          <a:solidFill>
            <a:srgbClr val="134E8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973568" y="4526280"/>
            <a:ext cx="1783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notification_db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875520" y="4526280"/>
            <a:ext cx="1783080" cy="594360"/>
          </a:xfrm>
          <a:prstGeom prst="rect">
            <a:avLst/>
          </a:prstGeom>
          <a:solidFill>
            <a:srgbClr val="134E8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875520" y="4526280"/>
            <a:ext cx="1783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audit_db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65760" y="5285232"/>
            <a:ext cx="2697480" cy="411480"/>
          </a:xfrm>
          <a:prstGeom prst="rect">
            <a:avLst/>
          </a:prstGeom>
          <a:solidFill>
            <a:srgbClr val="134E8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65760" y="5285232"/>
            <a:ext cx="2697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MySQL 8.0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200400" y="5285232"/>
            <a:ext cx="2697480" cy="411480"/>
          </a:xfrm>
          <a:prstGeom prst="rect">
            <a:avLst/>
          </a:prstGeom>
          <a:solidFill>
            <a:srgbClr val="C00707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200400" y="5285232"/>
            <a:ext cx="2697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Redis (5min TTL)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035040" y="5285232"/>
            <a:ext cx="2697480" cy="411480"/>
          </a:xfrm>
          <a:prstGeom prst="rect">
            <a:avLst/>
          </a:prstGeom>
          <a:solidFill>
            <a:srgbClr val="FF440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035040" y="5285232"/>
            <a:ext cx="2697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RabbitMQ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869680" y="5285232"/>
            <a:ext cx="2697480" cy="411480"/>
          </a:xfrm>
          <a:prstGeom prst="rect">
            <a:avLst/>
          </a:prstGeom>
          <a:solidFill>
            <a:srgbClr val="FFB33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869680" y="5285232"/>
            <a:ext cx="2697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JWT + BCrypt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0E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C00707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03 · 认证与安全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DDCC"/>
                </a:solidFill>
              </a:rPr>
              <a:t>JWT · BCrypt · 网关过滤器 · 白名单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134E8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548872" y="6473952"/>
            <a:ext cx="457200" cy="292608"/>
          </a:xfrm>
          <a:prstGeom prst="rect">
            <a:avLst/>
          </a:prstGeom>
          <a:solidFill>
            <a:srgbClr val="134E8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567160" y="6473952"/>
            <a:ext cx="4206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097280"/>
            <a:ext cx="5486400" cy="5394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1887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00707"/>
                </a:solidFill>
              </a:rPr>
              <a:t>JWT 认证流程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627632"/>
            <a:ext cx="5029200" cy="45720"/>
          </a:xfrm>
          <a:prstGeom prst="rect">
            <a:avLst/>
          </a:prstGeom>
          <a:solidFill>
            <a:srgbClr val="FF440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737360"/>
            <a:ext cx="3657600" cy="475488"/>
          </a:xfrm>
          <a:prstGeom prst="rect">
            <a:avLst/>
          </a:prstGeom>
          <a:solidFill>
            <a:srgbClr val="134E8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1737360"/>
            <a:ext cx="3566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① 用户登录请求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48840" y="2212848"/>
            <a:ext cx="54864" cy="73152"/>
          </a:xfrm>
          <a:prstGeom prst="rect">
            <a:avLst/>
          </a:prstGeom>
          <a:solidFill>
            <a:srgbClr val="FF440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2286000"/>
            <a:ext cx="3657600" cy="475488"/>
          </a:xfrm>
          <a:prstGeom prst="rect">
            <a:avLst/>
          </a:prstGeom>
          <a:solidFill>
            <a:srgbClr val="C00707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2286000"/>
            <a:ext cx="3566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② 校验账密 + BCrypt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48840" y="2761488"/>
            <a:ext cx="54864" cy="73152"/>
          </a:xfrm>
          <a:prstGeom prst="rect">
            <a:avLst/>
          </a:prstGeom>
          <a:solidFill>
            <a:srgbClr val="FF440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2834640"/>
            <a:ext cx="3657600" cy="475488"/>
          </a:xfrm>
          <a:prstGeom prst="rect">
            <a:avLst/>
          </a:prstGeom>
          <a:solidFill>
            <a:srgbClr val="FF440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2834640"/>
            <a:ext cx="3566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③ 签发 JWT Token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148840" y="3310128"/>
            <a:ext cx="54864" cy="73152"/>
          </a:xfrm>
          <a:prstGeom prst="rect">
            <a:avLst/>
          </a:prstGeom>
          <a:solidFill>
            <a:srgbClr val="FF440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3383280"/>
            <a:ext cx="3657600" cy="475488"/>
          </a:xfrm>
          <a:prstGeom prst="rect">
            <a:avLst/>
          </a:prstGeom>
          <a:solidFill>
            <a:srgbClr val="134E8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3383280"/>
            <a:ext cx="3566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④ 请求携带 Bearer Token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48840" y="3858768"/>
            <a:ext cx="54864" cy="73152"/>
          </a:xfrm>
          <a:prstGeom prst="rect">
            <a:avLst/>
          </a:prstGeom>
          <a:solidFill>
            <a:srgbClr val="FF440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3931920"/>
            <a:ext cx="3657600" cy="475488"/>
          </a:xfrm>
          <a:prstGeom prst="rect">
            <a:avLst/>
          </a:prstGeom>
          <a:solidFill>
            <a:srgbClr val="C00707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3931920"/>
            <a:ext cx="3566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⑤ Gateway JWT 全局过滤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148840" y="4407408"/>
            <a:ext cx="54864" cy="73152"/>
          </a:xfrm>
          <a:prstGeom prst="rect">
            <a:avLst/>
          </a:prstGeom>
          <a:solidFill>
            <a:srgbClr val="FF440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4480560"/>
            <a:ext cx="3657600" cy="475488"/>
          </a:xfrm>
          <a:prstGeom prst="rect">
            <a:avLst/>
          </a:prstGeom>
          <a:solidFill>
            <a:srgbClr val="FF440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4480560"/>
            <a:ext cx="3566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⑥ 解析 Claims 注入 Header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148840" y="4956048"/>
            <a:ext cx="54864" cy="73152"/>
          </a:xfrm>
          <a:prstGeom prst="rect">
            <a:avLst/>
          </a:prstGeom>
          <a:solidFill>
            <a:srgbClr val="FF440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" y="5029200"/>
            <a:ext cx="3657600" cy="475488"/>
          </a:xfrm>
          <a:prstGeom prst="rect">
            <a:avLst/>
          </a:prstGeom>
          <a:solidFill>
            <a:srgbClr val="134E8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5029200"/>
            <a:ext cx="3566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⑦ 下游服务读取用户信息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1097280"/>
            <a:ext cx="5852160" cy="1737360"/>
          </a:xfrm>
          <a:prstGeom prst="rect">
            <a:avLst/>
          </a:prstGeom>
          <a:solidFill>
            <a:srgbClr val="FFFFFF"/>
          </a:solidFill>
          <a:ln w="15240">
            <a:solidFill>
              <a:srgbClr val="E8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99632" y="1234440"/>
            <a:ext cx="5522976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500" b="1">
                <a:solidFill>
                  <a:srgbClr val="C00707"/>
                </a:solidFill>
              </a:rPr>
              <a:t>Gateway JwtAuthFilter 要点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A1A1A"/>
                </a:solidFill>
              </a:rPr>
              <a:t>● 路径白名单放行（/auth/login 等）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A1A1A"/>
                </a:solidFill>
              </a:rPr>
              <a:t>● 非白名单路径强制验证 Token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A1A1A"/>
                </a:solidFill>
              </a:rPr>
              <a:t>● 解析 Claims → X-User-Id / X-Role Header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A1A1A"/>
                </a:solidFill>
              </a:rPr>
              <a:t>● Order=-100 确保最先执行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35040" y="2926080"/>
            <a:ext cx="5852160" cy="1417320"/>
          </a:xfrm>
          <a:prstGeom prst="rect">
            <a:avLst/>
          </a:prstGeom>
          <a:solidFill>
            <a:srgbClr val="FFFFFF"/>
          </a:solidFill>
          <a:ln w="15240">
            <a:solidFill>
              <a:srgbClr val="E8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99632" y="3063240"/>
            <a:ext cx="5522976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500" b="1">
                <a:solidFill>
                  <a:srgbClr val="134E8E"/>
                </a:solidFill>
              </a:rPr>
              <a:t>JWT Payload 设计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A1A1A"/>
                </a:solidFill>
              </a:rPr>
              <a:t>● Token 包含: userId / username / role / exp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A1A1A"/>
                </a:solidFill>
              </a:rPr>
              <a:t>● HmacSHA256 签名，密钥由配置注入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A1A1A"/>
                </a:solidFill>
              </a:rPr>
              <a:t>● 过期后返回 401 JSON 标准响应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0" y="4462272"/>
            <a:ext cx="5852160" cy="1280160"/>
          </a:xfrm>
          <a:prstGeom prst="rect">
            <a:avLst/>
          </a:prstGeom>
          <a:solidFill>
            <a:srgbClr val="FFFFFF"/>
          </a:solidFill>
          <a:ln w="15240">
            <a:solidFill>
              <a:srgbClr val="E8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99632" y="4599432"/>
            <a:ext cx="552297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500" b="1">
                <a:solidFill>
                  <a:srgbClr val="FF4400"/>
                </a:solidFill>
              </a:rPr>
              <a:t>密码安全与角色体系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A1A1A"/>
                </a:solidFill>
              </a:rPr>
              <a:t>● BCrypt 哈希存储，不可逆加密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A1A1A"/>
                </a:solidFill>
              </a:rPr>
              <a:t>● Spring Security 配置 RBAC 路由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A1A1A"/>
                </a:solidFill>
              </a:rPr>
              <a:t>● 角色: ADMIN / PM / DEV / TEST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0E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C00707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04 · 状态机工作流引擎 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DDCC"/>
                </a:solidFill>
              </a:rPr>
              <a:t>8状态 · 4异常流 · 阻塞恢复 · 闭环验证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134E8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548872" y="6473952"/>
            <a:ext cx="457200" cy="292608"/>
          </a:xfrm>
          <a:prstGeom prst="rect">
            <a:avLst/>
          </a:prstGeom>
          <a:solidFill>
            <a:srgbClr val="134E8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567160" y="6473952"/>
            <a:ext cx="4206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234440"/>
            <a:ext cx="1298448" cy="621792"/>
          </a:xfrm>
          <a:prstGeom prst="rect">
            <a:avLst/>
          </a:prstGeom>
          <a:solidFill>
            <a:srgbClr val="134E8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" y="1234440"/>
            <a:ext cx="1298448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需求管理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27048" y="1490472"/>
            <a:ext cx="137160" cy="109728"/>
          </a:xfrm>
          <a:prstGeom prst="rect">
            <a:avLst/>
          </a:prstGeom>
          <a:solidFill>
            <a:srgbClr val="FF440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664208" y="1234440"/>
            <a:ext cx="1298448" cy="621792"/>
          </a:xfrm>
          <a:prstGeom prst="rect">
            <a:avLst/>
          </a:prstGeom>
          <a:solidFill>
            <a:srgbClr val="134E8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64208" y="1234440"/>
            <a:ext cx="1298448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任务准备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62656" y="1490472"/>
            <a:ext cx="137160" cy="109728"/>
          </a:xfrm>
          <a:prstGeom prst="rect">
            <a:avLst/>
          </a:prstGeom>
          <a:solidFill>
            <a:srgbClr val="FF440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099816" y="1234440"/>
            <a:ext cx="1298448" cy="621792"/>
          </a:xfrm>
          <a:prstGeom prst="rect">
            <a:avLst/>
          </a:prstGeom>
          <a:solidFill>
            <a:srgbClr val="C00707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99816" y="1234440"/>
            <a:ext cx="1298448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开发中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98264" y="1490472"/>
            <a:ext cx="137160" cy="109728"/>
          </a:xfrm>
          <a:prstGeom prst="rect">
            <a:avLst/>
          </a:prstGeom>
          <a:solidFill>
            <a:srgbClr val="FF440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35424" y="1234440"/>
            <a:ext cx="1298448" cy="621792"/>
          </a:xfrm>
          <a:prstGeom prst="rect">
            <a:avLst/>
          </a:prstGeom>
          <a:solidFill>
            <a:srgbClr val="FF440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35424" y="1234440"/>
            <a:ext cx="1298448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待评审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33872" y="1490472"/>
            <a:ext cx="137160" cy="109728"/>
          </a:xfrm>
          <a:prstGeom prst="rect">
            <a:avLst/>
          </a:prstGeom>
          <a:solidFill>
            <a:srgbClr val="FF440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71032" y="1234440"/>
            <a:ext cx="1298448" cy="621792"/>
          </a:xfrm>
          <a:prstGeom prst="rect">
            <a:avLst/>
          </a:prstGeom>
          <a:solidFill>
            <a:srgbClr val="C00707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71032" y="1234440"/>
            <a:ext cx="1298448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测试中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69480" y="1490472"/>
            <a:ext cx="137160" cy="109728"/>
          </a:xfrm>
          <a:prstGeom prst="rect">
            <a:avLst/>
          </a:prstGeom>
          <a:solidFill>
            <a:srgbClr val="FF440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406640" y="1234440"/>
            <a:ext cx="1298448" cy="621792"/>
          </a:xfrm>
          <a:prstGeom prst="rect">
            <a:avLst/>
          </a:prstGeom>
          <a:solidFill>
            <a:srgbClr val="FF440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06640" y="1234440"/>
            <a:ext cx="1298448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待发布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705088" y="1490472"/>
            <a:ext cx="137160" cy="109728"/>
          </a:xfrm>
          <a:prstGeom prst="rect">
            <a:avLst/>
          </a:prstGeom>
          <a:solidFill>
            <a:srgbClr val="FF440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842248" y="1234440"/>
            <a:ext cx="1298448" cy="621792"/>
          </a:xfrm>
          <a:prstGeom prst="rect">
            <a:avLst/>
          </a:prstGeom>
          <a:solidFill>
            <a:srgbClr val="FFB33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842248" y="1234440"/>
            <a:ext cx="1298448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已上线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140696" y="1490472"/>
            <a:ext cx="137160" cy="109728"/>
          </a:xfrm>
          <a:prstGeom prst="rect">
            <a:avLst/>
          </a:prstGeom>
          <a:solidFill>
            <a:srgbClr val="FF440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277856" y="1234440"/>
            <a:ext cx="1298448" cy="621792"/>
          </a:xfrm>
          <a:prstGeom prst="rect">
            <a:avLst/>
          </a:prstGeom>
          <a:solidFill>
            <a:srgbClr val="2E7D32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277856" y="1234440"/>
            <a:ext cx="1298448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已完成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4320" y="20116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0707"/>
                </a:solidFill>
              </a:rPr>
              <a:t>◀ 异常回退流 (4种)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2377440"/>
            <a:ext cx="2743200" cy="731520"/>
          </a:xfrm>
          <a:prstGeom prst="rect">
            <a:avLst/>
          </a:prstGeom>
          <a:solidFill>
            <a:srgbClr val="C00707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237744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评审驳回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" y="274320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待评审 → 开发中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0" y="2377440"/>
            <a:ext cx="2743200" cy="731520"/>
          </a:xfrm>
          <a:prstGeom prst="rect">
            <a:avLst/>
          </a:prstGeom>
          <a:solidFill>
            <a:srgbClr val="FF440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00400" y="237744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测试失败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00400" y="274320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测试中 → 开发中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26480" y="2377440"/>
            <a:ext cx="2743200" cy="731520"/>
          </a:xfrm>
          <a:prstGeom prst="rect">
            <a:avLst/>
          </a:prstGeom>
          <a:solidFill>
            <a:srgbClr val="FFB33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26480" y="237744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发布拒绝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26480" y="274320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待发布 → 测试中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052560" y="2377440"/>
            <a:ext cx="2743200" cy="731520"/>
          </a:xfrm>
          <a:prstGeom prst="rect">
            <a:avLst/>
          </a:prstGeom>
          <a:solidFill>
            <a:srgbClr val="134E8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052560" y="237744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任务阻塞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52560" y="274320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任意→BLOCKED→精确恢复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74320" y="3291840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34E8E"/>
                </a:solidFill>
              </a:rPr>
              <a:t>闭环验证链（4步骤）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28600" y="3703320"/>
            <a:ext cx="2148840" cy="1005840"/>
          </a:xfrm>
          <a:prstGeom prst="rect">
            <a:avLst/>
          </a:prstGeom>
          <a:solidFill>
            <a:srgbClr val="C00707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28600" y="3749039"/>
            <a:ext cx="2148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异常触发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28600" y="4114800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异常记录
创建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377440" y="4096512"/>
            <a:ext cx="164592" cy="128016"/>
          </a:xfrm>
          <a:prstGeom prst="rect">
            <a:avLst/>
          </a:prstGeom>
          <a:solidFill>
            <a:srgbClr val="FF440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115402449400" y="3703320"/>
            <a:ext cx="2148840" cy="1005840"/>
          </a:xfrm>
          <a:prstGeom prst="rect">
            <a:avLst/>
          </a:prstGeom>
          <a:solidFill>
            <a:srgbClr val="FF440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115402449400" y="3749039"/>
            <a:ext cx="2148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Step 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115402449400" y="4114800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修复完成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115404598240" y="4096512"/>
            <a:ext cx="164592" cy="128016"/>
          </a:xfrm>
          <a:prstGeom prst="rect">
            <a:avLst/>
          </a:prstGeom>
          <a:solidFill>
            <a:srgbClr val="FF440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230804670200" y="3703320"/>
            <a:ext cx="2148840" cy="1005840"/>
          </a:xfrm>
          <a:prstGeom prst="rect">
            <a:avLst/>
          </a:prstGeom>
          <a:solidFill>
            <a:srgbClr val="134E8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230804670200" y="3749039"/>
            <a:ext cx="2148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Step 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230804670200" y="4114800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评审通过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230806819040" y="4096512"/>
            <a:ext cx="164592" cy="128016"/>
          </a:xfrm>
          <a:prstGeom prst="rect">
            <a:avLst/>
          </a:prstGeom>
          <a:solidFill>
            <a:srgbClr val="FF440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346206891000" y="3703320"/>
            <a:ext cx="2148840" cy="1005840"/>
          </a:xfrm>
          <a:prstGeom prst="rect">
            <a:avLst/>
          </a:prstGeom>
          <a:solidFill>
            <a:srgbClr val="FFB33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346206891000" y="3749039"/>
            <a:ext cx="2148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Step 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346206891000" y="4114800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测试通过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346209039840" y="4096512"/>
            <a:ext cx="164592" cy="128016"/>
          </a:xfrm>
          <a:prstGeom prst="rect">
            <a:avLst/>
          </a:prstGeom>
          <a:solidFill>
            <a:srgbClr val="FF440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8461609111800" y="3703320"/>
            <a:ext cx="2148840" cy="1005840"/>
          </a:xfrm>
          <a:prstGeom prst="rect">
            <a:avLst/>
          </a:prstGeom>
          <a:solidFill>
            <a:srgbClr val="2E7D32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461609111800" y="3749039"/>
            <a:ext cx="2148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Step 4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461609111800" y="4114800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闭环完成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74320" y="4892040"/>
            <a:ext cx="11612880" cy="1600200"/>
          </a:xfrm>
          <a:prstGeom prst="rect">
            <a:avLst/>
          </a:prstGeom>
          <a:solidFill>
            <a:srgbClr val="FFFFFF"/>
          </a:solidFill>
          <a:ln w="15240">
            <a:solidFill>
              <a:srgbClr val="E8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38912" y="5029200"/>
            <a:ext cx="11283696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500" b="1">
                <a:solidFill>
                  <a:srgbClr val="C00707"/>
                </a:solidFill>
              </a:rPr>
              <a:t>WorkflowEngine 核心方法设计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A1A1A"/>
                </a:solidFill>
              </a:rPr>
              <a:t>● transitionTask(): 规则校验 → 角色验证 → 历史记录 → MQ 发送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A1A1A"/>
                </a:solidFill>
              </a:rPr>
              <a:t>● blockTask(): 保存 previousState，支持精确恢复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A1A1A"/>
                </a:solidFill>
              </a:rPr>
              <a:t>● unblockTask(): 读取 previousState 恢复原始状态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A1A1A"/>
                </a:solidFill>
              </a:rPr>
              <a:t>● handleException(): 自动创建 ClosureChain 四步骤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0E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C00707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05 · 任务看板与缓存策略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DDCC"/>
                </a:solidFill>
              </a:rPr>
              <a:t>Redis 双级缓存 · 看板 Kanban · 任务分配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134E8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548872" y="6473952"/>
            <a:ext cx="457200" cy="292608"/>
          </a:xfrm>
          <a:prstGeom prst="rect">
            <a:avLst/>
          </a:prstGeom>
          <a:solidFill>
            <a:srgbClr val="134E8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567160" y="6473952"/>
            <a:ext cx="4206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097280"/>
            <a:ext cx="3749039" cy="5394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188720"/>
            <a:ext cx="34747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34E8E"/>
                </a:solidFill>
              </a:rPr>
              <a:t>📋 看板视图设计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" y="1691640"/>
            <a:ext cx="822959" cy="347472"/>
          </a:xfrm>
          <a:prstGeom prst="rect">
            <a:avLst/>
          </a:prstGeom>
          <a:solidFill>
            <a:srgbClr val="134E8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" y="1691640"/>
            <a:ext cx="8229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待开发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" y="2103120"/>
            <a:ext cx="822959" cy="566928"/>
          </a:xfrm>
          <a:prstGeom prst="rect">
            <a:avLst/>
          </a:prstGeom>
          <a:solidFill>
            <a:srgbClr val="F5F0EB"/>
          </a:solidFill>
          <a:ln w="10160">
            <a:solidFill>
              <a:srgbClr val="E8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" y="2121408"/>
            <a:ext cx="74980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Task-1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8912" y="2761487"/>
            <a:ext cx="822959" cy="566928"/>
          </a:xfrm>
          <a:prstGeom prst="rect">
            <a:avLst/>
          </a:prstGeom>
          <a:solidFill>
            <a:srgbClr val="F5F0EB"/>
          </a:solidFill>
          <a:ln w="10160">
            <a:solidFill>
              <a:srgbClr val="E8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" y="2779776"/>
            <a:ext cx="74980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Task-2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98447" y="1691640"/>
            <a:ext cx="822959" cy="347472"/>
          </a:xfrm>
          <a:prstGeom prst="rect">
            <a:avLst/>
          </a:prstGeom>
          <a:solidFill>
            <a:srgbClr val="C00707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98447" y="1691640"/>
            <a:ext cx="8229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开发中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98447" y="2103120"/>
            <a:ext cx="822959" cy="566928"/>
          </a:xfrm>
          <a:prstGeom prst="rect">
            <a:avLst/>
          </a:prstGeom>
          <a:solidFill>
            <a:srgbClr val="F5F0EB"/>
          </a:solidFill>
          <a:ln w="10160">
            <a:solidFill>
              <a:srgbClr val="E8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35023" y="2121408"/>
            <a:ext cx="74980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Task-3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98447" y="2761487"/>
            <a:ext cx="822959" cy="566928"/>
          </a:xfrm>
          <a:prstGeom prst="rect">
            <a:avLst/>
          </a:prstGeom>
          <a:solidFill>
            <a:srgbClr val="F5F0EB"/>
          </a:solidFill>
          <a:ln w="10160">
            <a:solidFill>
              <a:srgbClr val="E8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35023" y="2779776"/>
            <a:ext cx="74980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Task-4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57983" y="1691640"/>
            <a:ext cx="822959" cy="347472"/>
          </a:xfrm>
          <a:prstGeom prst="rect">
            <a:avLst/>
          </a:prstGeom>
          <a:solidFill>
            <a:srgbClr val="FF440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57983" y="1691640"/>
            <a:ext cx="8229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待测试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157983" y="2103120"/>
            <a:ext cx="822959" cy="566928"/>
          </a:xfrm>
          <a:prstGeom prst="rect">
            <a:avLst/>
          </a:prstGeom>
          <a:solidFill>
            <a:srgbClr val="F5F0EB"/>
          </a:solidFill>
          <a:ln w="10160">
            <a:solidFill>
              <a:srgbClr val="E8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194559" y="2121408"/>
            <a:ext cx="74980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Task-5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17519" y="1691640"/>
            <a:ext cx="822959" cy="347472"/>
          </a:xfrm>
          <a:prstGeom prst="rect">
            <a:avLst/>
          </a:prstGeom>
          <a:solidFill>
            <a:srgbClr val="2E7D32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17519" y="1691640"/>
            <a:ext cx="8229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已完成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017519" y="2103120"/>
            <a:ext cx="822959" cy="566928"/>
          </a:xfrm>
          <a:prstGeom prst="rect">
            <a:avLst/>
          </a:prstGeom>
          <a:solidFill>
            <a:srgbClr val="F5F0EB"/>
          </a:solidFill>
          <a:ln w="10160">
            <a:solidFill>
              <a:srgbClr val="E8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54095" y="2121408"/>
            <a:ext cx="74980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Task-7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3657600"/>
            <a:ext cx="35661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</a:rPr>
              <a:t>按角色过滤 · 拖拽更新状态 · 实时刷新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06240" y="1097280"/>
            <a:ext cx="3749039" cy="5394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43400" y="1188720"/>
            <a:ext cx="34747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00707"/>
                </a:solidFill>
              </a:rPr>
              <a:t>⚡ Redis 缓存策略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43400" y="1600200"/>
            <a:ext cx="3474719" cy="45720"/>
          </a:xfrm>
          <a:prstGeom prst="rect">
            <a:avLst/>
          </a:prstGeom>
          <a:solidFill>
            <a:srgbClr val="FF440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389120" y="1737360"/>
            <a:ext cx="411480" cy="411480"/>
          </a:xfrm>
          <a:prstGeom prst="rect">
            <a:avLst/>
          </a:prstGeom>
          <a:solidFill>
            <a:srgbClr val="134E8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89120" y="173736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92040" y="1737360"/>
            <a:ext cx="29260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</a:rPr>
              <a:t>前端 sessionStorage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92040" y="2029968"/>
            <a:ext cx="29260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</a:rPr>
              <a:t>二级缓存，减少重复请求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0" y="2176272"/>
            <a:ext cx="54864" cy="420624"/>
          </a:xfrm>
          <a:prstGeom prst="rect">
            <a:avLst/>
          </a:prstGeom>
          <a:solidFill>
            <a:srgbClr val="E8E0D5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389120" y="2834639"/>
            <a:ext cx="411480" cy="411480"/>
          </a:xfrm>
          <a:prstGeom prst="rect">
            <a:avLst/>
          </a:prstGeom>
          <a:solidFill>
            <a:srgbClr val="C00707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89120" y="2834639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92040" y="2834639"/>
            <a:ext cx="29260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</a:rPr>
              <a:t>Redis 看板数据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92040" y="3127247"/>
            <a:ext cx="29260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</a:rPr>
              <a:t>TTL = 5min，自动失效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0" y="3273551"/>
            <a:ext cx="54864" cy="420624"/>
          </a:xfrm>
          <a:prstGeom prst="rect">
            <a:avLst/>
          </a:prstGeom>
          <a:solidFill>
            <a:srgbClr val="E8E0D5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389120" y="3931920"/>
            <a:ext cx="411480" cy="411480"/>
          </a:xfrm>
          <a:prstGeom prst="rect">
            <a:avLst/>
          </a:prstGeom>
          <a:solidFill>
            <a:srgbClr val="FF440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389120" y="393192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892040" y="3931920"/>
            <a:ext cx="29260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</a:rPr>
              <a:t>任务变更触发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892040" y="4224528"/>
            <a:ext cx="29260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</a:rPr>
              <a:t>主动删除相关缓存 Key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000" y="4370832"/>
            <a:ext cx="54864" cy="420624"/>
          </a:xfrm>
          <a:prstGeom prst="rect">
            <a:avLst/>
          </a:prstGeom>
          <a:solidFill>
            <a:srgbClr val="E8E0D5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389120" y="5029200"/>
            <a:ext cx="411480" cy="411480"/>
          </a:xfrm>
          <a:prstGeom prst="rect">
            <a:avLst/>
          </a:prstGeom>
          <a:solidFill>
            <a:srgbClr val="FFB33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389120" y="502920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892040" y="5029200"/>
            <a:ext cx="29260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</a:rPr>
              <a:t>缓存穿透防护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892040" y="5321808"/>
            <a:ext cx="29260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</a:rPr>
              <a:t>空值缓存 + Key 规范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138160" y="1097280"/>
            <a:ext cx="3749039" cy="5394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275320" y="1188720"/>
            <a:ext cx="34747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4400"/>
                </a:solidFill>
              </a:rPr>
              <a:t>🗂 任务服务功能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275320" y="1691640"/>
            <a:ext cx="3474719" cy="658368"/>
          </a:xfrm>
          <a:prstGeom prst="rect">
            <a:avLst/>
          </a:prstGeom>
          <a:solidFill>
            <a:srgbClr val="F5F0EB"/>
          </a:solidFill>
          <a:ln w="10160">
            <a:solidFill>
              <a:srgbClr val="E8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394192" y="1746504"/>
            <a:ext cx="32918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34E8E"/>
                </a:solidFill>
              </a:rPr>
              <a:t>项目管理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394192" y="2020824"/>
            <a:ext cx="32918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</a:rPr>
              <a:t>项目创建/归档/成员配置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275320" y="2441448"/>
            <a:ext cx="3474719" cy="658368"/>
          </a:xfrm>
          <a:prstGeom prst="rect">
            <a:avLst/>
          </a:prstGeom>
          <a:solidFill>
            <a:srgbClr val="F5F0EB"/>
          </a:solidFill>
          <a:ln w="10160">
            <a:solidFill>
              <a:srgbClr val="E8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394192" y="2496312"/>
            <a:ext cx="32918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34E8E"/>
                </a:solidFill>
              </a:rPr>
              <a:t>需求管理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394192" y="2770632"/>
            <a:ext cx="32918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</a:rPr>
              <a:t>需求录入、优先级、状态追踪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275320" y="3191256"/>
            <a:ext cx="3474719" cy="658368"/>
          </a:xfrm>
          <a:prstGeom prst="rect">
            <a:avLst/>
          </a:prstGeom>
          <a:solidFill>
            <a:srgbClr val="F5F0EB"/>
          </a:solidFill>
          <a:ln w="10160">
            <a:solidFill>
              <a:srgbClr val="E8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394192" y="3246120"/>
            <a:ext cx="32918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34E8E"/>
                </a:solidFill>
              </a:rPr>
              <a:t>任务 CRUD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394192" y="3520440"/>
            <a:ext cx="32918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</a:rPr>
              <a:t>创建/分配/更新/删除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275320" y="3941064"/>
            <a:ext cx="3474719" cy="658368"/>
          </a:xfrm>
          <a:prstGeom prst="rect">
            <a:avLst/>
          </a:prstGeom>
          <a:solidFill>
            <a:srgbClr val="F5F0EB"/>
          </a:solidFill>
          <a:ln w="10160">
            <a:solidFill>
              <a:srgbClr val="E8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394192" y="3995928"/>
            <a:ext cx="32918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34E8E"/>
                </a:solidFill>
              </a:rPr>
              <a:t>任务分配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394192" y="4270248"/>
            <a:ext cx="32918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</a:rPr>
              <a:t>按角色分配，工作量估算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275320" y="4690872"/>
            <a:ext cx="3474719" cy="658368"/>
          </a:xfrm>
          <a:prstGeom prst="rect">
            <a:avLst/>
          </a:prstGeom>
          <a:solidFill>
            <a:srgbClr val="F5F0EB"/>
          </a:solidFill>
          <a:ln w="10160">
            <a:solidFill>
              <a:srgbClr val="E8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394192" y="4745736"/>
            <a:ext cx="32918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34E8E"/>
                </a:solidFill>
              </a:rPr>
              <a:t>缺陷跟踪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394192" y="5020056"/>
            <a:ext cx="32918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</a:rPr>
              <a:t>BUG录入、关联任务、闭环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275320" y="5440679"/>
            <a:ext cx="3474719" cy="658368"/>
          </a:xfrm>
          <a:prstGeom prst="rect">
            <a:avLst/>
          </a:prstGeom>
          <a:solidFill>
            <a:srgbClr val="F5F0EB"/>
          </a:solidFill>
          <a:ln w="10160">
            <a:solidFill>
              <a:srgbClr val="E8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394192" y="5495543"/>
            <a:ext cx="32918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34E8E"/>
                </a:solidFill>
              </a:rPr>
              <a:t>评论系统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394192" y="5769863"/>
            <a:ext cx="32918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</a:rPr>
              <a:t>任务评论，时间轴展示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0E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C00707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06 · 报表服务与甘特图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DDCC"/>
                </a:solidFill>
              </a:rPr>
              <a:t>仪表板 · 进度统计 · 甘特图 · 工作量分析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134E8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548872" y="6473952"/>
            <a:ext cx="457200" cy="292608"/>
          </a:xfrm>
          <a:prstGeom prst="rect">
            <a:avLst/>
          </a:prstGeom>
          <a:solidFill>
            <a:srgbClr val="134E8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567160" y="6473952"/>
            <a:ext cx="4206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9" name="Rectangle 8"/>
          <p:cNvSpPr/>
          <p:nvPr/>
        </p:nvSpPr>
        <p:spPr>
          <a:xfrm>
            <a:off x="246888" y="1097280"/>
            <a:ext cx="2743200" cy="5120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46888" y="1097280"/>
            <a:ext cx="2743200" cy="502920"/>
          </a:xfrm>
          <a:prstGeom prst="rect">
            <a:avLst/>
          </a:prstGeom>
          <a:solidFill>
            <a:srgbClr val="C00707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" y="111556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📊 仪表板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" y="1664208"/>
            <a:ext cx="2523744" cy="4462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1A1A1A"/>
                </a:solidFill>
              </a:rPr>
              <a:t>▸ 项目整体进度环形图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A1A1A"/>
                </a:solidFill>
              </a:rPr>
              <a:t>▸ 按状态任务统计柱形图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A1A1A"/>
                </a:solidFill>
              </a:rPr>
              <a:t>▸ 本周完成 vs 计划对比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A1A1A"/>
                </a:solidFill>
              </a:rPr>
              <a:t>▸ 异常率趋势折线图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A1A1A"/>
                </a:solidFill>
              </a:rPr>
              <a:t>▸ ECharts 实时渲染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54680" y="1097280"/>
            <a:ext cx="2743200" cy="5120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154680" y="1097280"/>
            <a:ext cx="2743200" cy="502920"/>
          </a:xfrm>
          <a:prstGeom prst="rect">
            <a:avLst/>
          </a:prstGeom>
          <a:solidFill>
            <a:srgbClr val="134E8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46120" y="111556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📅 甘特图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64408" y="1664208"/>
            <a:ext cx="2523744" cy="4462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1A1A1A"/>
                </a:solidFill>
              </a:rPr>
              <a:t>▸ 任务时间轴可视化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A1A1A"/>
                </a:solidFill>
              </a:rPr>
              <a:t>▸ 开始/结束日期对应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A1A1A"/>
                </a:solidFill>
              </a:rPr>
              <a:t>▸ 状态颜色标注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A1A1A"/>
                </a:solidFill>
              </a:rPr>
              <a:t>▸ 支持多项目切换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A1A1A"/>
                </a:solidFill>
              </a:rPr>
              <a:t>▸ GanttTask 实体驱动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62472" y="1097280"/>
            <a:ext cx="2743200" cy="5120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62472" y="1097280"/>
            <a:ext cx="2743200" cy="502920"/>
          </a:xfrm>
          <a:prstGeom prst="rect">
            <a:avLst/>
          </a:prstGeom>
          <a:solidFill>
            <a:srgbClr val="FF440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53912" y="111556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📈 进度统计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200" y="1664208"/>
            <a:ext cx="2523744" cy="4462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1A1A1A"/>
                </a:solidFill>
              </a:rPr>
              <a:t>▸ ProgressSnapshot 快照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A1A1A"/>
                </a:solidFill>
              </a:rPr>
              <a:t>▸ 每日自动归档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A1A1A"/>
                </a:solidFill>
              </a:rPr>
              <a:t>▸ MQ 事件触发更新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A1A1A"/>
                </a:solidFill>
              </a:rPr>
              <a:t>▸ 完成率 / 延期率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A1A1A"/>
                </a:solidFill>
              </a:rPr>
              <a:t>▸ 按成员/按模块聚合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70264" y="1097280"/>
            <a:ext cx="2743200" cy="5120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970264" y="1097280"/>
            <a:ext cx="2743200" cy="502920"/>
          </a:xfrm>
          <a:prstGeom prst="rect">
            <a:avLst/>
          </a:prstGeom>
          <a:solidFill>
            <a:srgbClr val="FFB33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61704" y="111556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⚖ 工作量分析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79992" y="1664208"/>
            <a:ext cx="2523744" cy="4462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1A1A1A"/>
                </a:solidFill>
              </a:rPr>
              <a:t>▸ TeamWorkload 实体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A1A1A"/>
                </a:solidFill>
              </a:rPr>
              <a:t>▸ 人均工时统计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A1A1A"/>
                </a:solidFill>
              </a:rPr>
              <a:t>▸ 过载预警机制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A1A1A"/>
                </a:solidFill>
              </a:rPr>
              <a:t>▸ 角色维度对比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A1A1A"/>
                </a:solidFill>
              </a:rPr>
              <a:t>▸ 周/月报告导出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6888" y="6355080"/>
            <a:ext cx="1170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66666"/>
                </a:solidFill>
              </a:rPr>
              <a:t>报表数据由 ReportEventListener 监听 MQ 消息自动更新，保证与任务状态实时一致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0E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C00707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07 · 通知与审计服务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DDCC"/>
                </a:solidFill>
              </a:rPr>
              <a:t>RabbitMQ 异步 · 邮件/系统通知 · 操作审计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134E8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548872" y="6473952"/>
            <a:ext cx="457200" cy="292608"/>
          </a:xfrm>
          <a:prstGeom prst="rect">
            <a:avLst/>
          </a:prstGeom>
          <a:solidFill>
            <a:srgbClr val="134E8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567160" y="6473952"/>
            <a:ext cx="4206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097280"/>
            <a:ext cx="5760720" cy="5394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18872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34E8E"/>
                </a:solidFill>
              </a:rPr>
              <a:t>🔔 通知服务 (sm-notification · port 8005)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627632"/>
            <a:ext cx="5394960" cy="45720"/>
          </a:xfrm>
          <a:prstGeom prst="rect">
            <a:avLst/>
          </a:prstGeom>
          <a:solidFill>
            <a:srgbClr val="FFB33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783080"/>
            <a:ext cx="3474720" cy="658368"/>
          </a:xfrm>
          <a:prstGeom prst="rect">
            <a:avLst/>
          </a:prstGeom>
          <a:solidFill>
            <a:srgbClr val="C00707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1819656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工作流引擎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130552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触发 MQ 事件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03120" y="2441448"/>
            <a:ext cx="54864" cy="164592"/>
          </a:xfrm>
          <a:prstGeom prst="rect">
            <a:avLst/>
          </a:prstGeom>
          <a:solidFill>
            <a:srgbClr val="FF440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2606040"/>
            <a:ext cx="3474720" cy="658368"/>
          </a:xfrm>
          <a:prstGeom prst="rect">
            <a:avLst/>
          </a:prstGeom>
          <a:solidFill>
            <a:srgbClr val="FF440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2642616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通知 Exchange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2953512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路由到对应 Queue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03120" y="3264408"/>
            <a:ext cx="54864" cy="164592"/>
          </a:xfrm>
          <a:prstGeom prst="rect">
            <a:avLst/>
          </a:prstGeom>
          <a:solidFill>
            <a:srgbClr val="FF440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3429000"/>
            <a:ext cx="3474720" cy="658368"/>
          </a:xfrm>
          <a:prstGeom prst="rect">
            <a:avLst/>
          </a:prstGeom>
          <a:solidFill>
            <a:srgbClr val="134E8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465576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NotificationListener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3776472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消费消息 + 持久化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03120" y="4087368"/>
            <a:ext cx="54864" cy="164592"/>
          </a:xfrm>
          <a:prstGeom prst="rect">
            <a:avLst/>
          </a:prstGeom>
          <a:solidFill>
            <a:srgbClr val="FF440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4251960"/>
            <a:ext cx="3474720" cy="658368"/>
          </a:xfrm>
          <a:prstGeom prst="rect">
            <a:avLst/>
          </a:prstGeom>
          <a:solidFill>
            <a:srgbClr val="FFB33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4288536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系统通知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4599432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站内消息存储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103120" y="4910328"/>
            <a:ext cx="54864" cy="164592"/>
          </a:xfrm>
          <a:prstGeom prst="rect">
            <a:avLst/>
          </a:prstGeom>
          <a:solidFill>
            <a:srgbClr val="FF440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5074920"/>
            <a:ext cx="3474720" cy="658368"/>
          </a:xfrm>
          <a:prstGeom prst="rect">
            <a:avLst/>
          </a:prstGeom>
          <a:solidFill>
            <a:srgbClr val="2E7D32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5111496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邮件通知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5422392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SMTP 发送邮件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98932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</a:rPr>
              <a:t>支持通知类型: 状态变更 · 评审结果 · 测试结果 · 发布结果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0" y="1097280"/>
            <a:ext cx="5669280" cy="5394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118872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00707"/>
                </a:solidFill>
              </a:rPr>
              <a:t>📋 审计服务 (sm-audit · port 8006)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1627632"/>
            <a:ext cx="5303520" cy="45720"/>
          </a:xfrm>
          <a:prstGeom prst="rect">
            <a:avLst/>
          </a:prstGeom>
          <a:solidFill>
            <a:srgbClr val="FF440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400800" y="1783080"/>
            <a:ext cx="457200" cy="457200"/>
          </a:xfrm>
          <a:prstGeom prst="rect">
            <a:avLst/>
          </a:prstGeom>
          <a:solidFill>
            <a:srgbClr val="C00707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0" y="1783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67728" y="1783080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</a:rPr>
              <a:t>操作日志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67728" y="2075688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</a:rPr>
              <a:t>记录所有 API 操作：时间、用户、操作类型、结果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0" y="2880360"/>
            <a:ext cx="457200" cy="457200"/>
          </a:xfrm>
          <a:prstGeom prst="rect">
            <a:avLst/>
          </a:prstGeom>
          <a:solidFill>
            <a:srgbClr val="134E8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0" y="28803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67728" y="2880360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</a:rPr>
              <a:t>数据变更记录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67728" y="3172968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</a:rPr>
              <a:t>字段级变更追踪 (before/after JSON)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0" y="3977639"/>
            <a:ext cx="457200" cy="457200"/>
          </a:xfrm>
          <a:prstGeom prst="rect">
            <a:avLst/>
          </a:prstGeom>
          <a:solidFill>
            <a:srgbClr val="FF440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0" y="397763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67728" y="3977639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</a:rPr>
              <a:t>工作流审计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67728" y="4270247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</a:rPr>
              <a:t>每次状态转移触发 workflow.transition 事件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00800" y="5074920"/>
            <a:ext cx="457200" cy="457200"/>
          </a:xfrm>
          <a:prstGeom prst="rect">
            <a:avLst/>
          </a:prstGeom>
          <a:solidFill>
            <a:srgbClr val="FFB33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00800" y="50749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967728" y="5074920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</a:rPr>
              <a:t>审计配置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967728" y="5367528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</a:rPr>
              <a:t>可配置审计级别（全量/敏感操作）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0800" y="598932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66666"/>
                </a:solidFill>
              </a:rPr>
              <a:t>审计数据可用于合规检查、问题溯源和安全审查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0E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C00707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08 · 四角色功能矩阵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DDCC"/>
                </a:solidFill>
              </a:rPr>
              <a:t>PM · DEV · TEST · ADMIN — 权限隔离 · 各司其职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134E8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548872" y="6473952"/>
            <a:ext cx="457200" cy="292608"/>
          </a:xfrm>
          <a:prstGeom prst="rect">
            <a:avLst/>
          </a:prstGeom>
          <a:solidFill>
            <a:srgbClr val="134E8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567160" y="6473952"/>
            <a:ext cx="4206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097280"/>
            <a:ext cx="2834640" cy="1097280"/>
          </a:xfrm>
          <a:prstGeom prst="rect">
            <a:avLst/>
          </a:prstGeom>
          <a:solidFill>
            <a:srgbClr val="134E8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" y="109728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PM
项目经理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2240280"/>
            <a:ext cx="2834640" cy="320040"/>
          </a:xfrm>
          <a:prstGeom prst="rect">
            <a:avLst/>
          </a:prstGeom>
          <a:solidFill>
            <a:srgbClr val="F5F0EB"/>
          </a:solidFill>
          <a:ln w="19050">
            <a:solidFill>
              <a:srgbClr val="134E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8600" y="224028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34E8E"/>
                </a:solidFill>
              </a:rPr>
              <a:t>全平台访问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" y="2606040"/>
            <a:ext cx="283464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8328" y="2697480"/>
            <a:ext cx="2615184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200">
                <a:solidFill>
                  <a:srgbClr val="1A1A1A"/>
                </a:solidFill>
              </a:rPr>
              <a:t>● 仪表板总览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1A1A1A"/>
                </a:solidFill>
              </a:rPr>
              <a:t>● 看板管理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1A1A1A"/>
                </a:solidFill>
              </a:rPr>
              <a:t>● 甘特图编排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1A1A1A"/>
                </a:solidFill>
              </a:rPr>
              <a:t>● 需求管理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1A1A1A"/>
                </a:solidFill>
              </a:rPr>
              <a:t>● 任务分配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1A1A1A"/>
                </a:solidFill>
              </a:rPr>
              <a:t>● 工作流配置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1A1A1A"/>
                </a:solidFill>
              </a:rPr>
              <a:t>● 发布审批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0" y="1097280"/>
            <a:ext cx="2834640" cy="1097280"/>
          </a:xfrm>
          <a:prstGeom prst="rect">
            <a:avLst/>
          </a:prstGeom>
          <a:solidFill>
            <a:srgbClr val="C00707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0" y="109728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DEV
开发人员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0" y="2240280"/>
            <a:ext cx="2834640" cy="320040"/>
          </a:xfrm>
          <a:prstGeom prst="rect">
            <a:avLst/>
          </a:prstGeom>
          <a:solidFill>
            <a:srgbClr val="F5F0EB"/>
          </a:solidFill>
          <a:ln w="19050">
            <a:solidFill>
              <a:srgbClr val="C007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0" y="224028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00707"/>
                </a:solidFill>
              </a:rPr>
              <a:t>开发视角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0" y="2606040"/>
            <a:ext cx="283464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10128" y="2697480"/>
            <a:ext cx="2615184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200">
                <a:solidFill>
                  <a:srgbClr val="1A1A1A"/>
                </a:solidFill>
              </a:rPr>
              <a:t>● 我的任务列表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1A1A1A"/>
                </a:solidFill>
              </a:rPr>
              <a:t>● 代码提交记录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1A1A1A"/>
                </a:solidFill>
              </a:rPr>
              <a:t>● 评审状态查看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1A1A1A"/>
                </a:solidFill>
              </a:rPr>
              <a:t>● 工作量统计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1A1A1A"/>
                </a:solidFill>
              </a:rPr>
              <a:t>● 状态转移: 提交评审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2200" y="1097280"/>
            <a:ext cx="2834640" cy="1097280"/>
          </a:xfrm>
          <a:prstGeom prst="rect">
            <a:avLst/>
          </a:prstGeom>
          <a:solidFill>
            <a:srgbClr val="FF440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72200" y="109728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TEST
测试人员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72200" y="2240280"/>
            <a:ext cx="2834640" cy="320040"/>
          </a:xfrm>
          <a:prstGeom prst="rect">
            <a:avLst/>
          </a:prstGeom>
          <a:solidFill>
            <a:srgbClr val="F5F0EB"/>
          </a:solidFill>
          <a:ln w="19050">
            <a:solidFill>
              <a:srgbClr val="FF4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72200" y="224028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4400"/>
                </a:solidFill>
              </a:rPr>
              <a:t>测试视角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72200" y="2606040"/>
            <a:ext cx="283464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81928" y="2697480"/>
            <a:ext cx="2615184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200">
                <a:solidFill>
                  <a:srgbClr val="1A1A1A"/>
                </a:solidFill>
              </a:rPr>
              <a:t>● 测试任务列表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1A1A1A"/>
                </a:solidFill>
              </a:rPr>
              <a:t>● 测试执行记录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1A1A1A"/>
                </a:solidFill>
              </a:rPr>
              <a:t>● 缺陷报告管理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1A1A1A"/>
                </a:solidFill>
              </a:rPr>
              <a:t>● 闭环验证操作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1A1A1A"/>
                </a:solidFill>
              </a:rPr>
              <a:t>● 状态: 通过/失败测试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44000" y="1097280"/>
            <a:ext cx="2834640" cy="1097280"/>
          </a:xfrm>
          <a:prstGeom prst="rect">
            <a:avLst/>
          </a:prstGeom>
          <a:solidFill>
            <a:srgbClr val="FFB33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0" y="109728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ADMIN
管理员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44000" y="2240280"/>
            <a:ext cx="2834640" cy="320040"/>
          </a:xfrm>
          <a:prstGeom prst="rect">
            <a:avLst/>
          </a:prstGeom>
          <a:solidFill>
            <a:srgbClr val="F5F0EB"/>
          </a:solidFill>
          <a:ln w="19050">
            <a:solidFill>
              <a:srgbClr val="FFB3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0" y="224028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B33F"/>
                </a:solidFill>
              </a:rPr>
              <a:t>系统管理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44000" y="2606040"/>
            <a:ext cx="283464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53728" y="2697480"/>
            <a:ext cx="2615184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200">
                <a:solidFill>
                  <a:srgbClr val="1A1A1A"/>
                </a:solidFill>
              </a:rPr>
              <a:t>● 发布流程审批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1A1A1A"/>
                </a:solidFill>
              </a:rPr>
              <a:t>● 用户账户管理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1A1A1A"/>
                </a:solidFill>
              </a:rPr>
              <a:t>● 权限角色配置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1A1A1A"/>
                </a:solidFill>
              </a:rPr>
              <a:t>● 系统操作日志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1A1A1A"/>
                </a:solidFill>
              </a:rPr>
              <a:t>● 审计数据查看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28600" y="1600200"/>
            <a:ext cx="11795760" cy="54864"/>
          </a:xfrm>
          <a:prstGeom prst="rect">
            <a:avLst/>
          </a:prstGeom>
          <a:solidFill>
            <a:srgbClr val="E8E0D5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0E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C00707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09 · 数据库设计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DDCC"/>
                </a:solidFill>
              </a:rPr>
              <a:t>6库隔离 · 核心实体 · 索引策略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134E8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548872" y="6473952"/>
            <a:ext cx="457200" cy="292608"/>
          </a:xfrm>
          <a:prstGeom prst="rect">
            <a:avLst/>
          </a:prstGeom>
          <a:solidFill>
            <a:srgbClr val="134E8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567160" y="6473952"/>
            <a:ext cx="4206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11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097280"/>
            <a:ext cx="5029200" cy="5394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188720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00707"/>
                </a:solidFill>
              </a:rPr>
              <a:t>6个独立数据库隔离设计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627632"/>
            <a:ext cx="4663440" cy="45720"/>
          </a:xfrm>
          <a:prstGeom prst="rect">
            <a:avLst/>
          </a:prstGeom>
          <a:solidFill>
            <a:srgbClr val="FF440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783080"/>
            <a:ext cx="1554480" cy="594360"/>
          </a:xfrm>
          <a:prstGeom prst="rect">
            <a:avLst/>
          </a:prstGeom>
          <a:solidFill>
            <a:srgbClr val="134E8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783080"/>
            <a:ext cx="1554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auth_db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57400" y="1783080"/>
            <a:ext cx="3246120" cy="594360"/>
          </a:xfrm>
          <a:prstGeom prst="rect">
            <a:avLst/>
          </a:prstGeom>
          <a:solidFill>
            <a:srgbClr val="F5F0EB"/>
          </a:solidFill>
          <a:ln w="10160">
            <a:solidFill>
              <a:srgbClr val="E8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48840" y="1856232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用户/角色/权限/会话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532888"/>
            <a:ext cx="1554480" cy="594360"/>
          </a:xfrm>
          <a:prstGeom prst="rect">
            <a:avLst/>
          </a:prstGeom>
          <a:solidFill>
            <a:srgbClr val="C00707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532888"/>
            <a:ext cx="1554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task_db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057400" y="2532888"/>
            <a:ext cx="3246120" cy="594360"/>
          </a:xfrm>
          <a:prstGeom prst="rect">
            <a:avLst/>
          </a:prstGeom>
          <a:solidFill>
            <a:srgbClr val="F5F0EB"/>
          </a:solidFill>
          <a:ln w="10160">
            <a:solidFill>
              <a:srgbClr val="E8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148840" y="26060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项目/需求/任务/缺陷/评论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282696"/>
            <a:ext cx="1554480" cy="594360"/>
          </a:xfrm>
          <a:prstGeom prst="rect">
            <a:avLst/>
          </a:prstGeom>
          <a:solidFill>
            <a:srgbClr val="FF440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282696"/>
            <a:ext cx="1554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workflow_db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057400" y="3282696"/>
            <a:ext cx="3246120" cy="594360"/>
          </a:xfrm>
          <a:prstGeom prst="rect">
            <a:avLst/>
          </a:prstGeom>
          <a:solidFill>
            <a:srgbClr val="F5F0EB"/>
          </a:solidFill>
          <a:ln w="10160">
            <a:solidFill>
              <a:srgbClr val="E8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48840" y="3355848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流程定义/转移规则/历史/阻塞/异常/闭环链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032504"/>
            <a:ext cx="1554480" cy="594360"/>
          </a:xfrm>
          <a:prstGeom prst="rect">
            <a:avLst/>
          </a:prstGeom>
          <a:solidFill>
            <a:srgbClr val="FFB33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4032504"/>
            <a:ext cx="1554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report_db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057400" y="4032504"/>
            <a:ext cx="3246120" cy="594360"/>
          </a:xfrm>
          <a:prstGeom prst="rect">
            <a:avLst/>
          </a:prstGeom>
          <a:solidFill>
            <a:srgbClr val="F5F0EB"/>
          </a:solidFill>
          <a:ln w="10160">
            <a:solidFill>
              <a:srgbClr val="E8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148840" y="4105656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进度快照/工作量/异常统计/甘特数据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782312"/>
            <a:ext cx="1554480" cy="594360"/>
          </a:xfrm>
          <a:prstGeom prst="rect">
            <a:avLst/>
          </a:prstGeom>
          <a:solidFill>
            <a:srgbClr val="2E7D32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4782312"/>
            <a:ext cx="1554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notification_db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057400" y="4782312"/>
            <a:ext cx="3246120" cy="594360"/>
          </a:xfrm>
          <a:prstGeom prst="rect">
            <a:avLst/>
          </a:prstGeom>
          <a:solidFill>
            <a:srgbClr val="F5F0EB"/>
          </a:solidFill>
          <a:ln w="10160">
            <a:solidFill>
              <a:srgbClr val="E8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148840" y="4855464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通知记录/模板/用户设置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5532120"/>
            <a:ext cx="1554480" cy="594360"/>
          </a:xfrm>
          <a:prstGeom prst="rect">
            <a:avLst/>
          </a:prstGeom>
          <a:solidFill>
            <a:srgbClr val="6A1A4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5532120"/>
            <a:ext cx="1554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audit_db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057400" y="5532120"/>
            <a:ext cx="3246120" cy="594360"/>
          </a:xfrm>
          <a:prstGeom prst="rect">
            <a:avLst/>
          </a:prstGeom>
          <a:solidFill>
            <a:srgbClr val="F5F0EB"/>
          </a:solidFill>
          <a:ln w="10160">
            <a:solidFill>
              <a:srgbClr val="E8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148840" y="5605272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审计日志/数据变更/审计配置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577840" y="1097280"/>
            <a:ext cx="6309360" cy="5394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760720" y="1188720"/>
            <a:ext cx="5943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34E8E"/>
                </a:solidFill>
              </a:rPr>
              <a:t>核心实体关系（workflow_db）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760720" y="1627632"/>
            <a:ext cx="5943600" cy="45720"/>
          </a:xfrm>
          <a:prstGeom prst="rect">
            <a:avLst/>
          </a:prstGeom>
          <a:solidFill>
            <a:srgbClr val="FFB33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760720" y="1783080"/>
            <a:ext cx="2103120" cy="384048"/>
          </a:xfrm>
          <a:prstGeom prst="rect">
            <a:avLst/>
          </a:prstGeom>
          <a:solidFill>
            <a:srgbClr val="134E8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779008" y="1783080"/>
            <a:ext cx="2066543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WorkflowDefinition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09560" y="1783080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</a:rPr>
              <a:t>  id · workflow_code · version · status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675120" y="2167128"/>
            <a:ext cx="54864" cy="347472"/>
          </a:xfrm>
          <a:prstGeom prst="rect">
            <a:avLst/>
          </a:prstGeom>
          <a:solidFill>
            <a:srgbClr val="E8E0D5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760720" y="2697480"/>
            <a:ext cx="2103120" cy="384048"/>
          </a:xfrm>
          <a:prstGeom prst="rect">
            <a:avLst/>
          </a:prstGeom>
          <a:solidFill>
            <a:srgbClr val="C00707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779008" y="2697480"/>
            <a:ext cx="2066543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StateTransitionRule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909560" y="2697480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</a:rPr>
              <a:t>  id · workflow_id(FK) · from_state · to_state · action_code · required_role · is_exception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675120" y="3081528"/>
            <a:ext cx="54864" cy="347472"/>
          </a:xfrm>
          <a:prstGeom prst="rect">
            <a:avLst/>
          </a:prstGeom>
          <a:solidFill>
            <a:srgbClr val="E8E0D5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760720" y="3611880"/>
            <a:ext cx="2103120" cy="384048"/>
          </a:xfrm>
          <a:prstGeom prst="rect">
            <a:avLst/>
          </a:prstGeom>
          <a:solidFill>
            <a:srgbClr val="FF440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779008" y="3611880"/>
            <a:ext cx="2066543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TaskStateHistory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909560" y="3611880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</a:rPr>
              <a:t>  id · task_id · from_state · to_state · operator_id · duration_minutes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675120" y="3995928"/>
            <a:ext cx="54864" cy="347472"/>
          </a:xfrm>
          <a:prstGeom prst="rect">
            <a:avLst/>
          </a:prstGeom>
          <a:solidFill>
            <a:srgbClr val="E8E0D5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760720" y="4526280"/>
            <a:ext cx="2103120" cy="384048"/>
          </a:xfrm>
          <a:prstGeom prst="rect">
            <a:avLst/>
          </a:prstGeom>
          <a:solidFill>
            <a:srgbClr val="FFB33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779008" y="4526280"/>
            <a:ext cx="2066543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TaskBlockage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909560" y="4526280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</a:rPr>
              <a:t>  id · task_id · previous_state⭐ · block_reason · status · resolved_at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675120" y="4910328"/>
            <a:ext cx="54864" cy="347472"/>
          </a:xfrm>
          <a:prstGeom prst="rect">
            <a:avLst/>
          </a:prstGeom>
          <a:solidFill>
            <a:srgbClr val="E8E0D5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760720" y="5440680"/>
            <a:ext cx="2103120" cy="384048"/>
          </a:xfrm>
          <a:prstGeom prst="rect">
            <a:avLst/>
          </a:prstGeom>
          <a:solidFill>
            <a:srgbClr val="2E7D32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779008" y="5440680"/>
            <a:ext cx="2066543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ClosureChain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909560" y="5440680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</a:rPr>
              <a:t>  id · task_id · exception_id(FK) · step1~4_done · chain_status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0E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C00707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10 · 前端工程设计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DDCC"/>
                </a:solidFill>
              </a:rPr>
              <a:t>Vue 3 · Pinia · Element Plus · ECharts · 多角色视图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134E8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548872" y="6473952"/>
            <a:ext cx="457200" cy="292608"/>
          </a:xfrm>
          <a:prstGeom prst="rect">
            <a:avLst/>
          </a:prstGeom>
          <a:solidFill>
            <a:srgbClr val="134E8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567160" y="6473952"/>
            <a:ext cx="4206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097280"/>
            <a:ext cx="3749039" cy="5394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188720"/>
            <a:ext cx="34747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34E8E"/>
                </a:solidFill>
              </a:rPr>
              <a:t>🏗 工程架构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1691640"/>
            <a:ext cx="1188720" cy="347472"/>
          </a:xfrm>
          <a:prstGeom prst="rect">
            <a:avLst/>
          </a:prstGeom>
          <a:solidFill>
            <a:srgbClr val="134E8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" y="1691640"/>
            <a:ext cx="1170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pages/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1691640"/>
            <a:ext cx="2194559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</a:rPr>
              <a:t>PM · DEV · TEST · ADMIN · Login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2606040"/>
            <a:ext cx="1188720" cy="347472"/>
          </a:xfrm>
          <a:prstGeom prst="rect">
            <a:avLst/>
          </a:prstGeom>
          <a:solidFill>
            <a:srgbClr val="C00707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9768" y="2606040"/>
            <a:ext cx="1170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api/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2606040"/>
            <a:ext cx="2194559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</a:rPr>
              <a:t>auth · task · workflow · report · notify · audit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3520440"/>
            <a:ext cx="1188720" cy="347472"/>
          </a:xfrm>
          <a:prstGeom prst="rect">
            <a:avLst/>
          </a:prstGeom>
          <a:solidFill>
            <a:srgbClr val="FF440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768" y="3520440"/>
            <a:ext cx="1170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stores/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3520440"/>
            <a:ext cx="2194559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</a:rPr>
              <a:t>auth store · cache store (Pinia)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4434840"/>
            <a:ext cx="1188720" cy="347472"/>
          </a:xfrm>
          <a:prstGeom prst="rect">
            <a:avLst/>
          </a:prstGeom>
          <a:solidFill>
            <a:srgbClr val="FFB33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9768" y="4434840"/>
            <a:ext cx="1170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utils/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91640" y="4434840"/>
            <a:ext cx="2194559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</a:rPr>
              <a:t>token.js · constants.js · format.js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5349240"/>
            <a:ext cx="1188720" cy="347472"/>
          </a:xfrm>
          <a:prstGeom prst="rect">
            <a:avLst/>
          </a:prstGeom>
          <a:solidFill>
            <a:srgbClr val="2E7D32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9768" y="5349240"/>
            <a:ext cx="1170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components/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91640" y="5349240"/>
            <a:ext cx="2194559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</a:rPr>
              <a:t>Layout · Header · Sidebar 公共组件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06240" y="1097280"/>
            <a:ext cx="3749039" cy="5394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43400" y="1188720"/>
            <a:ext cx="34747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00707"/>
                </a:solidFill>
              </a:rPr>
              <a:t>📄 关键页面功能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43400" y="1691640"/>
            <a:ext cx="3474719" cy="658368"/>
          </a:xfrm>
          <a:prstGeom prst="rect">
            <a:avLst/>
          </a:prstGeom>
          <a:solidFill>
            <a:srgbClr val="F5F0EB"/>
          </a:solidFill>
          <a:ln w="10160">
            <a:solidFill>
              <a:srgbClr val="E8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343400" y="1691640"/>
            <a:ext cx="109728" cy="658368"/>
          </a:xfrm>
          <a:prstGeom prst="rect">
            <a:avLst/>
          </a:prstGeom>
          <a:solidFill>
            <a:srgbClr val="134E8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26280" y="1737360"/>
            <a:ext cx="3246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</a:rPr>
              <a:t>PM-Dashboard.vue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26280" y="2020824"/>
            <a:ext cx="3246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</a:rPr>
              <a:t>ECharts 图表 · 进度总览 · 异常统计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43400" y="2459736"/>
            <a:ext cx="3474719" cy="658368"/>
          </a:xfrm>
          <a:prstGeom prst="rect">
            <a:avLst/>
          </a:prstGeom>
          <a:solidFill>
            <a:srgbClr val="F5F0EB"/>
          </a:solidFill>
          <a:ln w="10160">
            <a:solidFill>
              <a:srgbClr val="E8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343400" y="2459736"/>
            <a:ext cx="109728" cy="658368"/>
          </a:xfrm>
          <a:prstGeom prst="rect">
            <a:avLst/>
          </a:prstGeom>
          <a:solidFill>
            <a:srgbClr val="C00707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26280" y="2505456"/>
            <a:ext cx="3246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</a:rPr>
              <a:t>PM-GanttChart.vue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26280" y="2788920"/>
            <a:ext cx="3246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</a:rPr>
              <a:t>任务时间轴 · 甘特渲染 · 状态颜色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343400" y="3227832"/>
            <a:ext cx="3474719" cy="658368"/>
          </a:xfrm>
          <a:prstGeom prst="rect">
            <a:avLst/>
          </a:prstGeom>
          <a:solidFill>
            <a:srgbClr val="F5F0EB"/>
          </a:solidFill>
          <a:ln w="10160">
            <a:solidFill>
              <a:srgbClr val="E8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343400" y="3227832"/>
            <a:ext cx="109728" cy="658368"/>
          </a:xfrm>
          <a:prstGeom prst="rect">
            <a:avLst/>
          </a:prstGeom>
          <a:solidFill>
            <a:srgbClr val="FF440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26280" y="3273552"/>
            <a:ext cx="3246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</a:rPr>
              <a:t>PM-TaskBoard.vue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26280" y="3557016"/>
            <a:ext cx="3246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</a:rPr>
              <a:t>四栏看板 · 拖拽 · Redis 缓存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343400" y="3995928"/>
            <a:ext cx="3474719" cy="658368"/>
          </a:xfrm>
          <a:prstGeom prst="rect">
            <a:avLst/>
          </a:prstGeom>
          <a:solidFill>
            <a:srgbClr val="F5F0EB"/>
          </a:solidFill>
          <a:ln w="10160">
            <a:solidFill>
              <a:srgbClr val="E8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343400" y="3995928"/>
            <a:ext cx="109728" cy="658368"/>
          </a:xfrm>
          <a:prstGeom prst="rect">
            <a:avLst/>
          </a:prstGeom>
          <a:solidFill>
            <a:srgbClr val="FFB33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26280" y="4041648"/>
            <a:ext cx="3246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</a:rPr>
              <a:t>DEV-MyTasks.vue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26280" y="4325112"/>
            <a:ext cx="3246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</a:rPr>
              <a:t>我的任务 · 工作量 · 状态操作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343400" y="4764024"/>
            <a:ext cx="3474719" cy="658368"/>
          </a:xfrm>
          <a:prstGeom prst="rect">
            <a:avLst/>
          </a:prstGeom>
          <a:solidFill>
            <a:srgbClr val="F5F0EB"/>
          </a:solidFill>
          <a:ln w="10160">
            <a:solidFill>
              <a:srgbClr val="E8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343400" y="4764024"/>
            <a:ext cx="109728" cy="658368"/>
          </a:xfrm>
          <a:prstGeom prst="rect">
            <a:avLst/>
          </a:prstGeom>
          <a:solidFill>
            <a:srgbClr val="2E7D32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26280" y="4809744"/>
            <a:ext cx="3246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</a:rPr>
              <a:t>TEST-DefectReport.vue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26280" y="5093208"/>
            <a:ext cx="3246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</a:rPr>
              <a:t>缺陷管理 · 闭环追踪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343400" y="5532120"/>
            <a:ext cx="3474719" cy="658368"/>
          </a:xfrm>
          <a:prstGeom prst="rect">
            <a:avLst/>
          </a:prstGeom>
          <a:solidFill>
            <a:srgbClr val="F5F0EB"/>
          </a:solidFill>
          <a:ln w="10160">
            <a:solidFill>
              <a:srgbClr val="E8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343400" y="5532120"/>
            <a:ext cx="109728" cy="658368"/>
          </a:xfrm>
          <a:prstGeom prst="rect">
            <a:avLst/>
          </a:prstGeom>
          <a:solidFill>
            <a:srgbClr val="134E8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526280" y="5577840"/>
            <a:ext cx="3246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</a:rPr>
              <a:t>ADMIN-UserMgmt.vue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26280" y="5861304"/>
            <a:ext cx="3246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</a:rPr>
              <a:t>用户管理 · 角色配置 · 权限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138160" y="1097280"/>
            <a:ext cx="3749039" cy="5394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275320" y="1188720"/>
            <a:ext cx="34747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4400"/>
                </a:solidFill>
              </a:rPr>
              <a:t>⚙ 技术亮点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275320" y="1691640"/>
            <a:ext cx="411480" cy="411480"/>
          </a:xfrm>
          <a:prstGeom prst="rect">
            <a:avLst/>
          </a:prstGeom>
          <a:solidFill>
            <a:srgbClr val="134E8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275320" y="169164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★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778240" y="1691640"/>
            <a:ext cx="297179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</a:rPr>
              <a:t>Pinia 状态管理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778240" y="1984248"/>
            <a:ext cx="297179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</a:rPr>
              <a:t>统一管理 Token、用户信息和看板缓存状态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275320" y="2606040"/>
            <a:ext cx="411480" cy="411480"/>
          </a:xfrm>
          <a:prstGeom prst="rect">
            <a:avLst/>
          </a:prstGeom>
          <a:solidFill>
            <a:srgbClr val="C00707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275320" y="260604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★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778240" y="2606040"/>
            <a:ext cx="297179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</a:rPr>
              <a:t>Vue Router 守卫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778240" y="2898648"/>
            <a:ext cx="297179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</a:rPr>
              <a:t>前端权限路由，未登录重定向 /login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275320" y="3520440"/>
            <a:ext cx="411480" cy="411480"/>
          </a:xfrm>
          <a:prstGeom prst="rect">
            <a:avLst/>
          </a:prstGeom>
          <a:solidFill>
            <a:srgbClr val="FF440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275320" y="352044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★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778240" y="3520440"/>
            <a:ext cx="297179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</a:rPr>
              <a:t>ECharts 集成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778240" y="3813048"/>
            <a:ext cx="297179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</a:rPr>
              <a:t>仪表板 4种图表类型，数据响应式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275320" y="4434840"/>
            <a:ext cx="411480" cy="411480"/>
          </a:xfrm>
          <a:prstGeom prst="rect">
            <a:avLst/>
          </a:prstGeom>
          <a:solidFill>
            <a:srgbClr val="FFB33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275320" y="443484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★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778240" y="4434840"/>
            <a:ext cx="297179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</a:rPr>
              <a:t>Axios 封装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778240" y="4727448"/>
            <a:ext cx="297179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</a:rPr>
              <a:t>统一 baseURL、Token 注入、错误拦截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275320" y="5349240"/>
            <a:ext cx="411480" cy="411480"/>
          </a:xfrm>
          <a:prstGeom prst="rect">
            <a:avLst/>
          </a:prstGeom>
          <a:solidFill>
            <a:srgbClr val="2E7D32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275320" y="534924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★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778240" y="5349240"/>
            <a:ext cx="297179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</a:rPr>
              <a:t>sessionStorage 缓存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778240" y="5641848"/>
            <a:ext cx="297179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</a:rPr>
              <a:t>看板数据二级缓存，减少 API 调用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0E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C00707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11 · 三大核心技术亮点 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DDCC"/>
                </a:solidFill>
              </a:rPr>
              <a:t>差异化设计 · 技术深度体现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134E8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548872" y="6473952"/>
            <a:ext cx="457200" cy="292608"/>
          </a:xfrm>
          <a:prstGeom prst="rect">
            <a:avLst/>
          </a:prstGeom>
          <a:solidFill>
            <a:srgbClr val="134E8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567160" y="6473952"/>
            <a:ext cx="4206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13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097280"/>
            <a:ext cx="3703320" cy="1417320"/>
          </a:xfrm>
          <a:prstGeom prst="rect">
            <a:avLst/>
          </a:prstGeom>
          <a:solidFill>
            <a:srgbClr val="C00707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" y="1115568"/>
            <a:ext cx="914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1161288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状态机驱动工作流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166420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DDCC"/>
                </a:solidFill>
              </a:rPr>
              <a:t>WorkflowEngine 核心引擎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" y="2578608"/>
            <a:ext cx="3703320" cy="3977639"/>
          </a:xfrm>
          <a:prstGeom prst="rect">
            <a:avLst/>
          </a:prstGeom>
          <a:solidFill>
            <a:srgbClr val="FFFFFF"/>
          </a:solidFill>
          <a:ln w="15240">
            <a:solidFill>
              <a:srgbClr val="E8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3192" y="2697480"/>
            <a:ext cx="3374136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250">
                <a:solidFill>
                  <a:srgbClr val="1A1A1A"/>
                </a:solidFill>
              </a:rPr>
              <a:t>▸ 8个业务状态 + 4条异常回退流</a:t>
            </a:r>
          </a:p>
          <a:p>
            <a:pPr>
              <a:spcBef>
                <a:spcPts val="700"/>
              </a:spcBef>
            </a:pPr>
            <a:r>
              <a:rPr sz="1250">
                <a:solidFill>
                  <a:srgbClr val="1A1A1A"/>
                </a:solidFill>
              </a:rPr>
              <a:t>▸ previous_state 字段实现精确阻塞恢复</a:t>
            </a:r>
          </a:p>
          <a:p>
            <a:pPr>
              <a:spcBef>
                <a:spcPts val="700"/>
              </a:spcBef>
            </a:pPr>
            <a:r>
              <a:rPr sz="1250">
                <a:solidFill>
                  <a:srgbClr val="1A1A1A"/>
                </a:solidFill>
              </a:rPr>
              <a:t>▸ 4步闭环验证链自动创建 (ClosureChain)</a:t>
            </a:r>
          </a:p>
          <a:p>
            <a:pPr>
              <a:spcBef>
                <a:spcPts val="700"/>
              </a:spcBef>
            </a:pPr>
            <a:r>
              <a:rPr sz="1250">
                <a:solidFill>
                  <a:srgbClr val="1A1A1A"/>
                </a:solidFill>
              </a:rPr>
              <a:t>▸ 角色级别权限校验（RBAC）</a:t>
            </a:r>
          </a:p>
          <a:p>
            <a:pPr>
              <a:spcBef>
                <a:spcPts val="700"/>
              </a:spcBef>
            </a:pPr>
            <a:r>
              <a:rPr sz="1250">
                <a:solidFill>
                  <a:srgbClr val="1A1A1A"/>
                </a:solidFill>
              </a:rPr>
              <a:t>▸ MQ 三向事件发布（通知/报表/审计）</a:t>
            </a:r>
          </a:p>
          <a:p>
            <a:pPr>
              <a:spcBef>
                <a:spcPts val="700"/>
              </a:spcBef>
            </a:pPr>
            <a:r>
              <a:rPr sz="1250">
                <a:solidFill>
                  <a:srgbClr val="1A1A1A"/>
                </a:solidFill>
              </a:rPr>
              <a:t>▸ 规则数据库化，支持动态流程配置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6240" y="1097280"/>
            <a:ext cx="3703320" cy="1417320"/>
          </a:xfrm>
          <a:prstGeom prst="rect">
            <a:avLst/>
          </a:prstGeom>
          <a:solidFill>
            <a:srgbClr val="134E8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06240" y="1115568"/>
            <a:ext cx="914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1161288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微服务解耦架构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166420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DDCC"/>
                </a:solidFill>
              </a:rPr>
              <a:t>6数据库 · 7微服务独立部署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6240" y="2578608"/>
            <a:ext cx="3703320" cy="3977639"/>
          </a:xfrm>
          <a:prstGeom prst="rect">
            <a:avLst/>
          </a:prstGeom>
          <a:solidFill>
            <a:srgbClr val="FFFFFF"/>
          </a:solidFill>
          <a:ln w="15240">
            <a:solidFill>
              <a:srgbClr val="E8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70832" y="2697480"/>
            <a:ext cx="3374136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250">
                <a:solidFill>
                  <a:srgbClr val="1A1A1A"/>
                </a:solidFill>
              </a:rPr>
              <a:t>▸ 服务间完全通过 MQ 异步通信</a:t>
            </a:r>
          </a:p>
          <a:p>
            <a:pPr>
              <a:spcBef>
                <a:spcPts val="700"/>
              </a:spcBef>
            </a:pPr>
            <a:r>
              <a:rPr sz="1250">
                <a:solidFill>
                  <a:srgbClr val="1A1A1A"/>
                </a:solidFill>
              </a:rPr>
              <a:t>▸ JWT 在网关统一校验，下游免鉴权</a:t>
            </a:r>
          </a:p>
          <a:p>
            <a:pPr>
              <a:spcBef>
                <a:spcPts val="700"/>
              </a:spcBef>
            </a:pPr>
            <a:r>
              <a:rPr sz="1250">
                <a:solidFill>
                  <a:srgbClr val="1A1A1A"/>
                </a:solidFill>
              </a:rPr>
              <a:t>▸ 每个服务拥有独立数据库和端口</a:t>
            </a:r>
          </a:p>
          <a:p>
            <a:pPr>
              <a:spcBef>
                <a:spcPts val="700"/>
              </a:spcBef>
            </a:pPr>
            <a:r>
              <a:rPr sz="1250">
                <a:solidFill>
                  <a:srgbClr val="1A1A1A"/>
                </a:solidFill>
              </a:rPr>
              <a:t>▸ sm-common 提取公共配置/工具类</a:t>
            </a:r>
          </a:p>
          <a:p>
            <a:pPr>
              <a:spcBef>
                <a:spcPts val="700"/>
              </a:spcBef>
            </a:pPr>
            <a:r>
              <a:rPr sz="1250">
                <a:solidFill>
                  <a:srgbClr val="1A1A1A"/>
                </a:solidFill>
              </a:rPr>
              <a:t>▸ Gateway 实现路由 + 限流 + 过滤</a:t>
            </a:r>
          </a:p>
          <a:p>
            <a:pPr>
              <a:spcBef>
                <a:spcPts val="700"/>
              </a:spcBef>
            </a:pPr>
            <a:r>
              <a:rPr sz="1250">
                <a:solidFill>
                  <a:srgbClr val="1A1A1A"/>
                </a:solidFill>
              </a:rPr>
              <a:t>▸ 服务故障不影响其他模块运行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83879" y="1097280"/>
            <a:ext cx="3703320" cy="1417320"/>
          </a:xfrm>
          <a:prstGeom prst="rect">
            <a:avLst/>
          </a:prstGeom>
          <a:solidFill>
            <a:srgbClr val="FF440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83879" y="1115568"/>
            <a:ext cx="914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8279" y="1161288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双级缓存 + 实时报表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98279" y="166420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DDCC"/>
                </a:solidFill>
              </a:rPr>
              <a:t>Redis TTL + sessionStorage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83879" y="2578608"/>
            <a:ext cx="3703320" cy="3977639"/>
          </a:xfrm>
          <a:prstGeom prst="rect">
            <a:avLst/>
          </a:prstGeom>
          <a:solidFill>
            <a:srgbClr val="FFFFFF"/>
          </a:solidFill>
          <a:ln w="15240">
            <a:solidFill>
              <a:srgbClr val="E8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48471" y="2697480"/>
            <a:ext cx="3374136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250">
                <a:solidFill>
                  <a:srgbClr val="1A1A1A"/>
                </a:solidFill>
              </a:rPr>
              <a:t>▸ Redis 看板数据 5分钟 TTL 缓存</a:t>
            </a:r>
          </a:p>
          <a:p>
            <a:pPr>
              <a:spcBef>
                <a:spcPts val="700"/>
              </a:spcBef>
            </a:pPr>
            <a:r>
              <a:rPr sz="1250">
                <a:solidFill>
                  <a:srgbClr val="1A1A1A"/>
                </a:solidFill>
              </a:rPr>
              <a:t>▸ 任务变更后主动失效相关 Key</a:t>
            </a:r>
          </a:p>
          <a:p>
            <a:pPr>
              <a:spcBef>
                <a:spcPts val="700"/>
              </a:spcBef>
            </a:pPr>
            <a:r>
              <a:rPr sz="1250">
                <a:solidFill>
                  <a:srgbClr val="1A1A1A"/>
                </a:solidFill>
              </a:rPr>
              <a:t>▸ 前端 sessionStorage 二级缓存</a:t>
            </a:r>
          </a:p>
          <a:p>
            <a:pPr>
              <a:spcBef>
                <a:spcPts val="700"/>
              </a:spcBef>
            </a:pPr>
            <a:r>
              <a:rPr sz="1250">
                <a:solidFill>
                  <a:srgbClr val="1A1A1A"/>
                </a:solidFill>
              </a:rPr>
              <a:t>▸ ECharts 4种图表实时可视化</a:t>
            </a:r>
          </a:p>
          <a:p>
            <a:pPr>
              <a:spcBef>
                <a:spcPts val="700"/>
              </a:spcBef>
            </a:pPr>
            <a:r>
              <a:rPr sz="1250">
                <a:solidFill>
                  <a:srgbClr val="1A1A1A"/>
                </a:solidFill>
              </a:rPr>
              <a:t>▸ 报表由 MQ 事件触发自动更新</a:t>
            </a:r>
          </a:p>
          <a:p>
            <a:pPr>
              <a:spcBef>
                <a:spcPts val="700"/>
              </a:spcBef>
            </a:pPr>
            <a:r>
              <a:rPr sz="1250">
                <a:solidFill>
                  <a:srgbClr val="1A1A1A"/>
                </a:solidFill>
              </a:rPr>
              <a:t>▸ 甘特图任务时间轴精准渲染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0E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C00707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12 · 系统测试与优化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DDCC"/>
                </a:solidFill>
              </a:rPr>
              <a:t>功能验证 · 性能测试 · 问题与优化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134E8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548872" y="6473952"/>
            <a:ext cx="457200" cy="292608"/>
          </a:xfrm>
          <a:prstGeom prst="rect">
            <a:avLst/>
          </a:prstGeom>
          <a:solidFill>
            <a:srgbClr val="134E8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567160" y="6473952"/>
            <a:ext cx="4206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14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097280"/>
            <a:ext cx="5486400" cy="5394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18872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00707"/>
                </a:solidFill>
              </a:rPr>
              <a:t>✅ 功能测试覆盖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627632"/>
            <a:ext cx="5120640" cy="45720"/>
          </a:xfrm>
          <a:prstGeom prst="rect">
            <a:avLst/>
          </a:prstGeom>
          <a:solidFill>
            <a:srgbClr val="FF440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737360"/>
            <a:ext cx="1828800" cy="566928"/>
          </a:xfrm>
          <a:prstGeom prst="rect">
            <a:avLst/>
          </a:prstGeom>
          <a:solidFill>
            <a:srgbClr val="134E8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737360"/>
            <a:ext cx="1828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认证模块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31720" y="1737360"/>
            <a:ext cx="3337560" cy="566928"/>
          </a:xfrm>
          <a:prstGeom prst="rect">
            <a:avLst/>
          </a:prstGeom>
          <a:solidFill>
            <a:srgbClr val="F5F0EB"/>
          </a:solidFill>
          <a:ln w="10160">
            <a:solidFill>
              <a:srgbClr val="E8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23160" y="1810512"/>
            <a:ext cx="3108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登录/Token验证/过期处理/角色权限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40680" y="1737360"/>
            <a:ext cx="274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E7D32"/>
                </a:solidFill>
              </a:rPr>
              <a:t>✓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468880"/>
            <a:ext cx="1828800" cy="566928"/>
          </a:xfrm>
          <a:prstGeom prst="rect">
            <a:avLst/>
          </a:prstGeom>
          <a:solidFill>
            <a:srgbClr val="C00707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468880"/>
            <a:ext cx="1828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任务服务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31720" y="2468880"/>
            <a:ext cx="3337560" cy="566928"/>
          </a:xfrm>
          <a:prstGeom prst="rect">
            <a:avLst/>
          </a:prstGeom>
          <a:solidFill>
            <a:srgbClr val="F5F0EB"/>
          </a:solidFill>
          <a:ln w="10160">
            <a:solidFill>
              <a:srgbClr val="E8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423160" y="2542032"/>
            <a:ext cx="3108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CRUD/分配/分页查询/关联关系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2468880"/>
            <a:ext cx="274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E7D32"/>
                </a:solidFill>
              </a:rPr>
              <a:t>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200400"/>
            <a:ext cx="1828800" cy="566928"/>
          </a:xfrm>
          <a:prstGeom prst="rect">
            <a:avLst/>
          </a:prstGeom>
          <a:solidFill>
            <a:srgbClr val="134E8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3200400"/>
            <a:ext cx="1828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工作流引擎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31720" y="3200400"/>
            <a:ext cx="3337560" cy="566928"/>
          </a:xfrm>
          <a:prstGeom prst="rect">
            <a:avLst/>
          </a:prstGeom>
          <a:solidFill>
            <a:srgbClr val="F5F0EB"/>
          </a:solidFill>
          <a:ln w="10160">
            <a:solidFill>
              <a:srgbClr val="E8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23160" y="3273552"/>
            <a:ext cx="3108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8状态转移/4异常流/阻塞恢复/闭环链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40680" y="3200400"/>
            <a:ext cx="274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E7D32"/>
                </a:solidFill>
              </a:rPr>
              <a:t>✓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931920"/>
            <a:ext cx="1828800" cy="566928"/>
          </a:xfrm>
          <a:prstGeom prst="rect">
            <a:avLst/>
          </a:prstGeom>
          <a:solidFill>
            <a:srgbClr val="C00707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3931920"/>
            <a:ext cx="1828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报表服务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331720" y="3931920"/>
            <a:ext cx="3337560" cy="566928"/>
          </a:xfrm>
          <a:prstGeom prst="rect">
            <a:avLst/>
          </a:prstGeom>
          <a:solidFill>
            <a:srgbClr val="F5F0EB"/>
          </a:solidFill>
          <a:ln w="10160">
            <a:solidFill>
              <a:srgbClr val="E8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423160" y="4005072"/>
            <a:ext cx="3108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仪表板数据/甘特图/快照归档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40680" y="3931920"/>
            <a:ext cx="274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E7D32"/>
                </a:solidFill>
              </a:rPr>
              <a:t>✓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4663440"/>
            <a:ext cx="1828800" cy="566928"/>
          </a:xfrm>
          <a:prstGeom prst="rect">
            <a:avLst/>
          </a:prstGeom>
          <a:solidFill>
            <a:srgbClr val="134E8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4663440"/>
            <a:ext cx="1828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通知服务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331720" y="4663440"/>
            <a:ext cx="3337560" cy="566928"/>
          </a:xfrm>
          <a:prstGeom prst="rect">
            <a:avLst/>
          </a:prstGeom>
          <a:solidFill>
            <a:srgbClr val="F5F0EB"/>
          </a:solidFill>
          <a:ln w="10160">
            <a:solidFill>
              <a:srgbClr val="E8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423160" y="4736592"/>
            <a:ext cx="3108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MQ消费/站内通知/邮件发送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40680" y="4663440"/>
            <a:ext cx="274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E7D32"/>
                </a:solidFill>
              </a:rPr>
              <a:t>✓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5394960"/>
            <a:ext cx="1828800" cy="566928"/>
          </a:xfrm>
          <a:prstGeom prst="rect">
            <a:avLst/>
          </a:prstGeom>
          <a:solidFill>
            <a:srgbClr val="C00707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5394960"/>
            <a:ext cx="1828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审计服务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331720" y="5394960"/>
            <a:ext cx="3337560" cy="566928"/>
          </a:xfrm>
          <a:prstGeom prst="rect">
            <a:avLst/>
          </a:prstGeom>
          <a:solidFill>
            <a:srgbClr val="F5F0EB"/>
          </a:solidFill>
          <a:ln w="10160">
            <a:solidFill>
              <a:srgbClr val="E8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423160" y="5468112"/>
            <a:ext cx="3108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日志记录/变更追踪/查询接口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40680" y="5394960"/>
            <a:ext cx="274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E7D32"/>
                </a:solidFill>
              </a:rPr>
              <a:t>✓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035040" y="1097280"/>
            <a:ext cx="5852160" cy="5394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17920" y="1188720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34E8E"/>
                </a:solidFill>
              </a:rPr>
              <a:t>⚡ 性能优化策略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17920" y="1627632"/>
            <a:ext cx="5486400" cy="45720"/>
          </a:xfrm>
          <a:prstGeom prst="rect">
            <a:avLst/>
          </a:prstGeom>
          <a:solidFill>
            <a:srgbClr val="FFB33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217920" y="1737360"/>
            <a:ext cx="457200" cy="457200"/>
          </a:xfrm>
          <a:prstGeom prst="rect">
            <a:avLst/>
          </a:prstGeom>
          <a:solidFill>
            <a:srgbClr val="C00707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17920" y="17373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↑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784848" y="173736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00707"/>
                </a:solidFill>
              </a:rPr>
              <a:t>Redis 缓存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84848" y="205740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</a:rPr>
              <a:t>看板查询响应时间从 ~200ms → ~15ms
5分钟 TTL + 主动失效机制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217920" y="2852928"/>
            <a:ext cx="457200" cy="457200"/>
          </a:xfrm>
          <a:prstGeom prst="rect">
            <a:avLst/>
          </a:prstGeom>
          <a:solidFill>
            <a:srgbClr val="FF440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217920" y="285292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↑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784848" y="285292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4400"/>
                </a:solidFill>
              </a:rPr>
              <a:t>MQ 异步解耦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84848" y="3172968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</a:rPr>
              <a:t>通知/审计不阻塞主流程
服务响应时间降低 40%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217920" y="3968496"/>
            <a:ext cx="457200" cy="457200"/>
          </a:xfrm>
          <a:prstGeom prst="rect">
            <a:avLst/>
          </a:prstGeom>
          <a:solidFill>
            <a:srgbClr val="134E8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217920" y="396849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↑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784848" y="3968496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34E8E"/>
                </a:solidFill>
              </a:rPr>
              <a:t>数据库索引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784848" y="4288536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</a:rPr>
              <a:t>task_id/operator_id 建立联合索引
查询效率提升 60%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217920" y="5084064"/>
            <a:ext cx="457200" cy="457200"/>
          </a:xfrm>
          <a:prstGeom prst="rect">
            <a:avLst/>
          </a:prstGeom>
          <a:solidFill>
            <a:srgbClr val="FFB33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217920" y="5084064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↑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784848" y="5084064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B33F"/>
                </a:solidFill>
              </a:rPr>
              <a:t>分页查询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784848" y="5404104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</a:rPr>
              <a:t>MyBatis-Plus 分页插件
避免大数据量全表扫描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0E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C00707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13 · 项目总结与未来展望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DDCC"/>
                </a:solidFill>
              </a:rPr>
              <a:t>成果量化 · 技术收获 · 迭代规划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134E8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548872" y="6473952"/>
            <a:ext cx="457200" cy="292608"/>
          </a:xfrm>
          <a:prstGeom prst="rect">
            <a:avLst/>
          </a:prstGeom>
          <a:solidFill>
            <a:srgbClr val="134E8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567160" y="6473952"/>
            <a:ext cx="4206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15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097280"/>
            <a:ext cx="5303520" cy="5394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188720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00707"/>
                </a:solidFill>
              </a:rPr>
              <a:t>📊 项目成果量化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627632"/>
            <a:ext cx="4937760" cy="45720"/>
          </a:xfrm>
          <a:prstGeom prst="rect">
            <a:avLst/>
          </a:prstGeom>
          <a:solidFill>
            <a:srgbClr val="FF440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783080"/>
            <a:ext cx="2331720" cy="1188720"/>
          </a:xfrm>
          <a:prstGeom prst="rect">
            <a:avLst/>
          </a:prstGeom>
          <a:solidFill>
            <a:srgbClr val="C00707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856232"/>
            <a:ext cx="23317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95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441448"/>
            <a:ext cx="2331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Java 源代码文件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80360" y="1783080"/>
            <a:ext cx="2331720" cy="1188720"/>
          </a:xfrm>
          <a:prstGeom prst="rect">
            <a:avLst/>
          </a:prstGeom>
          <a:solidFill>
            <a:srgbClr val="134E8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80360" y="1856232"/>
            <a:ext cx="23317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37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0360" y="2441448"/>
            <a:ext cx="2331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Vue 前端组件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200400"/>
            <a:ext cx="2331720" cy="1188720"/>
          </a:xfrm>
          <a:prstGeom prst="rect">
            <a:avLst/>
          </a:prstGeom>
          <a:solidFill>
            <a:srgbClr val="FF440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273552"/>
            <a:ext cx="23317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858768"/>
            <a:ext cx="2331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微服务模块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880360" y="3200400"/>
            <a:ext cx="2331720" cy="1188720"/>
          </a:xfrm>
          <a:prstGeom prst="rect">
            <a:avLst/>
          </a:prstGeom>
          <a:solidFill>
            <a:srgbClr val="FFB33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880360" y="3273552"/>
            <a:ext cx="23317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80360" y="3858768"/>
            <a:ext cx="2331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独立数据库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617720"/>
            <a:ext cx="2331720" cy="1188720"/>
          </a:xfrm>
          <a:prstGeom prst="rect">
            <a:avLst/>
          </a:prstGeom>
          <a:solidFill>
            <a:srgbClr val="C00707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4690872"/>
            <a:ext cx="23317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8+4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276088"/>
            <a:ext cx="2331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状态 + 异常流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880360" y="4617720"/>
            <a:ext cx="2331720" cy="1188720"/>
          </a:xfrm>
          <a:prstGeom prst="rect">
            <a:avLst/>
          </a:prstGeom>
          <a:solidFill>
            <a:srgbClr val="134E8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880360" y="4690872"/>
            <a:ext cx="23317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80360" y="5276088"/>
            <a:ext cx="2331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角色权限体系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03504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1">
                <a:solidFill>
                  <a:srgbClr val="134E8E"/>
                </a:solidFill>
              </a:rPr>
              <a:t>「从需求到发布，全流程数字化闭环管理」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852160" y="1097280"/>
            <a:ext cx="6035040" cy="5394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35040" y="1188720"/>
            <a:ext cx="5669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34E8E"/>
                </a:solidFill>
              </a:rPr>
              <a:t>🚀 未来迭代展望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35040" y="1627632"/>
            <a:ext cx="5669280" cy="45720"/>
          </a:xfrm>
          <a:prstGeom prst="rect">
            <a:avLst/>
          </a:prstGeom>
          <a:solidFill>
            <a:srgbClr val="FFB33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035040" y="1783080"/>
            <a:ext cx="2011680" cy="365760"/>
          </a:xfrm>
          <a:prstGeom prst="rect">
            <a:avLst/>
          </a:prstGeom>
          <a:solidFill>
            <a:srgbClr val="C00707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53328" y="1783080"/>
            <a:ext cx="19933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短期 (1-3月)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26480" y="2194560"/>
            <a:ext cx="5577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50">
                <a:solidFill>
                  <a:srgbClr val="1A1A1A"/>
                </a:solidFill>
              </a:rPr>
              <a:t>▸ 引入 Spring Cloud Eureka 服务注册发现</a:t>
            </a:r>
          </a:p>
          <a:p>
            <a:pPr>
              <a:spcBef>
                <a:spcPts val="200"/>
              </a:spcBef>
            </a:pPr>
            <a:r>
              <a:rPr sz="1150">
                <a:solidFill>
                  <a:srgbClr val="1A1A1A"/>
                </a:solidFill>
              </a:rPr>
              <a:t>▸ 添加 Prometheus + Grafana 监控面板</a:t>
            </a:r>
          </a:p>
          <a:p>
            <a:pPr>
              <a:spcBef>
                <a:spcPts val="200"/>
              </a:spcBef>
            </a:pPr>
            <a:r>
              <a:rPr sz="1150">
                <a:solidFill>
                  <a:srgbClr val="1A1A1A"/>
                </a:solidFill>
              </a:rPr>
              <a:t>▸ 完善单元测试，覆盖率 &gt; 80%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35040" y="3291840"/>
            <a:ext cx="2011680" cy="365760"/>
          </a:xfrm>
          <a:prstGeom prst="rect">
            <a:avLst/>
          </a:prstGeom>
          <a:solidFill>
            <a:srgbClr val="134E8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53328" y="3291840"/>
            <a:ext cx="19933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中期 (3-6月)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26480" y="3703320"/>
            <a:ext cx="5577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50">
                <a:solidFill>
                  <a:srgbClr val="1A1A1A"/>
                </a:solidFill>
              </a:rPr>
              <a:t>▸ 接入 OAuth2.0 / SSO 第三方登录</a:t>
            </a:r>
          </a:p>
          <a:p>
            <a:pPr>
              <a:spcBef>
                <a:spcPts val="200"/>
              </a:spcBef>
            </a:pPr>
            <a:r>
              <a:rPr sz="1150">
                <a:solidFill>
                  <a:srgbClr val="1A1A1A"/>
                </a:solidFill>
              </a:rPr>
              <a:t>▸ 实现 WebSocket 实时推送看板更新</a:t>
            </a:r>
          </a:p>
          <a:p>
            <a:pPr>
              <a:spcBef>
                <a:spcPts val="200"/>
              </a:spcBef>
            </a:pPr>
            <a:r>
              <a:rPr sz="1150">
                <a:solidFill>
                  <a:srgbClr val="1A1A1A"/>
                </a:solidFill>
              </a:rPr>
              <a:t>▸ 增加 AI 工作量预测模型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35040" y="4800600"/>
            <a:ext cx="2011680" cy="365760"/>
          </a:xfrm>
          <a:prstGeom prst="rect">
            <a:avLst/>
          </a:prstGeom>
          <a:solidFill>
            <a:srgbClr val="FF440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053328" y="4800600"/>
            <a:ext cx="19933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长期 (6月+)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26480" y="5212080"/>
            <a:ext cx="5577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50">
                <a:solidFill>
                  <a:srgbClr val="1A1A1A"/>
                </a:solidFill>
              </a:rPr>
              <a:t>▸ 容器化部署 (Docker + K8s)</a:t>
            </a:r>
          </a:p>
          <a:p>
            <a:pPr>
              <a:spcBef>
                <a:spcPts val="200"/>
              </a:spcBef>
            </a:pPr>
            <a:r>
              <a:rPr sz="1150">
                <a:solidFill>
                  <a:srgbClr val="1A1A1A"/>
                </a:solidFill>
              </a:rPr>
              <a:t>▸ 多租户 SaaS 化改造</a:t>
            </a:r>
          </a:p>
          <a:p>
            <a:pPr>
              <a:spcBef>
                <a:spcPts val="200"/>
              </a:spcBef>
            </a:pPr>
            <a:r>
              <a:rPr sz="1150">
                <a:solidFill>
                  <a:srgbClr val="1A1A1A"/>
                </a:solidFill>
              </a:rPr>
              <a:t>▸ 移动端 App 支持 (UniApp)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