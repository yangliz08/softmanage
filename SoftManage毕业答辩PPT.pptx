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8543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in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201168"/>
            <a:ext cx="804672" cy="674886"/>
          </a:xfrm>
          <a:prstGeom prst="rect">
            <a:avLst/>
          </a:prstGeom>
        </p:spPr>
      </p:pic>
      <p:pic>
        <p:nvPicPr>
          <p:cNvPr id="6" name="Picture 5" descr="f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168" y="940062"/>
            <a:ext cx="1536192" cy="3556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31136" y="2194560"/>
            <a:ext cx="9594799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07800"/>
                </a:solidFill>
                <a:latin typeface="黑体"/>
              </a:rPr>
              <a:t>SoftManage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1136" y="3246120"/>
            <a:ext cx="9594799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AF0DC"/>
                </a:solidFill>
                <a:latin typeface="黑体"/>
              </a:rPr>
              <a:t>软件项目管理系统</a:t>
            </a:r>
          </a:p>
        </p:txBody>
      </p:sp>
      <p:sp>
        <p:nvSpPr>
          <p:cNvPr id="9" name="Rectangle 8"/>
          <p:cNvSpPr/>
          <p:nvPr/>
        </p:nvSpPr>
        <p:spPr>
          <a:xfrm>
            <a:off x="2255367" y="3840480"/>
            <a:ext cx="7680960" cy="36576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136" y="3950208"/>
            <a:ext cx="9594799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989080"/>
                </a:solidFill>
                <a:latin typeface="微软雅黑"/>
              </a:rPr>
              <a:t>毕业设计答辩报告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5925312"/>
            <a:ext cx="11387023" cy="36576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6035040"/>
            <a:ext cx="68580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Spring Boot 3  ·  Vue 3  ·  Gateway  ·  Redis  ·  RabbitMQ  ·  MySQL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6035040"/>
            <a:ext cx="5236311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solidFill>
                  <a:srgbClr val="989080"/>
                </a:solidFill>
                <a:latin typeface="微软雅黑"/>
              </a:rPr>
              <a:t>西南大学  计算机学院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89080"/>
                </a:solidFill>
                <a:latin typeface="黑体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AF0DC"/>
                </a:solidFill>
                <a:latin typeface="黑体"/>
              </a:rPr>
              <a:t>答辩目录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2336" y="1536192"/>
            <a:ext cx="3661562" cy="2560320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536192"/>
            <a:ext cx="73152" cy="2560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645920"/>
            <a:ext cx="60350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07800"/>
                </a:solidFill>
                <a:latin typeface="黑体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212848"/>
            <a:ext cx="325922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AF0DC"/>
                </a:solidFill>
                <a:latin typeface="黑体"/>
              </a:rPr>
              <a:t>项目概述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560320"/>
            <a:ext cx="325922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背景 · 目标 · 核心价值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4041648"/>
            <a:ext cx="3661562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65066" y="1536192"/>
            <a:ext cx="3661562" cy="2560320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5066" y="1536192"/>
            <a:ext cx="73152" cy="2560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6234" y="1645920"/>
            <a:ext cx="60350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07800"/>
                </a:solidFill>
                <a:latin typeface="黑体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6234" y="2212848"/>
            <a:ext cx="325922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AF0DC"/>
                </a:solidFill>
                <a:latin typeface="黑体"/>
              </a:rPr>
              <a:t>系统架构设计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6234" y="2560320"/>
            <a:ext cx="325922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五层结构 · 微服务拓扑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5066" y="4041648"/>
            <a:ext cx="3661562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27796" y="1536192"/>
            <a:ext cx="3661562" cy="2560320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7796" y="1536192"/>
            <a:ext cx="73152" cy="2560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8964" y="1645920"/>
            <a:ext cx="60350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07800"/>
                </a:solidFill>
                <a:latin typeface="黑体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964" y="2212848"/>
            <a:ext cx="325922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AF0DC"/>
                </a:solidFill>
                <a:latin typeface="黑体"/>
              </a:rPr>
              <a:t>工作流引擎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8964" y="2560320"/>
            <a:ext cx="325922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状态机 · 异常回路 · 闭环链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27796" y="4041648"/>
            <a:ext cx="3661562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2336" y="4297680"/>
            <a:ext cx="3661562" cy="2560320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2336" y="4297680"/>
            <a:ext cx="73152" cy="2560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4407408"/>
            <a:ext cx="60350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07800"/>
                </a:solidFill>
                <a:latin typeface="黑体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4974336"/>
            <a:ext cx="325922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AF0DC"/>
                </a:solidFill>
                <a:latin typeface="黑体"/>
              </a:rPr>
              <a:t>核心功能实现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5321808"/>
            <a:ext cx="325922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认证 · 协同 · 报表可视化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6803136"/>
            <a:ext cx="3661562" cy="54864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65066" y="4297680"/>
            <a:ext cx="3661562" cy="2560320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65066" y="4297680"/>
            <a:ext cx="73152" cy="2560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6234" y="4407408"/>
            <a:ext cx="60350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07800"/>
                </a:solidFill>
                <a:latin typeface="黑体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6234" y="4974336"/>
            <a:ext cx="325922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AF0DC"/>
                </a:solidFill>
                <a:latin typeface="黑体"/>
              </a:rPr>
              <a:t>数据库设计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66234" y="5321808"/>
            <a:ext cx="325922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6库隔离 · 实体结构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5066" y="6803136"/>
            <a:ext cx="3661562" cy="54864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27796" y="4297680"/>
            <a:ext cx="3661562" cy="2560320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27796" y="4297680"/>
            <a:ext cx="73152" cy="2560320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8964" y="4407408"/>
            <a:ext cx="60350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07800"/>
                </a:solidFill>
                <a:latin typeface="黑体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8964" y="4974336"/>
            <a:ext cx="325922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AF0DC"/>
                </a:solidFill>
                <a:latin typeface="黑体"/>
              </a:rPr>
              <a:t>测试 · 总结 · 展望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8964" y="5321808"/>
            <a:ext cx="3259226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验证 · 成果 · 迭代规划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27796" y="6803136"/>
            <a:ext cx="3661562" cy="54864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20511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20511" y="0"/>
            <a:ext cx="7071183" cy="6858000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89080"/>
                </a:solidFill>
                <a:latin typeface="黑体"/>
              </a:rPr>
              <a:t>PART 01  ·  项目概述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94944"/>
            <a:ext cx="431583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07800"/>
                </a:solidFill>
                <a:latin typeface="黑体"/>
              </a:rPr>
              <a:t>核心痛点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2084832"/>
            <a:ext cx="4315839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89080"/>
                </a:solidFill>
                <a:latin typeface="微软雅黑"/>
              </a:rPr>
              <a:t>现有研发协作工具存在三大短板：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2386584"/>
            <a:ext cx="431583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ECE4D2"/>
                </a:solidFill>
                <a:latin typeface="微软雅黑"/>
              </a:rPr>
              <a:t>① 任务状态分散  跨团队协同断链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ECE4D2"/>
                </a:solidFill>
                <a:latin typeface="微软雅黑"/>
              </a:rPr>
              <a:t>② 异常流程无追踪  问题溯源困难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ECE4D2"/>
                </a:solidFill>
                <a:latin typeface="微软雅黑"/>
              </a:rPr>
              <a:t>③ 工具割裂  缺少端到端闭环管控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5632704"/>
            <a:ext cx="18288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07800"/>
                </a:solidFill>
                <a:latin typeface="黑体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6126480"/>
            <a:ext cx="1828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微服务模块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5632704"/>
            <a:ext cx="18288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07800"/>
                </a:solidFill>
                <a:latin typeface="黑体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6126480"/>
            <a:ext cx="1828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独立数据库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22847" y="402336"/>
            <a:ext cx="6266511" cy="1908048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2847" y="402336"/>
            <a:ext cx="73152" cy="1908048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05727" y="530352"/>
            <a:ext cx="60104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研究背景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5727" y="859536"/>
            <a:ext cx="6010479" cy="1313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26858"/>
                </a:solidFill>
                <a:latin typeface="微软雅黑"/>
              </a:rPr>
              <a:t>现有工具功能分散、定制化不足，缺乏研发全生命周期的统一闭环管控机制。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22847" y="2474976"/>
            <a:ext cx="6266511" cy="1908048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22847" y="2474976"/>
            <a:ext cx="73152" cy="1908048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727" y="2602992"/>
            <a:ext cx="60104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建设目标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05727" y="2932176"/>
            <a:ext cx="6010479" cy="1313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26858"/>
                </a:solidFill>
                <a:latin typeface="微软雅黑"/>
              </a:rPr>
              <a:t>构建需求→开发→测试→发布全流程平台，状态机驱动流转，多角色协同管控。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22847" y="4547616"/>
            <a:ext cx="6266511" cy="1908048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2847" y="4547616"/>
            <a:ext cx="73152" cy="1908048"/>
          </a:xfrm>
          <a:prstGeom prst="rect">
            <a:avLst/>
          </a:prstGeom>
          <a:solidFill>
            <a:srgbClr val="967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05727" y="4675632"/>
            <a:ext cx="601047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核心价值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05727" y="5004816"/>
            <a:ext cx="6010479" cy="1313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726858"/>
                </a:solidFill>
                <a:latin typeface="微软雅黑"/>
              </a:rPr>
              <a:t>统一闭环 · 可追踪 · 角色分权 · Redis 缓存 · MQ 异步解耦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726858"/>
                </a:solidFill>
                <a:latin typeface="黑体"/>
              </a:rPr>
              <a:t>PART 02  ·  系统架构设计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282830"/>
                </a:solidFill>
                <a:latin typeface="黑体"/>
              </a:rPr>
              <a:t>五层分层微服务架构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1261872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分层解耦 · 按域拆分 · 数据隔离 · 异步事件驱动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" y="1536192"/>
            <a:ext cx="11387023" cy="89245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536192"/>
            <a:ext cx="91440" cy="89245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536192"/>
            <a:ext cx="1691640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前端层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2576" y="1714682"/>
            <a:ext cx="27432" cy="535472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1536192"/>
            <a:ext cx="9155887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Vue 3  +  Element Plus  +  Pinia  +  ECharts  +  Axios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2987" y="2428646"/>
            <a:ext cx="45720" cy="914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2336" y="2520086"/>
            <a:ext cx="11387023" cy="89245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2336" y="2520086"/>
            <a:ext cx="91440" cy="892454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520086"/>
            <a:ext cx="1691640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网关层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2576" y="2698577"/>
            <a:ext cx="27432" cy="535472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0592" y="2520086"/>
            <a:ext cx="9155887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Spring Cloud Gateway  ·  JWT 全局过滤  ·  路由  ·  限流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72987" y="3412540"/>
            <a:ext cx="45720" cy="914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2336" y="3503980"/>
            <a:ext cx="11387023" cy="89245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2336" y="3503980"/>
            <a:ext cx="91440" cy="892454"/>
          </a:xfrm>
          <a:prstGeom prst="rect">
            <a:avLst/>
          </a:prstGeom>
          <a:solidFill>
            <a:srgbClr val="9E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3503980"/>
            <a:ext cx="1691640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服务层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2576" y="3682471"/>
            <a:ext cx="27432" cy="535472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3503980"/>
            <a:ext cx="9155887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sm-auth  /  sm-task  /  sm-workflow  /  sm-report  /  sm-notification  /  sm-audit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72987" y="4396435"/>
            <a:ext cx="45720" cy="914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2336" y="4487875"/>
            <a:ext cx="11387023" cy="89245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2336" y="4487875"/>
            <a:ext cx="91440" cy="892454"/>
          </a:xfrm>
          <a:prstGeom prst="rect">
            <a:avLst/>
          </a:prstGeom>
          <a:solidFill>
            <a:srgbClr val="7A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487875"/>
            <a:ext cx="1691640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数据层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22576" y="4666366"/>
            <a:ext cx="27432" cy="535472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0592" y="4487875"/>
            <a:ext cx="9155887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auth_db  /  task_db  /  workflow_db  /  report_db  /  notification_db  /  audit_db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2987" y="5380329"/>
            <a:ext cx="45720" cy="9144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02336" y="5471769"/>
            <a:ext cx="11387023" cy="89245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2336" y="5471769"/>
            <a:ext cx="91440" cy="892454"/>
          </a:xfrm>
          <a:prstGeom prst="rect">
            <a:avLst/>
          </a:prstGeom>
          <a:solidFill>
            <a:srgbClr val="5C4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5471769"/>
            <a:ext cx="1691640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82830"/>
                </a:solidFill>
                <a:latin typeface="黑体"/>
              </a:rPr>
              <a:t>基础设施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22576" y="5650260"/>
            <a:ext cx="27432" cy="535472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0592" y="5471769"/>
            <a:ext cx="9155887" cy="8924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Redis（5min 看板缓存）  +  RabbitMQ（事件总线）  +  MySQL 8.0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89080"/>
                </a:solidFill>
                <a:latin typeface="黑体"/>
              </a:rPr>
              <a:t>PART 03  ·  工作流引擎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AF0DC"/>
                </a:solidFill>
                <a:latin typeface="黑体"/>
              </a:rPr>
              <a:t>状态机驱动全链路流转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261872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89080"/>
                </a:solidFill>
                <a:latin typeface="微软雅黑"/>
              </a:rPr>
              <a:t>8 个主状态 · 4 条异常回路 · previous_state 精确恢复 · 闭环验证链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AF0DC"/>
                </a:solidFill>
                <a:latin typeface="黑体"/>
              </a:rPr>
              <a:t>需求管理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7979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50859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87435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AF0DC"/>
                </a:solidFill>
                <a:latin typeface="黑体"/>
              </a:rPr>
              <a:t>任务准备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6503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9383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5959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2A2A32"/>
                </a:solidFill>
                <a:latin typeface="黑体"/>
              </a:rPr>
              <a:t>开发中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5027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47907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4483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AF0DC"/>
                </a:solidFill>
                <a:latin typeface="黑体"/>
              </a:rPr>
              <a:t>待评审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13551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96431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3007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2A2A32"/>
                </a:solidFill>
                <a:latin typeface="黑体"/>
              </a:rPr>
              <a:t>测试中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62075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44955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1531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AF0DC"/>
                </a:solidFill>
                <a:latin typeface="黑体"/>
              </a:rPr>
              <a:t>待发布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0599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93479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30055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AF0DC"/>
                </a:solidFill>
                <a:latin typeface="黑体"/>
              </a:rPr>
              <a:t>已上线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59123" y="1865376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542003" y="1536192"/>
            <a:ext cx="1247355" cy="713232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78579" y="1536192"/>
            <a:ext cx="1174203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07800"/>
                </a:solidFill>
                <a:latin typeface="黑体"/>
              </a:rPr>
              <a:t>已完成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" y="2542032"/>
            <a:ext cx="11387023" cy="36576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2651760"/>
            <a:ext cx="4572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07800"/>
                </a:solidFill>
                <a:latin typeface="黑体"/>
              </a:rPr>
              <a:t>异常回路 &amp; 特殊机制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336" y="2944368"/>
            <a:ext cx="2709595" cy="35112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072384"/>
            <a:ext cx="24169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评审驳回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383280"/>
            <a:ext cx="2416987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待评审 → 开发中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657600"/>
            <a:ext cx="2416987" cy="274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749040"/>
            <a:ext cx="2416987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ECE4D2"/>
                </a:solidFill>
                <a:latin typeface="微软雅黑"/>
              </a:rPr>
              <a:t>保留责任人与上下文
驳回原因强制填写后归档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94811" y="2944368"/>
            <a:ext cx="2709595" cy="35112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41115" y="3072384"/>
            <a:ext cx="24169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测试失败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41115" y="3383280"/>
            <a:ext cx="2416987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测试中 → 创建修复任务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41115" y="3657600"/>
            <a:ext cx="2416987" cy="274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41115" y="3749040"/>
            <a:ext cx="2416987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ECE4D2"/>
                </a:solidFill>
                <a:latin typeface="微软雅黑"/>
              </a:rPr>
              <a:t>触发 4 步闭环验证链
ClosureChain 自动关联修复任务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7287" y="2944368"/>
            <a:ext cx="2709595" cy="35112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3591" y="3072384"/>
            <a:ext cx="24169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发布拒绝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3591" y="3383280"/>
            <a:ext cx="2416987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989080"/>
                </a:solidFill>
                <a:latin typeface="微软雅黑"/>
              </a:rPr>
              <a:t>待发布 → 回退修复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33591" y="3657600"/>
            <a:ext cx="2416987" cy="27432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33591" y="3749040"/>
            <a:ext cx="2416987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ECE4D2"/>
                </a:solidFill>
                <a:latin typeface="微软雅黑"/>
              </a:rPr>
              <a:t>重提前须重新 review
拒绝原因审计日志留痕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79763" y="2944368"/>
            <a:ext cx="2709595" cy="3511296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26067" y="3072384"/>
            <a:ext cx="241698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A2A32"/>
                </a:solidFill>
                <a:latin typeface="黑体"/>
              </a:rPr>
              <a:t>阻塞恢复 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26067" y="3383280"/>
            <a:ext cx="2416987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82830"/>
                </a:solidFill>
                <a:latin typeface="微软雅黑"/>
              </a:rPr>
              <a:t>任意阶段 → 阻塞 → 精确恢复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26067" y="3657600"/>
            <a:ext cx="2416987" cy="27432"/>
          </a:xfrm>
          <a:prstGeom prst="rect">
            <a:avLst/>
          </a:prstGeom>
          <a:solidFill>
            <a:srgbClr val="C07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26067" y="3749040"/>
            <a:ext cx="2416987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282830"/>
                </a:solidFill>
                <a:latin typeface="微软雅黑"/>
              </a:rPr>
              <a:t>previous_state 字段保存当前阶段
解除阻塞后直接还原，无人工误判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726858"/>
                </a:solidFill>
                <a:latin typeface="黑体"/>
              </a:rPr>
              <a:t>PART 04  ·  核心功能实现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282830"/>
                </a:solidFill>
                <a:latin typeface="黑体"/>
              </a:rPr>
              <a:t>三大核心功能模块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1261872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认证安全 · 任务协同 · 数据可视化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" y="1572768"/>
            <a:ext cx="3649370" cy="488289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1572768"/>
            <a:ext cx="3649370" cy="73152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55648"/>
            <a:ext cx="332018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82830"/>
                </a:solidFill>
                <a:latin typeface="黑体"/>
              </a:rPr>
              <a:t>认证与权限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332018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726858"/>
                </a:solidFill>
                <a:latin typeface="微软雅黑"/>
              </a:rPr>
              <a:t>JWT + BCrypt + RBAC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377440"/>
            <a:ext cx="3320186" cy="36576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9808" y="3017520"/>
            <a:ext cx="292608" cy="292608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01752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615184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登录 → Token 签发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2889504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BCrypt 验密 + JWT 生成 + Redis 会话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77056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9808" y="4334256"/>
            <a:ext cx="292608" cy="292608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334256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931920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Gateway 统一拦截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206240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JwtAuthFilter 全局过滤 + 白名单放行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93792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5650992"/>
            <a:ext cx="292608" cy="292608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650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248656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角色隔离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522976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PM / DEV / TEST / ADMIN 四角色分权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1162" y="1572768"/>
            <a:ext cx="3649370" cy="488289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1162" y="1572768"/>
            <a:ext cx="3649370" cy="73152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5754" y="1755648"/>
            <a:ext cx="332018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82830"/>
                </a:solidFill>
                <a:latin typeface="黑体"/>
              </a:rPr>
              <a:t>任务协同看板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5754" y="2121408"/>
            <a:ext cx="332018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726858"/>
                </a:solidFill>
                <a:latin typeface="微软雅黑"/>
              </a:rPr>
              <a:t>Kanban + Redis 缓存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5754" y="2377440"/>
            <a:ext cx="3320186" cy="36576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35754" y="2560320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18634" y="3017520"/>
            <a:ext cx="292608" cy="292608"/>
          </a:xfrm>
          <a:prstGeom prst="ellipse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18634" y="301752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4394" y="2615184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任务全生命周期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4394" y="2889504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CRUD + 状态变更 + 分配与优先级管控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5754" y="3877056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18634" y="4334256"/>
            <a:ext cx="292608" cy="292608"/>
          </a:xfrm>
          <a:prstGeom prst="ellipse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18634" y="4334256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4394" y="3931920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Kanban 看板视图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4394" y="4206240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按状态分列展示 + 拖拽式交互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35754" y="5193792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18634" y="5650992"/>
            <a:ext cx="292608" cy="292608"/>
          </a:xfrm>
          <a:prstGeom prst="ellipse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18634" y="5650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4394" y="5248656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Redis 缓存策略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4394" y="5522976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5min TTL + 状态变更主动失效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39988" y="1572768"/>
            <a:ext cx="3649370" cy="488289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39988" y="1572768"/>
            <a:ext cx="3649370" cy="73152"/>
          </a:xfrm>
          <a:prstGeom prst="rect">
            <a:avLst/>
          </a:prstGeom>
          <a:solidFill>
            <a:srgbClr val="8A6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4580" y="1755648"/>
            <a:ext cx="332018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282830"/>
                </a:solidFill>
                <a:latin typeface="黑体"/>
              </a:rPr>
              <a:t>报表与审计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4580" y="2121408"/>
            <a:ext cx="3320186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726858"/>
                </a:solidFill>
                <a:latin typeface="微软雅黑"/>
              </a:rPr>
              <a:t>ECharts + RabbitMQ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04580" y="2377440"/>
            <a:ext cx="3320186" cy="36576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304580" y="2560320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487460" y="3017520"/>
            <a:ext cx="292608" cy="292608"/>
          </a:xfrm>
          <a:prstGeom prst="ellipse">
            <a:avLst/>
          </a:prstGeom>
          <a:solidFill>
            <a:srgbClr val="8A6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87460" y="3017520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53220" y="2615184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仪表板可视化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53220" y="2889504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进度环形图 + 任务分布柱形图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04580" y="3877056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487460" y="4334256"/>
            <a:ext cx="292608" cy="292608"/>
          </a:xfrm>
          <a:prstGeom prst="ellipse">
            <a:avLst/>
          </a:prstGeom>
          <a:solidFill>
            <a:srgbClr val="8A6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87460" y="4334256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53220" y="3931920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甘特图时间轴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53220" y="4206240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任务起止时间 + 状态颜色标注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04580" y="5193792"/>
            <a:ext cx="3320186" cy="1225296"/>
          </a:xfrm>
          <a:prstGeom prst="roundRect">
            <a:avLst>
              <a:gd name="adj" fmla="val 5000"/>
            </a:avLst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487460" y="5650992"/>
            <a:ext cx="292608" cy="292608"/>
          </a:xfrm>
          <a:prstGeom prst="ellipse">
            <a:avLst/>
          </a:prstGeom>
          <a:solidFill>
            <a:srgbClr val="8A6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87460" y="565099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53220" y="5248656"/>
            <a:ext cx="268925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282830"/>
                </a:solidFill>
                <a:latin typeface="黑体"/>
              </a:rPr>
              <a:t>审计 &amp; 通知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53220" y="5522976"/>
            <a:ext cx="268925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MQ 事件 → 操作留痕 + 邮件通知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89080"/>
                </a:solidFill>
                <a:latin typeface="黑体"/>
              </a:rPr>
              <a:t>PART 05  ·  数据库设计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AF0DC"/>
                </a:solidFill>
                <a:latin typeface="黑体"/>
              </a:rPr>
              <a:t>6 库隔离架构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261872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89080"/>
                </a:solidFill>
                <a:latin typeface="微软雅黑"/>
              </a:rPr>
              <a:t>按微服务划分独立数据库 · 职责单一 · 物理隔离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591056"/>
            <a:ext cx="382817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核心设计原则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920240"/>
            <a:ext cx="38281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ECE4D2"/>
                </a:solidFill>
                <a:latin typeface="微软雅黑"/>
              </a:rPr>
              <a:t>每个服务拥有独立数据库，禁止跨库直接查询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ECE4D2"/>
                </a:solidFill>
                <a:latin typeface="微软雅黑"/>
              </a:rPr>
              <a:t>跨服务数据共享通过 API / MQ 事件同步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ECE4D2"/>
                </a:solidFill>
                <a:latin typeface="微软雅黑"/>
              </a:rPr>
              <a:t>核心字段建立复合索引，支撑高频查询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4956048"/>
            <a:ext cx="382817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07800"/>
                </a:solidFill>
                <a:latin typeface="黑体"/>
              </a:rPr>
              <a:t>关键技术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5285232"/>
            <a:ext cx="38281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ECE4D2"/>
                </a:solidFill>
                <a:latin typeface="微软雅黑"/>
              </a:rPr>
              <a:t>MyBatis-Plus + 雪花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" y="5614416"/>
            <a:ext cx="38281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ECE4D2"/>
                </a:solidFill>
                <a:latin typeface="微软雅黑"/>
              </a:rPr>
              <a:t>逻辑删除 + 乐观锁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" y="5943600"/>
            <a:ext cx="38281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ECE4D2"/>
                </a:solidFill>
                <a:latin typeface="微软雅黑"/>
              </a:rPr>
              <a:t>MySQL 8.0  InnoDB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88876" y="1536192"/>
            <a:ext cx="3367945" cy="15300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88876" y="1536192"/>
            <a:ext cx="3367945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5180" y="1682496"/>
            <a:ext cx="307533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auth_db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5180" y="2011680"/>
            <a:ext cx="3075337" cy="890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用户 · 角色 · 权限 · 会话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21413" y="1536192"/>
            <a:ext cx="3367945" cy="15300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21413" y="1536192"/>
            <a:ext cx="3367945" cy="54864"/>
          </a:xfrm>
          <a:prstGeom prst="rect">
            <a:avLst/>
          </a:prstGeom>
          <a:solidFill>
            <a:srgbClr val="C86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717" y="1682496"/>
            <a:ext cx="307533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task_db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717" y="2011680"/>
            <a:ext cx="3075337" cy="890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项目 · 需求 · 任务 · 缺陷 · 评论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88876" y="3230880"/>
            <a:ext cx="3367945" cy="15300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88876" y="3230880"/>
            <a:ext cx="3367945" cy="54864"/>
          </a:xfrm>
          <a:prstGeom prst="rect">
            <a:avLst/>
          </a:prstGeom>
          <a:solidFill>
            <a:srgbClr val="9E7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5180" y="3377184"/>
            <a:ext cx="307533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workflow_db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5180" y="3706368"/>
            <a:ext cx="3075337" cy="890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流程定义 · 转移规则 · 闭环链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21413" y="3230880"/>
            <a:ext cx="3367945" cy="15300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21413" y="3230880"/>
            <a:ext cx="3367945" cy="54864"/>
          </a:xfrm>
          <a:prstGeom prst="rect">
            <a:avLst/>
          </a:prstGeom>
          <a:solidFill>
            <a:srgbClr val="7A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67717" y="3377184"/>
            <a:ext cx="307533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report_db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67717" y="3706368"/>
            <a:ext cx="3075337" cy="890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进度快照 · 工作量 · 甘特图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88876" y="4925568"/>
            <a:ext cx="3367945" cy="15300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88876" y="4925568"/>
            <a:ext cx="3367945" cy="54864"/>
          </a:xfrm>
          <a:prstGeom prst="rect">
            <a:avLst/>
          </a:prstGeom>
          <a:solidFill>
            <a:srgbClr val="645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5180" y="5071872"/>
            <a:ext cx="307533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notification_db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5180" y="5401056"/>
            <a:ext cx="3075337" cy="890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通知记录 · 模板 · 设置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21413" y="4925568"/>
            <a:ext cx="3367945" cy="1530096"/>
          </a:xfrm>
          <a:prstGeom prst="roundRect">
            <a:avLst>
              <a:gd name="adj" fmla="val 5000"/>
            </a:avLst>
          </a:prstGeom>
          <a:solidFill>
            <a:srgbClr val="383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21413" y="4925568"/>
            <a:ext cx="3367945" cy="54864"/>
          </a:xfrm>
          <a:prstGeom prst="rect">
            <a:avLst/>
          </a:prstGeom>
          <a:solidFill>
            <a:srgbClr val="524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7717" y="5071872"/>
            <a:ext cx="307533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07800"/>
                </a:solidFill>
                <a:latin typeface="黑体"/>
              </a:rPr>
              <a:t>audit_db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717" y="5401056"/>
            <a:ext cx="3075337" cy="8900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89080"/>
                </a:solidFill>
                <a:latin typeface="微软雅黑"/>
              </a:rPr>
              <a:t>操作日志 · 数据变更 · 配置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726858"/>
                </a:solidFill>
                <a:latin typeface="黑体"/>
              </a:rPr>
              <a:t>PART 06 (1/2)  ·  系统测试与优化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282830"/>
                </a:solidFill>
                <a:latin typeface="黑体"/>
              </a:rPr>
              <a:t>功能验证与量化优化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1261872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726858"/>
                </a:solidFill>
                <a:latin typeface="微软雅黑"/>
              </a:rPr>
              <a:t>完整模块覆盖 · 针对性优化 · 风险管控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1536192"/>
            <a:ext cx="3657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功能覆盖矩阵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1828800"/>
            <a:ext cx="5291175" cy="36576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2336" y="1938528"/>
            <a:ext cx="5291175" cy="78638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2167128"/>
            <a:ext cx="329184" cy="329184"/>
          </a:xfrm>
          <a:prstGeom prst="ellipse">
            <a:avLst/>
          </a:prstGeom>
          <a:solidFill>
            <a:srgbClr val="68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2212848"/>
            <a:ext cx="32918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029968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认证模块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2340864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登录 · Token 校验 · 过期处理 · 角色权限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2336" y="2852928"/>
            <a:ext cx="5291175" cy="78638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" y="3081528"/>
            <a:ext cx="329184" cy="329184"/>
          </a:xfrm>
          <a:prstGeom prst="ellipse">
            <a:avLst/>
          </a:prstGeom>
          <a:solidFill>
            <a:srgbClr val="68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127248"/>
            <a:ext cx="32918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944368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任务服务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3255264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CRUD · 分配 · 状态更新 · 看板查询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" y="3767328"/>
            <a:ext cx="5291175" cy="78638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1792" y="3995928"/>
            <a:ext cx="329184" cy="329184"/>
          </a:xfrm>
          <a:prstGeom prst="ellipse">
            <a:avLst/>
          </a:prstGeom>
          <a:solidFill>
            <a:srgbClr val="68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4041648"/>
            <a:ext cx="32918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3858768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工作流引擎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" y="4169664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流转 · 驳回 · 阻塞恢复 · 闭环链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" y="4681728"/>
            <a:ext cx="5291175" cy="78638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1792" y="4910328"/>
            <a:ext cx="329184" cy="329184"/>
          </a:xfrm>
          <a:prstGeom prst="ellipse">
            <a:avLst/>
          </a:prstGeom>
          <a:solidFill>
            <a:srgbClr val="68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956048"/>
            <a:ext cx="32918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773168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报表模块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" y="5084064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图表展示 · 统计汇总 · 甘特图时间轴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6" y="5596128"/>
            <a:ext cx="5291175" cy="786384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21792" y="5824728"/>
            <a:ext cx="329184" cy="329184"/>
          </a:xfrm>
          <a:prstGeom prst="ellipse">
            <a:avLst/>
          </a:prstGeom>
          <a:solidFill>
            <a:srgbClr val="689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5870448"/>
            <a:ext cx="32918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AF0DC"/>
                </a:solidFill>
                <a:latin typeface="黑体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" y="5687568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通知 / 审计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" y="5998464"/>
            <a:ext cx="487055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726858"/>
                </a:solidFill>
                <a:latin typeface="微软雅黑"/>
              </a:rPr>
              <a:t>MQ 消费 · 通知发送 · 操作留痕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1536192"/>
            <a:ext cx="5419191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282830"/>
                </a:solidFill>
                <a:latin typeface="黑体"/>
              </a:rPr>
              <a:t>各模块优化成效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0167" y="1828800"/>
            <a:ext cx="5419191" cy="36576"/>
          </a:xfrm>
          <a:prstGeom prst="rect">
            <a:avLst/>
          </a:prstGeom>
          <a:solidFill>
            <a:srgbClr val="D8C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0167" y="2029968"/>
            <a:ext cx="287698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82830"/>
                </a:solidFill>
                <a:latin typeface="微软雅黑"/>
              </a:rPr>
              <a:t>Redis 看板缓存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47153" y="2029968"/>
            <a:ext cx="245076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07800"/>
                </a:solidFill>
                <a:latin typeface="微软雅黑"/>
              </a:rPr>
              <a:t>性能提升 60%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70167" y="2359152"/>
            <a:ext cx="5327751" cy="21945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370167" y="2359152"/>
            <a:ext cx="3729426" cy="219456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7" y="2944368"/>
            <a:ext cx="287698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82830"/>
                </a:solidFill>
                <a:latin typeface="微软雅黑"/>
              </a:rPr>
              <a:t>MQ 异步解耦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47153" y="2944368"/>
            <a:ext cx="245076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07800"/>
                </a:solidFill>
                <a:latin typeface="微软雅黑"/>
              </a:rPr>
              <a:t>主链路降压 40%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70167" y="3273552"/>
            <a:ext cx="5327751" cy="21945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0167" y="3273552"/>
            <a:ext cx="2983540" cy="219456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0167" y="3858768"/>
            <a:ext cx="287698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82830"/>
                </a:solidFill>
                <a:latin typeface="微软雅黑"/>
              </a:rPr>
              <a:t>状态精确恢复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7153" y="3858768"/>
            <a:ext cx="245076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07800"/>
                </a:solidFill>
                <a:latin typeface="微软雅黑"/>
              </a:rPr>
              <a:t>误操作降为 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70167" y="4187952"/>
            <a:ext cx="5327751" cy="21945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70167" y="4187952"/>
            <a:ext cx="4901531" cy="219456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70167" y="4773168"/>
            <a:ext cx="287698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82830"/>
                </a:solidFill>
                <a:latin typeface="微软雅黑"/>
              </a:rPr>
              <a:t>审计覆盖率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7153" y="4773168"/>
            <a:ext cx="245076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07800"/>
                </a:solidFill>
                <a:latin typeface="微软雅黑"/>
              </a:rPr>
              <a:t>100% 覆盖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67" y="5102352"/>
            <a:ext cx="5327751" cy="21945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370167" y="5102352"/>
            <a:ext cx="5327751" cy="219456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5687568"/>
            <a:ext cx="287698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82830"/>
                </a:solidFill>
                <a:latin typeface="微软雅黑"/>
              </a:rPr>
              <a:t>角色权限隔离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47153" y="5687568"/>
            <a:ext cx="2450765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1">
                <a:solidFill>
                  <a:srgbClr val="F07800"/>
                </a:solidFill>
                <a:latin typeface="微软雅黑"/>
              </a:rPr>
              <a:t>越权访问 0 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7" y="6016752"/>
            <a:ext cx="5327751" cy="219456"/>
          </a:xfrm>
          <a:prstGeom prst="roundRect">
            <a:avLst>
              <a:gd name="adj" fmla="val 5000"/>
            </a:avLst>
          </a:prstGeom>
          <a:solidFill>
            <a:srgbClr val="ED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70167" y="6016752"/>
            <a:ext cx="5114641" cy="219456"/>
          </a:xfrm>
          <a:prstGeom prst="roundRect">
            <a:avLst>
              <a:gd name="adj" fmla="val 5000"/>
            </a:avLst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118543" y="0"/>
            <a:ext cx="73152" cy="685800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2336" y="402336"/>
            <a:ext cx="5486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89080"/>
                </a:solidFill>
                <a:latin typeface="黑体"/>
              </a:rPr>
              <a:t>PART 06 (2/2)  ·  项目总结与展望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40080"/>
            <a:ext cx="8229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AF0DC"/>
                </a:solidFill>
                <a:latin typeface="黑体"/>
              </a:rPr>
              <a:t>核心成果与未来规划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152144"/>
            <a:ext cx="1280160" cy="457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1261872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89080"/>
                </a:solidFill>
                <a:latin typeface="微软雅黑"/>
              </a:rPr>
              <a:t>量化收益 · 技术沉淀 · 持续迭代</a:t>
            </a:r>
          </a:p>
        </p:txBody>
      </p:sp>
      <p:sp>
        <p:nvSpPr>
          <p:cNvPr id="9" name="Oval 8"/>
          <p:cNvSpPr/>
          <p:nvPr/>
        </p:nvSpPr>
        <p:spPr>
          <a:xfrm>
            <a:off x="2474823" y="2084832"/>
            <a:ext cx="1316736" cy="1316736"/>
          </a:xfrm>
          <a:prstGeom prst="ellipse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4823" y="2084832"/>
            <a:ext cx="1316736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2A2A32"/>
                </a:solidFill>
                <a:latin typeface="黑体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1591" y="3529584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AF0DC"/>
                </a:solidFill>
                <a:latin typeface="黑体"/>
              </a:rPr>
              <a:t>状态机驱动闭环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1591" y="385876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8 主状态 + 4 异常流
previous_state 精确恢复 · 闭环验证链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64711" y="2715768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37479" y="2084832"/>
            <a:ext cx="1316736" cy="1316736"/>
          </a:xfrm>
          <a:prstGeom prst="ellipse">
            <a:avLst/>
          </a:prstGeom>
          <a:solidFill>
            <a:srgbClr val="383842"/>
          </a:solidFill>
          <a:ln w="19050">
            <a:solidFill>
              <a:srgbClr val="F0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37479" y="2084832"/>
            <a:ext cx="1316736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4247" y="3529584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AF0DC"/>
                </a:solidFill>
                <a:latin typeface="黑体"/>
              </a:rPr>
              <a:t>微服务分域部署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385876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7 服务 + 6 独立数据库
高内聚低耦合 · 按域独立伸缩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27367" y="2715768"/>
            <a:ext cx="182880" cy="54864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00135" y="2084832"/>
            <a:ext cx="1316736" cy="1316736"/>
          </a:xfrm>
          <a:prstGeom prst="ellipse">
            <a:avLst/>
          </a:prstGeom>
          <a:solidFill>
            <a:srgbClr val="383842"/>
          </a:solidFill>
          <a:ln w="19050">
            <a:solidFill>
              <a:srgbClr val="F0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00135" y="2084832"/>
            <a:ext cx="1316736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6903" y="3529584"/>
            <a:ext cx="2743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AF0DC"/>
                </a:solidFill>
                <a:latin typeface="黑体"/>
              </a:rPr>
              <a:t>异步解耦提效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6903" y="385876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Redis 缓存 + RabbitMQ 事件总线
通知 · 审计 · 报表从主链路剥离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5285232"/>
            <a:ext cx="11387023" cy="36576"/>
          </a:xfrm>
          <a:prstGeom prst="rect">
            <a:avLst/>
          </a:prstGeom>
          <a:solidFill>
            <a:srgbClr val="4A4A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" y="5376672"/>
            <a:ext cx="227740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" y="5888736"/>
            <a:ext cx="2277404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Java 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9740" y="5376672"/>
            <a:ext cx="227740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9740" y="5888736"/>
            <a:ext cx="2277404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Vue/JS 组件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7145" y="5376672"/>
            <a:ext cx="227740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7145" y="5888736"/>
            <a:ext cx="2277404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SQL 文件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4549" y="5376672"/>
            <a:ext cx="227740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5min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4549" y="5888736"/>
            <a:ext cx="2277404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Redis TTL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11954" y="5376672"/>
            <a:ext cx="2277404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07800"/>
                </a:solidFill>
                <a:latin typeface="黑体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11954" y="5888736"/>
            <a:ext cx="2277404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989080"/>
                </a:solidFill>
                <a:latin typeface="微软雅黑"/>
              </a:rPr>
              <a:t>角色类型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1136" y="4443984"/>
            <a:ext cx="7729423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FAF0DC"/>
                </a:solidFill>
                <a:latin typeface="黑体"/>
              </a:rPr>
              <a:t>感谢各位老师批评指正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solidFill>
            <a:srgbClr val="F0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06479" y="6473952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2A2A32"/>
                </a:solidFill>
                <a:latin typeface="黑体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