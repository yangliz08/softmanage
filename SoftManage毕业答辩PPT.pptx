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533327" y="0"/>
            <a:ext cx="658368" cy="6858000"/>
          </a:xfrm>
          <a:prstGeom prst="rect">
            <a:avLst/>
          </a:prstGeom>
          <a:solidFill>
            <a:srgbClr val="818E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533327" y="502920"/>
            <a:ext cx="146304" cy="1325880"/>
          </a:xfrm>
          <a:prstGeom prst="rect">
            <a:avLst/>
          </a:prstGeom>
          <a:solidFill>
            <a:srgbClr val="9B97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347472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567483"/>
                </a:solidFill>
                <a:latin typeface="Montserrat"/>
              </a:rPr>
              <a:t>GRADUATION DEFENSE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493776"/>
            <a:ext cx="1097280" cy="0"/>
          </a:xfrm>
          <a:prstGeom prst="line">
            <a:avLst/>
          </a:prstGeom>
          <a:ln w="15240">
            <a:solidFill>
              <a:srgbClr val="6A8F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384048" y="566928"/>
            <a:ext cx="621792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213642"/>
                </a:solidFill>
                <a:latin typeface="Montserrat"/>
              </a:rPr>
              <a:t>SoftManage 软件项目管理系统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1097280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788991"/>
                </a:solidFill>
                <a:latin typeface="Montserrat"/>
              </a:rPr>
              <a:t>面向软件研发全生命周期的微服务协同平台</a:t>
            </a:r>
          </a:p>
        </p:txBody>
      </p:sp>
      <p:sp>
        <p:nvSpPr>
          <p:cNvPr id="9" name="Oval 8"/>
          <p:cNvSpPr/>
          <p:nvPr/>
        </p:nvSpPr>
        <p:spPr>
          <a:xfrm>
            <a:off x="384048" y="868680"/>
            <a:ext cx="1298448" cy="129844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5674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57200" y="941832"/>
            <a:ext cx="1152144" cy="1152144"/>
          </a:xfrm>
          <a:prstGeom prst="ellipse">
            <a:avLst/>
          </a:prstGeom>
          <a:solidFill>
            <a:srgbClr val="F4F7F8"/>
          </a:solidFill>
          <a:ln w="15240">
            <a:solidFill>
              <a:srgbClr val="6A8F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9496" y="1124712"/>
            <a:ext cx="987552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750" b="1">
                <a:solidFill>
                  <a:srgbClr val="567483"/>
                </a:solidFill>
                <a:latin typeface="Montserrat"/>
              </a:rPr>
              <a:t>SOUTHWEST UNIVERSITY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344168"/>
            <a:ext cx="969264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213642"/>
                </a:solidFill>
                <a:latin typeface="Montserrat"/>
              </a:rPr>
              <a:t>西南大学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764792"/>
            <a:ext cx="969264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9B978D"/>
                </a:solidFill>
                <a:latin typeface="Montserrat"/>
              </a:rPr>
              <a:t>1906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38528" y="1078992"/>
            <a:ext cx="5852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100" b="1">
                <a:solidFill>
                  <a:srgbClr val="213642"/>
                </a:solidFill>
                <a:latin typeface="Montserrat"/>
              </a:rPr>
              <a:t>毕业设计答辩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56816" y="1755648"/>
            <a:ext cx="5394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788991"/>
                </a:solidFill>
                <a:latin typeface="Montserrat"/>
              </a:rPr>
              <a:t>Spring Boot 3 · Vue 3 · Gateway · Redis · RabbitMQ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956816" y="2157984"/>
            <a:ext cx="932688" cy="310896"/>
          </a:xfrm>
          <a:prstGeom prst="roundRect">
            <a:avLst>
              <a:gd name="adj" fmla="val 8000"/>
            </a:avLst>
          </a:prstGeom>
          <a:solidFill>
            <a:srgbClr val="E8E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29968" y="2203704"/>
            <a:ext cx="786384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567483"/>
                </a:solidFill>
                <a:latin typeface="Montserrat"/>
              </a:rPr>
              <a:t>项目概述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008376" y="2157984"/>
            <a:ext cx="1225296" cy="310896"/>
          </a:xfrm>
          <a:prstGeom prst="roundRect">
            <a:avLst>
              <a:gd name="adj" fmla="val 8000"/>
            </a:avLst>
          </a:prstGeom>
          <a:solidFill>
            <a:srgbClr val="E8E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81528" y="2203704"/>
            <a:ext cx="107899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567483"/>
                </a:solidFill>
                <a:latin typeface="Montserrat"/>
              </a:rPr>
              <a:t>系统架构设计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059936" y="2157984"/>
            <a:ext cx="1225296" cy="310896"/>
          </a:xfrm>
          <a:prstGeom prst="roundRect">
            <a:avLst>
              <a:gd name="adj" fmla="val 8000"/>
            </a:avLst>
          </a:prstGeom>
          <a:solidFill>
            <a:srgbClr val="E8E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33088" y="2203704"/>
            <a:ext cx="107899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567483"/>
                </a:solidFill>
                <a:latin typeface="Montserrat"/>
              </a:rPr>
              <a:t>核心功能实现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956816" y="2542032"/>
            <a:ext cx="1225296" cy="310896"/>
          </a:xfrm>
          <a:prstGeom prst="roundRect">
            <a:avLst>
              <a:gd name="adj" fmla="val 8000"/>
            </a:avLst>
          </a:prstGeom>
          <a:solidFill>
            <a:srgbClr val="E8E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029968" y="2587752"/>
            <a:ext cx="107899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567483"/>
                </a:solidFill>
                <a:latin typeface="Montserrat"/>
              </a:rPr>
              <a:t>系统测试与优化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008376" y="2542032"/>
            <a:ext cx="1225296" cy="310896"/>
          </a:xfrm>
          <a:prstGeom prst="roundRect">
            <a:avLst>
              <a:gd name="adj" fmla="val 8000"/>
            </a:avLst>
          </a:prstGeom>
          <a:solidFill>
            <a:srgbClr val="E8E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081528" y="2587752"/>
            <a:ext cx="107899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567483"/>
                </a:solidFill>
                <a:latin typeface="Montserrat"/>
              </a:rPr>
              <a:t>项目总结与展望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4048" y="5897880"/>
            <a:ext cx="438912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788991"/>
                </a:solidFill>
                <a:latin typeface="Montserrat"/>
              </a:rPr>
              <a:t>答辩人：杨丽姿    指导方向：软件项目管理 / 微服务架构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836408" y="914400"/>
            <a:ext cx="3611880" cy="4526280"/>
          </a:xfrm>
          <a:prstGeom prst="roundRect">
            <a:avLst>
              <a:gd name="adj" fmla="val 8000"/>
            </a:avLst>
          </a:prstGeom>
          <a:solidFill>
            <a:srgbClr val="DEE8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37576" y="1115568"/>
            <a:ext cx="132588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C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518904" y="1115568"/>
            <a:ext cx="1728216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C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037576" y="2240280"/>
            <a:ext cx="2084831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C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0305288" y="2240280"/>
            <a:ext cx="941832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C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037576" y="3246120"/>
            <a:ext cx="320040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C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0456" y="1298448"/>
            <a:ext cx="914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213642"/>
                </a:solidFill>
                <a:latin typeface="Montserrat"/>
              </a:rPr>
              <a:t>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0456" y="1627632"/>
            <a:ext cx="10058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88991"/>
                </a:solidFill>
                <a:latin typeface="Montserrat"/>
              </a:rPr>
              <a:t>微服务模块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10927" y="1298448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213642"/>
                </a:solidFill>
                <a:latin typeface="Montserrat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10927" y="1627632"/>
            <a:ext cx="11887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88991"/>
                </a:solidFill>
                <a:latin typeface="Montserrat"/>
              </a:rPr>
              <a:t>独立数据库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0456" y="2423160"/>
            <a:ext cx="14630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567483"/>
                </a:solidFill>
                <a:latin typeface="Montserrat"/>
              </a:rPr>
              <a:t>四角色协同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0456" y="2706624"/>
            <a:ext cx="1645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788991"/>
                </a:solidFill>
                <a:latin typeface="Montserrat"/>
              </a:rPr>
              <a:t>PM / DEV / TEST / ADMIN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69880" y="2468880"/>
            <a:ext cx="6400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567483"/>
                </a:solidFill>
                <a:latin typeface="Montserrat"/>
              </a:rPr>
              <a:t>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15016" y="2724912"/>
            <a:ext cx="74980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50" b="0">
                <a:solidFill>
                  <a:srgbClr val="788991"/>
                </a:solidFill>
                <a:latin typeface="Montserrat"/>
              </a:rPr>
              <a:t>工作流状态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0456" y="3502152"/>
            <a:ext cx="219456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13642"/>
                </a:solidFill>
                <a:latin typeface="Montserrat"/>
              </a:rPr>
              <a:t>设计关键词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220456" y="3822191"/>
            <a:ext cx="1353312" cy="310896"/>
          </a:xfrm>
          <a:prstGeom prst="roundRect">
            <a:avLst>
              <a:gd name="adj" fmla="val 8000"/>
            </a:avLst>
          </a:prstGeom>
          <a:solidFill>
            <a:srgbClr val="E8E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93608" y="3867911"/>
            <a:ext cx="120700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567483"/>
                </a:solidFill>
                <a:latin typeface="Montserrat"/>
              </a:rPr>
              <a:t>状态机驱动流转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729216" y="3822191"/>
            <a:ext cx="1353312" cy="310896"/>
          </a:xfrm>
          <a:prstGeom prst="roundRect">
            <a:avLst>
              <a:gd name="adj" fmla="val 8000"/>
            </a:avLst>
          </a:prstGeom>
          <a:solidFill>
            <a:srgbClr val="E8E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802368" y="3867911"/>
            <a:ext cx="120700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567483"/>
                </a:solidFill>
                <a:latin typeface="Montserrat"/>
              </a:rPr>
              <a:t>Redis 看板缓存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220456" y="4334255"/>
            <a:ext cx="1353312" cy="310896"/>
          </a:xfrm>
          <a:prstGeom prst="roundRect">
            <a:avLst>
              <a:gd name="adj" fmla="val 8000"/>
            </a:avLst>
          </a:prstGeom>
          <a:solidFill>
            <a:srgbClr val="E8E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293608" y="4379975"/>
            <a:ext cx="120700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567483"/>
                </a:solidFill>
                <a:latin typeface="Montserrat"/>
              </a:rPr>
              <a:t>RabbitMQ 异步通知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729216" y="4334255"/>
            <a:ext cx="1353312" cy="310896"/>
          </a:xfrm>
          <a:prstGeom prst="roundRect">
            <a:avLst>
              <a:gd name="adj" fmla="val 8000"/>
            </a:avLst>
          </a:prstGeom>
          <a:solidFill>
            <a:srgbClr val="E8E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802368" y="4379975"/>
            <a:ext cx="120700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567483"/>
                </a:solidFill>
                <a:latin typeface="Montserrat"/>
              </a:rPr>
              <a:t>JWT 网关鉴权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220456" y="4846319"/>
            <a:ext cx="1353312" cy="310896"/>
          </a:xfrm>
          <a:prstGeom prst="roundRect">
            <a:avLst>
              <a:gd name="adj" fmla="val 8000"/>
            </a:avLst>
          </a:prstGeom>
          <a:solidFill>
            <a:srgbClr val="E8E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293608" y="4892039"/>
            <a:ext cx="120700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567483"/>
                </a:solidFill>
                <a:latin typeface="Montserrat"/>
              </a:rPr>
              <a:t>闭环验证链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729216" y="4846319"/>
            <a:ext cx="1353312" cy="310896"/>
          </a:xfrm>
          <a:prstGeom prst="roundRect">
            <a:avLst>
              <a:gd name="adj" fmla="val 8000"/>
            </a:avLst>
          </a:prstGeom>
          <a:solidFill>
            <a:srgbClr val="E8E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802368" y="4892039"/>
            <a:ext cx="120700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567483"/>
                </a:solidFill>
                <a:latin typeface="Montserrat"/>
              </a:rPr>
              <a:t>可视化报表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679631" y="6327648"/>
            <a:ext cx="34747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533327" y="0"/>
            <a:ext cx="658368" cy="6858000"/>
          </a:xfrm>
          <a:prstGeom prst="rect">
            <a:avLst/>
          </a:prstGeom>
          <a:solidFill>
            <a:srgbClr val="818E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533327" y="502920"/>
            <a:ext cx="146304" cy="1325880"/>
          </a:xfrm>
          <a:prstGeom prst="rect">
            <a:avLst/>
          </a:prstGeom>
          <a:solidFill>
            <a:srgbClr val="9B97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347472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567483"/>
                </a:solidFill>
                <a:latin typeface="Montserrat"/>
              </a:rPr>
              <a:t>CONTENTS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493776"/>
            <a:ext cx="1097280" cy="0"/>
          </a:xfrm>
          <a:prstGeom prst="line">
            <a:avLst/>
          </a:prstGeom>
          <a:ln w="15240">
            <a:solidFill>
              <a:srgbClr val="6A8F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384048" y="566928"/>
            <a:ext cx="621792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213642"/>
                </a:solidFill>
                <a:latin typeface="Montserrat"/>
              </a:rPr>
              <a:t>答辩目录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1097280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788991"/>
                </a:solidFill>
                <a:latin typeface="Montserrat"/>
              </a:rPr>
              <a:t>围绕“问题—架构—实现—验证—展望”形成完整叙事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4048" y="1417320"/>
            <a:ext cx="3154680" cy="16276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C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4" y="1581912"/>
            <a:ext cx="6400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567483"/>
                </a:solidFill>
                <a:latin typeface="Montserrat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16736" y="1636776"/>
            <a:ext cx="1920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213642"/>
                </a:solidFill>
                <a:latin typeface="Montserrat"/>
              </a:rPr>
              <a:t>项目概述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16736" y="2057400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788991"/>
                </a:solidFill>
                <a:latin typeface="Montserrat"/>
              </a:rPr>
              <a:t>业务背景 · 建设目标 · 价值定位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041648" y="1417320"/>
            <a:ext cx="3154680" cy="16276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C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61104" y="1581912"/>
            <a:ext cx="6400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567483"/>
                </a:solidFill>
                <a:latin typeface="Montserrat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74336" y="1636776"/>
            <a:ext cx="1920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213642"/>
                </a:solidFill>
                <a:latin typeface="Montserrat"/>
              </a:rPr>
              <a:t>系统架构设计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74336" y="2057400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788991"/>
                </a:solidFill>
                <a:latin typeface="Montserrat"/>
              </a:rPr>
              <a:t>总体分层 · 服务拓扑 · 数据隔离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9248" y="1417320"/>
            <a:ext cx="3154680" cy="16276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C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18704" y="1581912"/>
            <a:ext cx="6400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567483"/>
                </a:solidFill>
                <a:latin typeface="Montserrat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31936" y="1636776"/>
            <a:ext cx="1920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213642"/>
                </a:solidFill>
                <a:latin typeface="Montserrat"/>
              </a:rPr>
              <a:t>核心功能实现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31936" y="2057400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788991"/>
                </a:solidFill>
                <a:latin typeface="Montserrat"/>
              </a:rPr>
              <a:t>状态机 · 认证鉴权 · 看板报表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212848" y="3730752"/>
            <a:ext cx="3154680" cy="16276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C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432304" y="3895344"/>
            <a:ext cx="6400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567483"/>
                </a:solidFill>
                <a:latin typeface="Montserrat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45536" y="3950208"/>
            <a:ext cx="1920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213642"/>
                </a:solidFill>
                <a:latin typeface="Montserrat"/>
              </a:rPr>
              <a:t>系统测试与优化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45536" y="437083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788991"/>
                </a:solidFill>
                <a:latin typeface="Montserrat"/>
              </a:rPr>
              <a:t>功能验证 · 性能优化 · 风险处理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870448" y="3730752"/>
            <a:ext cx="3154680" cy="16276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C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89904" y="3895344"/>
            <a:ext cx="6400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567483"/>
                </a:solidFill>
                <a:latin typeface="Montserrat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03136" y="3950208"/>
            <a:ext cx="1920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213642"/>
                </a:solidFill>
                <a:latin typeface="Montserrat"/>
              </a:rPr>
              <a:t>项目总结与展望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03136" y="437083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788991"/>
                </a:solidFill>
                <a:latin typeface="Montserrat"/>
              </a:rPr>
              <a:t>成果沉淀 · 不足反思 · 迭代方向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679631" y="6327648"/>
            <a:ext cx="34747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533327" y="0"/>
            <a:ext cx="658368" cy="6858000"/>
          </a:xfrm>
          <a:prstGeom prst="rect">
            <a:avLst/>
          </a:prstGeom>
          <a:solidFill>
            <a:srgbClr val="818E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533327" y="502920"/>
            <a:ext cx="146304" cy="1325880"/>
          </a:xfrm>
          <a:prstGeom prst="rect">
            <a:avLst/>
          </a:prstGeom>
          <a:solidFill>
            <a:srgbClr val="9B97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347472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567483"/>
                </a:solidFill>
                <a:latin typeface="Montserrat"/>
              </a:rPr>
              <a:t>PART 01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493776"/>
            <a:ext cx="1097280" cy="0"/>
          </a:xfrm>
          <a:prstGeom prst="line">
            <a:avLst/>
          </a:prstGeom>
          <a:ln w="15240">
            <a:solidFill>
              <a:srgbClr val="6A8F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384048" y="566928"/>
            <a:ext cx="621792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213642"/>
                </a:solidFill>
                <a:latin typeface="Montserrat"/>
              </a:rPr>
              <a:t>项目概述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1097280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788991"/>
                </a:solidFill>
                <a:latin typeface="Montserrat"/>
              </a:rPr>
              <a:t>从行业痛点出发，构建覆盖需求—开发—测试—发布的统一管理平台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4048" y="1325880"/>
            <a:ext cx="3886200" cy="4663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C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0080" y="1691640"/>
            <a:ext cx="475488" cy="475488"/>
          </a:xfrm>
          <a:prstGeom prst="ellipse">
            <a:avLst/>
          </a:prstGeom>
          <a:solidFill>
            <a:srgbClr val="5674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801368"/>
            <a:ext cx="4754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ontserrat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8448" y="1709928"/>
            <a:ext cx="23774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13642"/>
                </a:solidFill>
                <a:latin typeface="Montserrat"/>
              </a:rPr>
              <a:t>背景痛点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8448" y="2002536"/>
            <a:ext cx="2697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19" b="0">
                <a:solidFill>
                  <a:srgbClr val="788991"/>
                </a:solidFill>
                <a:latin typeface="Montserrat"/>
              </a:rPr>
              <a:t>任务状态分散、角色协同割裂、异常流程难追踪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77824" y="2167128"/>
            <a:ext cx="0" cy="804672"/>
          </a:xfrm>
          <a:prstGeom prst="line">
            <a:avLst/>
          </a:prstGeom>
          <a:ln w="19050">
            <a:solidFill>
              <a:srgbClr val="6A8F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640080" y="3108960"/>
            <a:ext cx="475488" cy="475488"/>
          </a:xfrm>
          <a:prstGeom prst="ellipse">
            <a:avLst/>
          </a:prstGeom>
          <a:solidFill>
            <a:srgbClr val="5674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218688"/>
            <a:ext cx="4754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ontserrat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98448" y="3127248"/>
            <a:ext cx="23774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13642"/>
                </a:solidFill>
                <a:latin typeface="Montserrat"/>
              </a:rPr>
              <a:t>建设目标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98448" y="3419856"/>
            <a:ext cx="2697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19" b="0">
                <a:solidFill>
                  <a:srgbClr val="788991"/>
                </a:solidFill>
                <a:latin typeface="Montserrat"/>
              </a:rPr>
              <a:t>建立统一流程引擎，支持多角色协作与全链路闭环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77824" y="3584448"/>
            <a:ext cx="0" cy="804672"/>
          </a:xfrm>
          <a:prstGeom prst="line">
            <a:avLst/>
          </a:prstGeom>
          <a:ln w="19050">
            <a:solidFill>
              <a:srgbClr val="6A8F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Oval 19"/>
          <p:cNvSpPr/>
          <p:nvPr/>
        </p:nvSpPr>
        <p:spPr>
          <a:xfrm>
            <a:off x="640080" y="4526280"/>
            <a:ext cx="475488" cy="475488"/>
          </a:xfrm>
          <a:prstGeom prst="ellipse">
            <a:avLst/>
          </a:prstGeom>
          <a:solidFill>
            <a:srgbClr val="5674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636008"/>
            <a:ext cx="4754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ontserrat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98448" y="4544568"/>
            <a:ext cx="23774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13642"/>
                </a:solidFill>
                <a:latin typeface="Montserrat"/>
              </a:rPr>
              <a:t>项目价值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98448" y="4837176"/>
            <a:ext cx="2697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19" b="0">
                <a:solidFill>
                  <a:srgbClr val="788991"/>
                </a:solidFill>
                <a:latin typeface="Montserrat"/>
              </a:rPr>
              <a:t>提升研发透明度、缩短流转时间、沉淀可审计过程数据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44568" y="1325880"/>
            <a:ext cx="3429000" cy="1499616"/>
          </a:xfrm>
          <a:prstGeom prst="roundRect">
            <a:avLst>
              <a:gd name="adj" fmla="val 8000"/>
            </a:avLst>
          </a:prstGeom>
          <a:solidFill>
            <a:srgbClr val="E8EEF0"/>
          </a:solidFill>
          <a:ln>
            <a:solidFill>
              <a:srgbClr val="CC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09160" y="1453896"/>
            <a:ext cx="3099816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13642"/>
                </a:solidFill>
                <a:latin typeface="Montserrat"/>
              </a:rPr>
              <a:t>核心建设范围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09160" y="1783080"/>
            <a:ext cx="3099816" cy="9326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19" b="0">
                <a:solidFill>
                  <a:srgbClr val="394952"/>
                </a:solidFill>
                <a:latin typeface="Montserrat"/>
              </a:rPr>
              <a:t>需求管理、任务分配、工作流流转、测试闭环、发布审批、统计报表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56448" y="1325880"/>
            <a:ext cx="3127248" cy="1499616"/>
          </a:xfrm>
          <a:prstGeom prst="roundRect">
            <a:avLst>
              <a:gd name="adj" fmla="val 8000"/>
            </a:avLst>
          </a:prstGeom>
          <a:solidFill>
            <a:srgbClr val="E8EEF0"/>
          </a:solidFill>
          <a:ln>
            <a:solidFill>
              <a:srgbClr val="CC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21040" y="1453896"/>
            <a:ext cx="279806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13642"/>
                </a:solidFill>
                <a:latin typeface="Montserrat"/>
              </a:rPr>
              <a:t>技术定位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1783080"/>
            <a:ext cx="2798064" cy="9326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19" b="0">
                <a:solidFill>
                  <a:srgbClr val="394952"/>
                </a:solidFill>
                <a:latin typeface="Montserrat"/>
              </a:rPr>
              <a:t>Spring Boot 3 + Vue 3 + Gateway + Redis + RabbitMQ 的微服务协同平台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44568" y="3054096"/>
            <a:ext cx="2148840" cy="12984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C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09160" y="3182112"/>
            <a:ext cx="1819656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13642"/>
                </a:solidFill>
                <a:latin typeface="Montserrat"/>
              </a:rPr>
              <a:t>角色体系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09160" y="3511296"/>
            <a:ext cx="1819656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19" b="0">
                <a:solidFill>
                  <a:srgbClr val="394952"/>
                </a:solidFill>
                <a:latin typeface="Montserrat"/>
              </a:rPr>
              <a:t>PM / DEV / TEST / ADMIN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876288" y="3054096"/>
            <a:ext cx="2331720" cy="12984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C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0880" y="3182112"/>
            <a:ext cx="2002536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13642"/>
                </a:solidFill>
                <a:latin typeface="Montserrat"/>
              </a:rPr>
              <a:t>流程尺度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0880" y="3511296"/>
            <a:ext cx="2002536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19" b="0">
                <a:solidFill>
                  <a:srgbClr val="394952"/>
                </a:solidFill>
                <a:latin typeface="Montserrat"/>
              </a:rPr>
              <a:t>8 个主状态 + 4 条异常回路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390888" y="3054096"/>
            <a:ext cx="1892807" cy="12984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C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555480" y="3182112"/>
            <a:ext cx="1563623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13642"/>
                </a:solidFill>
                <a:latin typeface="Montserrat"/>
              </a:rPr>
              <a:t>部署边界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55480" y="3511296"/>
            <a:ext cx="1563623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19" b="0">
                <a:solidFill>
                  <a:srgbClr val="394952"/>
                </a:solidFill>
                <a:latin typeface="Montserrat"/>
              </a:rPr>
              <a:t>7 个服务模块 / 6 个独立库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44568" y="4572000"/>
            <a:ext cx="6739128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C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709160" y="4700016"/>
            <a:ext cx="640994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13642"/>
                </a:solidFill>
                <a:latin typeface="Montserrat"/>
              </a:rPr>
              <a:t>答辩主张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09160" y="5029200"/>
            <a:ext cx="6409944" cy="8503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19" b="0">
                <a:solidFill>
                  <a:srgbClr val="394952"/>
                </a:solidFill>
                <a:latin typeface="Montserrat"/>
              </a:rPr>
              <a:t>本项目的核心竞争力不在“功能堆叠”，而在于通过状态机、异常回溯与异步解耦，把软件研发过程做成可追踪、可恢复、可度量的闭环系统。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679631" y="6327648"/>
            <a:ext cx="34747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533327" y="0"/>
            <a:ext cx="658368" cy="6858000"/>
          </a:xfrm>
          <a:prstGeom prst="rect">
            <a:avLst/>
          </a:prstGeom>
          <a:solidFill>
            <a:srgbClr val="818E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533327" y="502920"/>
            <a:ext cx="146304" cy="1325880"/>
          </a:xfrm>
          <a:prstGeom prst="rect">
            <a:avLst/>
          </a:prstGeom>
          <a:solidFill>
            <a:srgbClr val="9B97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347472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567483"/>
                </a:solidFill>
                <a:latin typeface="Montserrat"/>
              </a:rPr>
              <a:t>PART 02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493776"/>
            <a:ext cx="1097280" cy="0"/>
          </a:xfrm>
          <a:prstGeom prst="line">
            <a:avLst/>
          </a:prstGeom>
          <a:ln w="15240">
            <a:solidFill>
              <a:srgbClr val="6A8F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384048" y="566928"/>
            <a:ext cx="621792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213642"/>
                </a:solidFill>
                <a:latin typeface="Montserrat"/>
              </a:rPr>
              <a:t>系统架构设计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1097280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788991"/>
                </a:solidFill>
                <a:latin typeface="Montserrat"/>
              </a:rPr>
              <a:t>采用“前端—网关—服务—数据—基础设施”五层解耦结构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4048" y="1417320"/>
            <a:ext cx="8961120" cy="603504"/>
          </a:xfrm>
          <a:prstGeom prst="roundRect">
            <a:avLst>
              <a:gd name="adj" fmla="val 8000"/>
            </a:avLst>
          </a:prstGeom>
          <a:solidFill>
            <a:srgbClr val="E8EEF0"/>
          </a:solidFill>
          <a:ln>
            <a:solidFill>
              <a:srgbClr val="CC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545336"/>
            <a:ext cx="11887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13642"/>
                </a:solidFill>
                <a:latin typeface="Montserrat"/>
              </a:rPr>
              <a:t>前端层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92808" y="1563624"/>
            <a:ext cx="7223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30" b="0">
                <a:solidFill>
                  <a:srgbClr val="394952"/>
                </a:solidFill>
                <a:latin typeface="Montserrat"/>
              </a:rPr>
              <a:t>Vue 3 · Element Plus · Pinia · ECharts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864608.0" y="2020824"/>
            <a:ext cx="0.0" cy="164592"/>
          </a:xfrm>
          <a:prstGeom prst="line">
            <a:avLst/>
          </a:prstGeom>
          <a:ln w="19050">
            <a:solidFill>
              <a:srgbClr val="6A8F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31520" y="2194560"/>
            <a:ext cx="8321040" cy="6035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C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322576"/>
            <a:ext cx="11887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13642"/>
                </a:solidFill>
                <a:latin typeface="Montserrat"/>
              </a:rPr>
              <a:t>网关层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40280" y="2340864"/>
            <a:ext cx="65836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30" b="0">
                <a:solidFill>
                  <a:srgbClr val="394952"/>
                </a:solidFill>
                <a:latin typeface="Montserrat"/>
              </a:rPr>
              <a:t>Gateway 路由转发 · JWT 全局过滤 · 统一鉴权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892040.0" y="2798064"/>
            <a:ext cx="0.0" cy="164592"/>
          </a:xfrm>
          <a:prstGeom prst="line">
            <a:avLst/>
          </a:prstGeom>
          <a:ln w="19050">
            <a:solidFill>
              <a:srgbClr val="6A8F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384048" y="3063240"/>
            <a:ext cx="8961120" cy="603504"/>
          </a:xfrm>
          <a:prstGeom prst="roundRect">
            <a:avLst>
              <a:gd name="adj" fmla="val 8000"/>
            </a:avLst>
          </a:prstGeom>
          <a:solidFill>
            <a:srgbClr val="E8EEF0"/>
          </a:solidFill>
          <a:ln>
            <a:solidFill>
              <a:srgbClr val="CC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3191256"/>
            <a:ext cx="11887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13642"/>
                </a:solidFill>
                <a:latin typeface="Montserrat"/>
              </a:rPr>
              <a:t>服务层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92808" y="3209544"/>
            <a:ext cx="7223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30" b="0">
                <a:solidFill>
                  <a:srgbClr val="394952"/>
                </a:solidFill>
                <a:latin typeface="Montserrat"/>
              </a:rPr>
              <a:t>Auth / Task / Workflow / Report / Notification / Audit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864608.0" y="3666744"/>
            <a:ext cx="0.0" cy="164592"/>
          </a:xfrm>
          <a:prstGeom prst="line">
            <a:avLst/>
          </a:prstGeom>
          <a:ln w="19050">
            <a:solidFill>
              <a:srgbClr val="6A8F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731520" y="4187952"/>
            <a:ext cx="8229600" cy="6035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C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315968"/>
            <a:ext cx="11887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13642"/>
                </a:solidFill>
                <a:latin typeface="Montserrat"/>
              </a:rPr>
              <a:t>数据层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40280" y="4334256"/>
            <a:ext cx="64922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30" b="0">
                <a:solidFill>
                  <a:srgbClr val="394952"/>
                </a:solidFill>
                <a:latin typeface="Montserrat"/>
              </a:rPr>
              <a:t>6 个独立数据库：认证、任务、工作流、报表、通知、审计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846320.0" y="4791456"/>
            <a:ext cx="0.0" cy="164592"/>
          </a:xfrm>
          <a:prstGeom prst="line">
            <a:avLst/>
          </a:prstGeom>
          <a:ln w="19050">
            <a:solidFill>
              <a:srgbClr val="6A8F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384048" y="5230368"/>
            <a:ext cx="7498079" cy="603504"/>
          </a:xfrm>
          <a:prstGeom prst="roundRect">
            <a:avLst>
              <a:gd name="adj" fmla="val 8000"/>
            </a:avLst>
          </a:prstGeom>
          <a:solidFill>
            <a:srgbClr val="E8EEF0"/>
          </a:solidFill>
          <a:ln>
            <a:solidFill>
              <a:srgbClr val="CC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5358384"/>
            <a:ext cx="11887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13642"/>
                </a:solidFill>
                <a:latin typeface="Montserrat"/>
              </a:rPr>
              <a:t>基础设施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92808" y="5376672"/>
            <a:ext cx="5760719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30" b="0">
                <a:solidFill>
                  <a:srgbClr val="394952"/>
                </a:solidFill>
                <a:latin typeface="Montserrat"/>
              </a:rPr>
              <a:t>Redis 缓存 · RabbitMQ 事件总线 · MySQL 8.0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665208" y="1572768"/>
            <a:ext cx="1828800" cy="10789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C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802368" y="1700784"/>
            <a:ext cx="1554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13642"/>
                </a:solidFill>
                <a:latin typeface="Montserrat"/>
              </a:rPr>
              <a:t>架构目标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02368" y="2011680"/>
            <a:ext cx="15544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60" b="0">
                <a:solidFill>
                  <a:srgbClr val="788991"/>
                </a:solidFill>
                <a:latin typeface="Montserrat"/>
              </a:rPr>
              <a:t>高内聚、低耦合、便于横向扩展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665208" y="2907792"/>
            <a:ext cx="1828800" cy="10789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C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02368" y="3035808"/>
            <a:ext cx="1554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13642"/>
                </a:solidFill>
                <a:latin typeface="Montserrat"/>
              </a:rPr>
              <a:t>解耦手段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02368" y="3346704"/>
            <a:ext cx="15544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60" b="0">
                <a:solidFill>
                  <a:srgbClr val="788991"/>
                </a:solidFill>
                <a:latin typeface="Montserrat"/>
              </a:rPr>
              <a:t>网关统一入口 + MQ 异步通信 + 库级隔离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665208" y="4242816"/>
            <a:ext cx="1828800" cy="10789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C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802368" y="4370832"/>
            <a:ext cx="1554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13642"/>
                </a:solidFill>
                <a:latin typeface="Montserrat"/>
              </a:rPr>
              <a:t>运维收益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02368" y="4681728"/>
            <a:ext cx="155448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60" b="0">
                <a:solidFill>
                  <a:srgbClr val="788991"/>
                </a:solidFill>
                <a:latin typeface="Montserrat"/>
              </a:rPr>
              <a:t>模块可独立部署、故障面可控、测试边界清晰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679631" y="6327648"/>
            <a:ext cx="34747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533327" y="0"/>
            <a:ext cx="658368" cy="6858000"/>
          </a:xfrm>
          <a:prstGeom prst="rect">
            <a:avLst/>
          </a:prstGeom>
          <a:solidFill>
            <a:srgbClr val="818E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533327" y="502920"/>
            <a:ext cx="146304" cy="1325880"/>
          </a:xfrm>
          <a:prstGeom prst="rect">
            <a:avLst/>
          </a:prstGeom>
          <a:solidFill>
            <a:srgbClr val="9B97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347472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567483"/>
                </a:solidFill>
                <a:latin typeface="Montserrat"/>
              </a:rPr>
              <a:t>PART 02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493776"/>
            <a:ext cx="1097280" cy="0"/>
          </a:xfrm>
          <a:prstGeom prst="line">
            <a:avLst/>
          </a:prstGeom>
          <a:ln w="15240">
            <a:solidFill>
              <a:srgbClr val="6A8F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384048" y="566928"/>
            <a:ext cx="621792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213642"/>
                </a:solidFill>
                <a:latin typeface="Montserrat"/>
              </a:rPr>
              <a:t>服务拓扑与职责边界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1097280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788991"/>
                </a:solidFill>
                <a:latin typeface="Montserrat"/>
              </a:rPr>
              <a:t>以网关为统一入口，业务能力按域拆分，数据库按服务隔离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4048" y="1417320"/>
            <a:ext cx="3108960" cy="4526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C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995928" y="1417320"/>
            <a:ext cx="3108960" cy="4526280"/>
          </a:xfrm>
          <a:prstGeom prst="roundRect">
            <a:avLst>
              <a:gd name="adj" fmla="val 8000"/>
            </a:avLst>
          </a:prstGeom>
          <a:solidFill>
            <a:srgbClr val="E8EEF0"/>
          </a:solidFill>
          <a:ln>
            <a:solidFill>
              <a:srgbClr val="CC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470648" y="1417320"/>
            <a:ext cx="3886200" cy="4526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C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572768"/>
            <a:ext cx="2743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13642"/>
                </a:solidFill>
                <a:latin typeface="Montserrat"/>
              </a:rPr>
              <a:t>访问入口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874519"/>
            <a:ext cx="2743200" cy="5120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19" b="0">
                <a:solidFill>
                  <a:srgbClr val="394952"/>
                </a:solidFill>
                <a:latin typeface="Montserrat"/>
              </a:rPr>
              <a:t>Web 前端统一通过 Gateway 进入后端，完成路由、鉴权、限流与跨服务访问编排。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560320"/>
            <a:ext cx="2743200" cy="438912"/>
          </a:xfrm>
          <a:prstGeom prst="roundRect">
            <a:avLst>
              <a:gd name="adj" fmla="val 8000"/>
            </a:avLst>
          </a:prstGeom>
          <a:solidFill>
            <a:srgbClr val="DEE8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2670048"/>
            <a:ext cx="237744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1">
                <a:solidFill>
                  <a:srgbClr val="567483"/>
                </a:solidFill>
                <a:latin typeface="Montserrat"/>
              </a:rPr>
              <a:t>Vue 3 页面层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218688"/>
            <a:ext cx="2743200" cy="438912"/>
          </a:xfrm>
          <a:prstGeom prst="roundRect">
            <a:avLst>
              <a:gd name="adj" fmla="val 8000"/>
            </a:avLst>
          </a:prstGeom>
          <a:solidFill>
            <a:srgbClr val="DEE8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4944" y="3328416"/>
            <a:ext cx="237744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1">
                <a:solidFill>
                  <a:srgbClr val="567483"/>
                </a:solidFill>
                <a:latin typeface="Montserrat"/>
              </a:rPr>
              <a:t>Axios API 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877056"/>
            <a:ext cx="2743200" cy="438912"/>
          </a:xfrm>
          <a:prstGeom prst="roundRect">
            <a:avLst>
              <a:gd name="adj" fmla="val 8000"/>
            </a:avLst>
          </a:prstGeom>
          <a:solidFill>
            <a:srgbClr val="DEE8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944" y="3986784"/>
            <a:ext cx="237744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1">
                <a:solidFill>
                  <a:srgbClr val="567483"/>
                </a:solidFill>
                <a:latin typeface="Montserrat"/>
              </a:rPr>
              <a:t>Gateway 统一入口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60520" y="1572768"/>
            <a:ext cx="2743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13642"/>
                </a:solidFill>
                <a:latin typeface="Montserrat"/>
              </a:rPr>
              <a:t>业务服务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60520" y="1938528"/>
            <a:ext cx="2706624" cy="3108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70248" y="2011680"/>
            <a:ext cx="2487168" cy="146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80" b="0">
                <a:solidFill>
                  <a:srgbClr val="213642"/>
                </a:solidFill>
                <a:latin typeface="Montserrat"/>
              </a:rPr>
              <a:t>sm-auth 认证与权限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60520" y="2359152"/>
            <a:ext cx="2706624" cy="3108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70248" y="2432304"/>
            <a:ext cx="2487168" cy="146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80" b="0">
                <a:solidFill>
                  <a:srgbClr val="213642"/>
                </a:solidFill>
                <a:latin typeface="Montserrat"/>
              </a:rPr>
              <a:t>sm-task 任务与看板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60520" y="2779776"/>
            <a:ext cx="2706624" cy="3108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70248" y="2852928"/>
            <a:ext cx="2487168" cy="146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80" b="0">
                <a:solidFill>
                  <a:srgbClr val="213642"/>
                </a:solidFill>
                <a:latin typeface="Montserrat"/>
              </a:rPr>
              <a:t>sm-workflow 状态机流转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60520" y="3200400"/>
            <a:ext cx="2706624" cy="3108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70248" y="3273552"/>
            <a:ext cx="2487168" cy="146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80" b="0">
                <a:solidFill>
                  <a:srgbClr val="213642"/>
                </a:solidFill>
                <a:latin typeface="Montserrat"/>
              </a:rPr>
              <a:t>sm-report 报表与甘特图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160520" y="3621024"/>
            <a:ext cx="2706624" cy="3108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70248" y="3694176"/>
            <a:ext cx="2487168" cy="146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80" b="0">
                <a:solidFill>
                  <a:srgbClr val="213642"/>
                </a:solidFill>
                <a:latin typeface="Montserrat"/>
              </a:rPr>
              <a:t>sm-notification 通知服务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160520" y="4041648"/>
            <a:ext cx="2706624" cy="3108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70248" y="4114800"/>
            <a:ext cx="2487168" cy="146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80" b="0">
                <a:solidFill>
                  <a:srgbClr val="213642"/>
                </a:solidFill>
                <a:latin typeface="Montserrat"/>
              </a:rPr>
              <a:t>sm-audit 审计服务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60520" y="4709160"/>
            <a:ext cx="27432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80" b="0">
                <a:solidFill>
                  <a:srgbClr val="788991"/>
                </a:solidFill>
                <a:latin typeface="Montserrat"/>
              </a:rPr>
              <a:t>RabbitMQ 作为事件总线，将通知、报表、审计从主业务链路中剥离。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35240" y="1572768"/>
            <a:ext cx="2743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13642"/>
                </a:solidFill>
                <a:latin typeface="Montserrat"/>
              </a:rPr>
              <a:t>数据与基础设施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635240" y="1938528"/>
            <a:ext cx="1627632" cy="310896"/>
          </a:xfrm>
          <a:prstGeom prst="roundRect">
            <a:avLst>
              <a:gd name="adj" fmla="val 8000"/>
            </a:avLst>
          </a:prstGeom>
          <a:solidFill>
            <a:srgbClr val="DEE8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44968" y="2011680"/>
            <a:ext cx="1280160" cy="146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60" b="0">
                <a:solidFill>
                  <a:srgbClr val="567483"/>
                </a:solidFill>
                <a:latin typeface="Montserrat"/>
              </a:rPr>
              <a:t>auth_db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72600" y="2011680"/>
            <a:ext cx="146304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19" b="0">
                <a:solidFill>
                  <a:srgbClr val="788991"/>
                </a:solidFill>
                <a:latin typeface="Montserrat"/>
              </a:rPr>
              <a:t>权限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635240" y="2359152"/>
            <a:ext cx="1627632" cy="310896"/>
          </a:xfrm>
          <a:prstGeom prst="roundRect">
            <a:avLst>
              <a:gd name="adj" fmla="val 8000"/>
            </a:avLst>
          </a:prstGeom>
          <a:solidFill>
            <a:srgbClr val="DEE8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44968" y="2432304"/>
            <a:ext cx="1280160" cy="146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60" b="0">
                <a:solidFill>
                  <a:srgbClr val="567483"/>
                </a:solidFill>
                <a:latin typeface="Montserrat"/>
              </a:rPr>
              <a:t>task_db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72600" y="2432304"/>
            <a:ext cx="146304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19" b="0">
                <a:solidFill>
                  <a:srgbClr val="788991"/>
                </a:solidFill>
                <a:latin typeface="Montserrat"/>
              </a:rPr>
              <a:t>任务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635240" y="2779776"/>
            <a:ext cx="1627632" cy="310896"/>
          </a:xfrm>
          <a:prstGeom prst="roundRect">
            <a:avLst>
              <a:gd name="adj" fmla="val 8000"/>
            </a:avLst>
          </a:prstGeom>
          <a:solidFill>
            <a:srgbClr val="DEE8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744968" y="2852928"/>
            <a:ext cx="1280160" cy="146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60" b="0">
                <a:solidFill>
                  <a:srgbClr val="567483"/>
                </a:solidFill>
                <a:latin typeface="Montserrat"/>
              </a:rPr>
              <a:t>workflow_db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372600" y="2852928"/>
            <a:ext cx="146304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19" b="0">
                <a:solidFill>
                  <a:srgbClr val="788991"/>
                </a:solidFill>
                <a:latin typeface="Montserrat"/>
              </a:rPr>
              <a:t>流程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635240" y="3200400"/>
            <a:ext cx="1627632" cy="310896"/>
          </a:xfrm>
          <a:prstGeom prst="roundRect">
            <a:avLst>
              <a:gd name="adj" fmla="val 8000"/>
            </a:avLst>
          </a:prstGeom>
          <a:solidFill>
            <a:srgbClr val="DEE8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744968" y="3273552"/>
            <a:ext cx="1280160" cy="146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60" b="0">
                <a:solidFill>
                  <a:srgbClr val="567483"/>
                </a:solidFill>
                <a:latin typeface="Montserrat"/>
              </a:rPr>
              <a:t>report_db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72600" y="3273552"/>
            <a:ext cx="146304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19" b="0">
                <a:solidFill>
                  <a:srgbClr val="788991"/>
                </a:solidFill>
                <a:latin typeface="Montserrat"/>
              </a:rPr>
              <a:t>统计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635240" y="3621024"/>
            <a:ext cx="1627632" cy="310896"/>
          </a:xfrm>
          <a:prstGeom prst="roundRect">
            <a:avLst>
              <a:gd name="adj" fmla="val 8000"/>
            </a:avLst>
          </a:prstGeom>
          <a:solidFill>
            <a:srgbClr val="DEE8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744968" y="3694176"/>
            <a:ext cx="1280160" cy="146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60" b="0">
                <a:solidFill>
                  <a:srgbClr val="567483"/>
                </a:solidFill>
                <a:latin typeface="Montserrat"/>
              </a:rPr>
              <a:t>notification_db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372600" y="3694176"/>
            <a:ext cx="146304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19" b="0">
                <a:solidFill>
                  <a:srgbClr val="788991"/>
                </a:solidFill>
                <a:latin typeface="Montserrat"/>
              </a:rPr>
              <a:t>通知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635240" y="4041648"/>
            <a:ext cx="1627632" cy="310896"/>
          </a:xfrm>
          <a:prstGeom prst="roundRect">
            <a:avLst>
              <a:gd name="adj" fmla="val 8000"/>
            </a:avLst>
          </a:prstGeom>
          <a:solidFill>
            <a:srgbClr val="DEE8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744968" y="4114800"/>
            <a:ext cx="1280160" cy="146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60" b="0">
                <a:solidFill>
                  <a:srgbClr val="567483"/>
                </a:solidFill>
                <a:latin typeface="Montserrat"/>
              </a:rPr>
              <a:t>audit_db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372600" y="4114800"/>
            <a:ext cx="146304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19" b="0">
                <a:solidFill>
                  <a:srgbClr val="788991"/>
                </a:solidFill>
                <a:latin typeface="Montserrat"/>
              </a:rPr>
              <a:t>审计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635240" y="4700016"/>
            <a:ext cx="32004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80" b="0">
                <a:solidFill>
                  <a:srgbClr val="788991"/>
                </a:solidFill>
                <a:latin typeface="Montserrat"/>
              </a:rPr>
              <a:t>Redis 仅承担看板热点缓存，避免把缓存层扩展为全局复杂依赖。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679631" y="6327648"/>
            <a:ext cx="34747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533327" y="0"/>
            <a:ext cx="658368" cy="6858000"/>
          </a:xfrm>
          <a:prstGeom prst="rect">
            <a:avLst/>
          </a:prstGeom>
          <a:solidFill>
            <a:srgbClr val="818E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533327" y="502920"/>
            <a:ext cx="146304" cy="1325880"/>
          </a:xfrm>
          <a:prstGeom prst="rect">
            <a:avLst/>
          </a:prstGeom>
          <a:solidFill>
            <a:srgbClr val="9B97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347472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567483"/>
                </a:solidFill>
                <a:latin typeface="Montserrat"/>
              </a:rPr>
              <a:t>PART 03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493776"/>
            <a:ext cx="1097280" cy="0"/>
          </a:xfrm>
          <a:prstGeom prst="line">
            <a:avLst/>
          </a:prstGeom>
          <a:ln w="15240">
            <a:solidFill>
              <a:srgbClr val="6A8F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384048" y="566928"/>
            <a:ext cx="621792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213642"/>
                </a:solidFill>
                <a:latin typeface="Montserrat"/>
              </a:rPr>
              <a:t>核心功能实现 · 工作流引擎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1097280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788991"/>
                </a:solidFill>
                <a:latin typeface="Montserrat"/>
              </a:rPr>
              <a:t>以状态机驱动主流程，并用 previous_state 与闭环链处理异常回路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21208" y="1828800"/>
            <a:ext cx="1078992" cy="51206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C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993392"/>
            <a:ext cx="932688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213642"/>
                </a:solidFill>
                <a:latin typeface="Montserrat"/>
              </a:rPr>
              <a:t>需求管理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600200" y="2084832"/>
            <a:ext cx="228600" cy="548640"/>
          </a:xfrm>
          <a:prstGeom prst="line">
            <a:avLst/>
          </a:prstGeom>
          <a:ln w="17780">
            <a:solidFill>
              <a:srgbClr val="6A8F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1828800" y="2377440"/>
            <a:ext cx="1078992" cy="512064"/>
          </a:xfrm>
          <a:prstGeom prst="roundRect">
            <a:avLst>
              <a:gd name="adj" fmla="val 8000"/>
            </a:avLst>
          </a:prstGeom>
          <a:solidFill>
            <a:srgbClr val="E8EEF0"/>
          </a:solidFill>
          <a:ln>
            <a:solidFill>
              <a:srgbClr val="CC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01952" y="2542032"/>
            <a:ext cx="932688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213642"/>
                </a:solidFill>
                <a:latin typeface="Montserrat"/>
              </a:rPr>
              <a:t>任务准备</a:t>
            </a:r>
          </a:p>
        </p:txBody>
      </p:sp>
      <p:cxnSp>
        <p:nvCxnSpPr>
          <p:cNvPr id="14" name="Connector 13"/>
          <p:cNvCxnSpPr/>
          <p:nvPr/>
        </p:nvCxnSpPr>
        <p:spPr>
          <a:xfrm flipV="1">
            <a:off x="2907792" y="2084831"/>
            <a:ext cx="228600" cy="548641"/>
          </a:xfrm>
          <a:prstGeom prst="line">
            <a:avLst/>
          </a:prstGeom>
          <a:ln w="17780">
            <a:solidFill>
              <a:srgbClr val="6A8F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136392" y="1828800"/>
            <a:ext cx="1078992" cy="51206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C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09544" y="1993392"/>
            <a:ext cx="932688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213642"/>
                </a:solidFill>
                <a:latin typeface="Montserrat"/>
              </a:rPr>
              <a:t>开发中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215384" y="2084832"/>
            <a:ext cx="228600" cy="548640"/>
          </a:xfrm>
          <a:prstGeom prst="line">
            <a:avLst/>
          </a:prstGeom>
          <a:ln w="17780">
            <a:solidFill>
              <a:srgbClr val="6A8F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443984" y="2377440"/>
            <a:ext cx="1078992" cy="512064"/>
          </a:xfrm>
          <a:prstGeom prst="roundRect">
            <a:avLst>
              <a:gd name="adj" fmla="val 8000"/>
            </a:avLst>
          </a:prstGeom>
          <a:solidFill>
            <a:srgbClr val="E8EEF0"/>
          </a:solidFill>
          <a:ln>
            <a:solidFill>
              <a:srgbClr val="CC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17136" y="2542032"/>
            <a:ext cx="932688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213642"/>
                </a:solidFill>
                <a:latin typeface="Montserrat"/>
              </a:rPr>
              <a:t>待评审</a:t>
            </a:r>
          </a:p>
        </p:txBody>
      </p:sp>
      <p:cxnSp>
        <p:nvCxnSpPr>
          <p:cNvPr id="20" name="Connector 19"/>
          <p:cNvCxnSpPr/>
          <p:nvPr/>
        </p:nvCxnSpPr>
        <p:spPr>
          <a:xfrm flipV="1">
            <a:off x="5522976" y="2084831"/>
            <a:ext cx="228600" cy="548641"/>
          </a:xfrm>
          <a:prstGeom prst="line">
            <a:avLst/>
          </a:prstGeom>
          <a:ln w="17780">
            <a:solidFill>
              <a:srgbClr val="6A8F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751576" y="1828800"/>
            <a:ext cx="1078992" cy="51206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C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24728" y="1993392"/>
            <a:ext cx="932688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213642"/>
                </a:solidFill>
                <a:latin typeface="Montserrat"/>
              </a:rPr>
              <a:t>测试中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30568" y="2084832"/>
            <a:ext cx="228600" cy="548640"/>
          </a:xfrm>
          <a:prstGeom prst="line">
            <a:avLst/>
          </a:prstGeom>
          <a:ln w="17780">
            <a:solidFill>
              <a:srgbClr val="6A8F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7059168" y="2377440"/>
            <a:ext cx="1078992" cy="512064"/>
          </a:xfrm>
          <a:prstGeom prst="roundRect">
            <a:avLst>
              <a:gd name="adj" fmla="val 8000"/>
            </a:avLst>
          </a:prstGeom>
          <a:solidFill>
            <a:srgbClr val="E8EEF0"/>
          </a:solidFill>
          <a:ln>
            <a:solidFill>
              <a:srgbClr val="CC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32320" y="2542032"/>
            <a:ext cx="932688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213642"/>
                </a:solidFill>
                <a:latin typeface="Montserrat"/>
              </a:rPr>
              <a:t>待发布</a:t>
            </a:r>
          </a:p>
        </p:txBody>
      </p:sp>
      <p:cxnSp>
        <p:nvCxnSpPr>
          <p:cNvPr id="26" name="Connector 25"/>
          <p:cNvCxnSpPr/>
          <p:nvPr/>
        </p:nvCxnSpPr>
        <p:spPr>
          <a:xfrm flipV="1">
            <a:off x="8138160" y="2084831"/>
            <a:ext cx="228600" cy="548641"/>
          </a:xfrm>
          <a:prstGeom prst="line">
            <a:avLst/>
          </a:prstGeom>
          <a:ln w="17780">
            <a:solidFill>
              <a:srgbClr val="6A8F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8366760" y="1828800"/>
            <a:ext cx="1078992" cy="51206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C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39912" y="1993392"/>
            <a:ext cx="932688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213642"/>
                </a:solidFill>
                <a:latin typeface="Montserrat"/>
              </a:rPr>
              <a:t>已上线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445752" y="2084832"/>
            <a:ext cx="228600" cy="548640"/>
          </a:xfrm>
          <a:prstGeom prst="line">
            <a:avLst/>
          </a:prstGeom>
          <a:ln w="17780">
            <a:solidFill>
              <a:srgbClr val="6A8F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674352" y="2377440"/>
            <a:ext cx="1078992" cy="512064"/>
          </a:xfrm>
          <a:prstGeom prst="roundRect">
            <a:avLst>
              <a:gd name="adj" fmla="val 8000"/>
            </a:avLst>
          </a:prstGeom>
          <a:solidFill>
            <a:srgbClr val="E8EEF0"/>
          </a:solidFill>
          <a:ln>
            <a:solidFill>
              <a:srgbClr val="CC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47504" y="2542032"/>
            <a:ext cx="932688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213642"/>
                </a:solidFill>
                <a:latin typeface="Montserrat"/>
              </a:rPr>
              <a:t>已完成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3931920"/>
            <a:ext cx="242316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C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3232" y="4096512"/>
            <a:ext cx="20116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B47F66"/>
                </a:solidFill>
                <a:latin typeface="Montserrat"/>
              </a:rPr>
              <a:t>评审驳回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" y="4407408"/>
            <a:ext cx="205740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60" b="0">
                <a:solidFill>
                  <a:srgbClr val="394952"/>
                </a:solidFill>
                <a:latin typeface="Montserrat"/>
              </a:rPr>
              <a:t>回退到开发中，保留上下文与责任人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264408" y="3931920"/>
            <a:ext cx="242316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C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410712" y="4096512"/>
            <a:ext cx="20116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B47F66"/>
                </a:solidFill>
                <a:latin typeface="Montserrat"/>
              </a:rPr>
              <a:t>测试失败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10712" y="4407408"/>
            <a:ext cx="205740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60" b="0">
                <a:solidFill>
                  <a:srgbClr val="394952"/>
                </a:solidFill>
                <a:latin typeface="Montserrat"/>
              </a:rPr>
              <a:t>触发缺陷修复与闭环验证链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61888" y="3931920"/>
            <a:ext cx="242316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C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08192" y="4096512"/>
            <a:ext cx="20116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B47F66"/>
                </a:solidFill>
                <a:latin typeface="Montserrat"/>
              </a:rPr>
              <a:t>发布拒绝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08192" y="4407408"/>
            <a:ext cx="205740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60" b="0">
                <a:solidFill>
                  <a:srgbClr val="394952"/>
                </a:solidFill>
                <a:latin typeface="Montserrat"/>
              </a:rPr>
              <a:t>回退待发布前状态，等待修复后重提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659368" y="3931920"/>
            <a:ext cx="242316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C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05672" y="4096512"/>
            <a:ext cx="20116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629176"/>
                </a:solidFill>
                <a:latin typeface="Montserrat"/>
              </a:rPr>
              <a:t>阻塞恢复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05672" y="4407408"/>
            <a:ext cx="205740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60" b="0">
                <a:solidFill>
                  <a:srgbClr val="394952"/>
                </a:solidFill>
                <a:latin typeface="Montserrat"/>
              </a:rPr>
              <a:t>记录 previous_state，解除阻塞后精确恢复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66928" y="5413248"/>
            <a:ext cx="10378440" cy="420624"/>
          </a:xfrm>
          <a:prstGeom prst="roundRect">
            <a:avLst>
              <a:gd name="adj" fmla="val 8000"/>
            </a:avLst>
          </a:prstGeom>
          <a:solidFill>
            <a:srgbClr val="DEE8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31520" y="5522976"/>
            <a:ext cx="9875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80" b="1">
                <a:solidFill>
                  <a:srgbClr val="567483"/>
                </a:solidFill>
                <a:latin typeface="Montserrat"/>
              </a:rPr>
              <a:t>闭环链路：异常发生 → 创建修复任务 → 修复完成 → 评审通过 → 测试通过 → 闭环完成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679631" y="6327648"/>
            <a:ext cx="34747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533327" y="0"/>
            <a:ext cx="658368" cy="6858000"/>
          </a:xfrm>
          <a:prstGeom prst="rect">
            <a:avLst/>
          </a:prstGeom>
          <a:solidFill>
            <a:srgbClr val="818E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533327" y="502920"/>
            <a:ext cx="146304" cy="1325880"/>
          </a:xfrm>
          <a:prstGeom prst="rect">
            <a:avLst/>
          </a:prstGeom>
          <a:solidFill>
            <a:srgbClr val="9B97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347472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567483"/>
                </a:solidFill>
                <a:latin typeface="Montserrat"/>
              </a:rPr>
              <a:t>PART 03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493776"/>
            <a:ext cx="1097280" cy="0"/>
          </a:xfrm>
          <a:prstGeom prst="line">
            <a:avLst/>
          </a:prstGeom>
          <a:ln w="15240">
            <a:solidFill>
              <a:srgbClr val="6A8F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384048" y="566928"/>
            <a:ext cx="621792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213642"/>
                </a:solidFill>
                <a:latin typeface="Montserrat"/>
              </a:rPr>
              <a:t>核心功能实现 · 关键能力矩阵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1097280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788991"/>
                </a:solidFill>
                <a:latin typeface="Montserrat"/>
              </a:rPr>
              <a:t>将安全、协同、可视化三类能力映射到统一业务闭环中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4048" y="1463040"/>
            <a:ext cx="3246120" cy="4526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C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664208"/>
            <a:ext cx="25603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213642"/>
                </a:solidFill>
                <a:latin typeface="Montserrat"/>
              </a:rPr>
              <a:t>认证与权限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965960"/>
            <a:ext cx="23774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567483"/>
                </a:solidFill>
                <a:latin typeface="Montserrat"/>
              </a:rPr>
              <a:t>JWT + BCrypt + RBAC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2249424"/>
            <a:ext cx="27889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19" b="0">
                <a:solidFill>
                  <a:srgbClr val="394952"/>
                </a:solidFill>
                <a:latin typeface="Montserrat"/>
              </a:rPr>
              <a:t>登录签发 Token、Gateway 统一校验、按角色裁剪页面与接口访问边界。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40480" y="1463040"/>
            <a:ext cx="3246120" cy="4526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C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23360" y="1664208"/>
            <a:ext cx="25603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213642"/>
                </a:solidFill>
                <a:latin typeface="Montserrat"/>
              </a:rPr>
              <a:t>任务协同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0" y="1965960"/>
            <a:ext cx="23774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567483"/>
                </a:solidFill>
                <a:latin typeface="Montserrat"/>
              </a:rPr>
              <a:t>看板 + 缓存 + 通知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23360" y="2249424"/>
            <a:ext cx="27889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19" b="0">
                <a:solidFill>
                  <a:srgbClr val="394952"/>
                </a:solidFill>
                <a:latin typeface="Montserrat"/>
              </a:rPr>
              <a:t>任务 CRUD、Kanban 视图、Redis 5 分钟 TTL、状态变更后自动失效并触发消息通知。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96912" y="1463040"/>
            <a:ext cx="3246120" cy="4526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C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79792" y="1664208"/>
            <a:ext cx="25603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213642"/>
                </a:solidFill>
                <a:latin typeface="Montserrat"/>
              </a:rPr>
              <a:t>报表分析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79792" y="1965960"/>
            <a:ext cx="23774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567483"/>
                </a:solidFill>
                <a:latin typeface="Montserrat"/>
              </a:rPr>
              <a:t>仪表板 + 甘特图 + 审计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79792" y="2249424"/>
            <a:ext cx="27889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19" b="0">
                <a:solidFill>
                  <a:srgbClr val="394952"/>
                </a:solidFill>
                <a:latin typeface="Montserrat"/>
              </a:rPr>
              <a:t>通过 ECharts 展示进度、工作量与异常趋势，同时保留关键操作审计轨迹。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3108960"/>
            <a:ext cx="274320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19">
                <a:solidFill>
                  <a:srgbClr val="394952"/>
                </a:solidFill>
                <a:latin typeface="Montserrat"/>
              </a:rPr>
              <a:t>• Gateway 全局过滤器</a:t>
            </a:r>
          </a:p>
          <a:p>
            <a:pPr algn="l"/>
            <a:r>
              <a:rPr sz="1019" b="0">
                <a:solidFill>
                  <a:srgbClr val="394952"/>
                </a:solidFill>
                <a:latin typeface="Montserrat"/>
              </a:rPr>
              <a:t>• 刷新令牌与会话存储</a:t>
            </a:r>
          </a:p>
          <a:p>
            <a:pPr algn="l"/>
            <a:r>
              <a:rPr sz="1019" b="0">
                <a:solidFill>
                  <a:srgbClr val="394952"/>
                </a:solidFill>
                <a:latin typeface="Montserrat"/>
              </a:rPr>
              <a:t>• PM / DEV / TEST / ADMIN 角色隔离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23360" y="3108960"/>
            <a:ext cx="274320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19">
                <a:solidFill>
                  <a:srgbClr val="394952"/>
                </a:solidFill>
                <a:latin typeface="Montserrat"/>
              </a:rPr>
              <a:t>• 按状态分列展示任务</a:t>
            </a:r>
          </a:p>
          <a:p>
            <a:pPr algn="l"/>
            <a:r>
              <a:rPr sz="1019" b="0">
                <a:solidFill>
                  <a:srgbClr val="394952"/>
                </a:solidFill>
                <a:latin typeface="Montserrat"/>
              </a:rPr>
              <a:t>• 看板热点数据二级缓存</a:t>
            </a:r>
          </a:p>
          <a:p>
            <a:pPr algn="l"/>
            <a:r>
              <a:rPr sz="1019" b="0">
                <a:solidFill>
                  <a:srgbClr val="394952"/>
                </a:solidFill>
                <a:latin typeface="Montserrat"/>
              </a:rPr>
              <a:t>• RabbitMQ 解耦通知与审计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79792" y="3108960"/>
            <a:ext cx="274320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19">
                <a:solidFill>
                  <a:srgbClr val="394952"/>
                </a:solidFill>
                <a:latin typeface="Montserrat"/>
              </a:rPr>
              <a:t>• 项目进度可视化</a:t>
            </a:r>
          </a:p>
          <a:p>
            <a:pPr algn="l"/>
            <a:r>
              <a:rPr sz="1019" b="0">
                <a:solidFill>
                  <a:srgbClr val="394952"/>
                </a:solidFill>
                <a:latin typeface="Montserrat"/>
              </a:rPr>
              <a:t>• 甘特图时间轴编排</a:t>
            </a:r>
          </a:p>
          <a:p>
            <a:pPr algn="l"/>
            <a:r>
              <a:rPr sz="1019" b="0">
                <a:solidFill>
                  <a:srgbClr val="394952"/>
                </a:solidFill>
                <a:latin typeface="Montserrat"/>
              </a:rPr>
              <a:t>• 异常率与工作量统计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120640"/>
            <a:ext cx="224028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C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3232" y="5230368"/>
            <a:ext cx="191109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213642"/>
                </a:solidFill>
                <a:latin typeface="Montserrat"/>
              </a:rPr>
              <a:t>96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5577840"/>
            <a:ext cx="1911096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88991"/>
                </a:solidFill>
                <a:latin typeface="Montserrat"/>
              </a:rPr>
              <a:t>Java 文件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127248" y="5120640"/>
            <a:ext cx="224028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C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291840" y="5230368"/>
            <a:ext cx="191109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213642"/>
                </a:solidFill>
                <a:latin typeface="Montserrat"/>
              </a:rPr>
              <a:t>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91840" y="5577840"/>
            <a:ext cx="1911096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88991"/>
                </a:solidFill>
                <a:latin typeface="Montserrat"/>
              </a:rPr>
              <a:t>Vue/JS 文件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705856" y="5120640"/>
            <a:ext cx="224028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C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870448" y="5230368"/>
            <a:ext cx="191109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213642"/>
                </a:solidFill>
                <a:latin typeface="Montserrat"/>
              </a:rPr>
              <a:t>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70448" y="5577840"/>
            <a:ext cx="1911096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88991"/>
                </a:solidFill>
                <a:latin typeface="Montserrat"/>
              </a:rPr>
              <a:t>SQL 文件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284464" y="5120640"/>
            <a:ext cx="224028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C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49056" y="5230368"/>
            <a:ext cx="191109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213642"/>
                </a:solidFill>
                <a:latin typeface="Montserrat"/>
              </a:rPr>
              <a:t>5min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49056" y="5577840"/>
            <a:ext cx="1911096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88991"/>
                </a:solidFill>
                <a:latin typeface="Montserrat"/>
              </a:rPr>
              <a:t>看板缓存 TTL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679631" y="6327648"/>
            <a:ext cx="34747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533327" y="0"/>
            <a:ext cx="658368" cy="6858000"/>
          </a:xfrm>
          <a:prstGeom prst="rect">
            <a:avLst/>
          </a:prstGeom>
          <a:solidFill>
            <a:srgbClr val="818E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533327" y="502920"/>
            <a:ext cx="146304" cy="1325880"/>
          </a:xfrm>
          <a:prstGeom prst="rect">
            <a:avLst/>
          </a:prstGeom>
          <a:solidFill>
            <a:srgbClr val="9B97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347472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567483"/>
                </a:solidFill>
                <a:latin typeface="Montserrat"/>
              </a:rPr>
              <a:t>PART 04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493776"/>
            <a:ext cx="1097280" cy="0"/>
          </a:xfrm>
          <a:prstGeom prst="line">
            <a:avLst/>
          </a:prstGeom>
          <a:ln w="15240">
            <a:solidFill>
              <a:srgbClr val="6A8F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384048" y="566928"/>
            <a:ext cx="621792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213642"/>
                </a:solidFill>
                <a:latin typeface="Montserrat"/>
              </a:rPr>
              <a:t>系统测试与优化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1097280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788991"/>
                </a:solidFill>
                <a:latin typeface="Montserrat"/>
              </a:rPr>
              <a:t>通过功能覆盖、链路验证和性能优化提升系统稳定性与可维护性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4048" y="1417320"/>
            <a:ext cx="4709160" cy="457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C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32918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13642"/>
                </a:solidFill>
                <a:latin typeface="Montserrat"/>
              </a:rPr>
              <a:t>功能验证矩阵</a:t>
            </a:r>
          </a:p>
        </p:txBody>
      </p:sp>
      <p:sp>
        <p:nvSpPr>
          <p:cNvPr id="11" name="Oval 10"/>
          <p:cNvSpPr/>
          <p:nvPr/>
        </p:nvSpPr>
        <p:spPr>
          <a:xfrm>
            <a:off x="585216" y="1965960"/>
            <a:ext cx="201168" cy="201168"/>
          </a:xfrm>
          <a:prstGeom prst="ellipse">
            <a:avLst/>
          </a:prstGeom>
          <a:solidFill>
            <a:srgbClr val="6291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1947672"/>
            <a:ext cx="12344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13642"/>
                </a:solidFill>
                <a:latin typeface="Montserrat"/>
              </a:rPr>
              <a:t>认证模块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67128" y="1947672"/>
            <a:ext cx="2651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69" b="0">
                <a:solidFill>
                  <a:srgbClr val="788991"/>
                </a:solidFill>
                <a:latin typeface="Montserrat"/>
              </a:rPr>
              <a:t>登录、Token 校验、过期处理、角色权限</a:t>
            </a:r>
          </a:p>
        </p:txBody>
      </p:sp>
      <p:sp>
        <p:nvSpPr>
          <p:cNvPr id="14" name="Oval 13"/>
          <p:cNvSpPr/>
          <p:nvPr/>
        </p:nvSpPr>
        <p:spPr>
          <a:xfrm>
            <a:off x="585216" y="2587752"/>
            <a:ext cx="201168" cy="201168"/>
          </a:xfrm>
          <a:prstGeom prst="ellipse">
            <a:avLst/>
          </a:prstGeom>
          <a:solidFill>
            <a:srgbClr val="6291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7824" y="2569464"/>
            <a:ext cx="12344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13642"/>
                </a:solidFill>
                <a:latin typeface="Montserrat"/>
              </a:rPr>
              <a:t>任务服务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67128" y="2569464"/>
            <a:ext cx="2651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69" b="0">
                <a:solidFill>
                  <a:srgbClr val="788991"/>
                </a:solidFill>
                <a:latin typeface="Montserrat"/>
              </a:rPr>
              <a:t>CRUD、分配、状态更新、看板查询</a:t>
            </a:r>
          </a:p>
        </p:txBody>
      </p:sp>
      <p:sp>
        <p:nvSpPr>
          <p:cNvPr id="17" name="Oval 16"/>
          <p:cNvSpPr/>
          <p:nvPr/>
        </p:nvSpPr>
        <p:spPr>
          <a:xfrm>
            <a:off x="585216" y="3209544"/>
            <a:ext cx="201168" cy="201168"/>
          </a:xfrm>
          <a:prstGeom prst="ellipse">
            <a:avLst/>
          </a:prstGeom>
          <a:solidFill>
            <a:srgbClr val="6291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7824" y="3191256"/>
            <a:ext cx="12344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13642"/>
                </a:solidFill>
                <a:latin typeface="Montserrat"/>
              </a:rPr>
              <a:t>工作流引擎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67128" y="3191256"/>
            <a:ext cx="2651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69" b="0">
                <a:solidFill>
                  <a:srgbClr val="788991"/>
                </a:solidFill>
                <a:latin typeface="Montserrat"/>
              </a:rPr>
              <a:t>正常流转、驳回回退、阻塞恢复、闭环链</a:t>
            </a:r>
          </a:p>
        </p:txBody>
      </p:sp>
      <p:sp>
        <p:nvSpPr>
          <p:cNvPr id="20" name="Oval 19"/>
          <p:cNvSpPr/>
          <p:nvPr/>
        </p:nvSpPr>
        <p:spPr>
          <a:xfrm>
            <a:off x="585216" y="3831336"/>
            <a:ext cx="201168" cy="201168"/>
          </a:xfrm>
          <a:prstGeom prst="ellipse">
            <a:avLst/>
          </a:prstGeom>
          <a:solidFill>
            <a:srgbClr val="6291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3813048"/>
            <a:ext cx="12344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13642"/>
                </a:solidFill>
                <a:latin typeface="Montserrat"/>
              </a:rPr>
              <a:t>报表模块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67128" y="3813048"/>
            <a:ext cx="2651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69" b="0">
                <a:solidFill>
                  <a:srgbClr val="788991"/>
                </a:solidFill>
                <a:latin typeface="Montserrat"/>
              </a:rPr>
              <a:t>图表展示、统计汇总、甘特图时间轴</a:t>
            </a:r>
          </a:p>
        </p:txBody>
      </p:sp>
      <p:sp>
        <p:nvSpPr>
          <p:cNvPr id="23" name="Oval 22"/>
          <p:cNvSpPr/>
          <p:nvPr/>
        </p:nvSpPr>
        <p:spPr>
          <a:xfrm>
            <a:off x="585216" y="4453128"/>
            <a:ext cx="201168" cy="201168"/>
          </a:xfrm>
          <a:prstGeom prst="ellipse">
            <a:avLst/>
          </a:prstGeom>
          <a:solidFill>
            <a:srgbClr val="6291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434840"/>
            <a:ext cx="12344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13642"/>
                </a:solidFill>
                <a:latin typeface="Montserrat"/>
              </a:rPr>
              <a:t>通知 / 审计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67128" y="4434840"/>
            <a:ext cx="2651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69" b="0">
                <a:solidFill>
                  <a:srgbClr val="788991"/>
                </a:solidFill>
                <a:latin typeface="Montserrat"/>
              </a:rPr>
              <a:t>事件监听、消息消费、关键操作留痕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340096" y="1417320"/>
            <a:ext cx="2834640" cy="1298448"/>
          </a:xfrm>
          <a:prstGeom prst="roundRect">
            <a:avLst>
              <a:gd name="adj" fmla="val 8000"/>
            </a:avLst>
          </a:prstGeom>
          <a:solidFill>
            <a:srgbClr val="E8EEF0"/>
          </a:solidFill>
          <a:ln>
            <a:solidFill>
              <a:srgbClr val="CC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04688" y="1545336"/>
            <a:ext cx="2505456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13642"/>
                </a:solidFill>
                <a:latin typeface="Montserrat"/>
              </a:rPr>
              <a:t>性能优化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04688" y="1856232"/>
            <a:ext cx="2505456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80" b="0">
                <a:solidFill>
                  <a:srgbClr val="394952"/>
                </a:solidFill>
                <a:latin typeface="Montserrat"/>
              </a:rPr>
              <a:t>Redis 仅缓存看板热点数据；任务变更主动失效，兼顾响应速度与一致性。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75904" y="1417320"/>
            <a:ext cx="2834640" cy="1298448"/>
          </a:xfrm>
          <a:prstGeom prst="roundRect">
            <a:avLst>
              <a:gd name="adj" fmla="val 8000"/>
            </a:avLst>
          </a:prstGeom>
          <a:solidFill>
            <a:srgbClr val="E8EEF0"/>
          </a:solidFill>
          <a:ln>
            <a:solidFill>
              <a:srgbClr val="CC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40496" y="1545336"/>
            <a:ext cx="2505456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13642"/>
                </a:solidFill>
                <a:latin typeface="Montserrat"/>
              </a:rPr>
              <a:t>稳定性优化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40496" y="1856232"/>
            <a:ext cx="2505456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80" b="0">
                <a:solidFill>
                  <a:srgbClr val="394952"/>
                </a:solidFill>
                <a:latin typeface="Montserrat"/>
              </a:rPr>
              <a:t>RabbitMQ 将通知、审计、报表等旁路能力异步化，降低主事务链路压力。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340096" y="2944368"/>
            <a:ext cx="2834640" cy="1298448"/>
          </a:xfrm>
          <a:prstGeom prst="roundRect">
            <a:avLst>
              <a:gd name="adj" fmla="val 8000"/>
            </a:avLst>
          </a:prstGeom>
          <a:solidFill>
            <a:srgbClr val="E8EEF0"/>
          </a:solidFill>
          <a:ln>
            <a:solidFill>
              <a:srgbClr val="CC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504688" y="3072384"/>
            <a:ext cx="2505456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13642"/>
                </a:solidFill>
                <a:latin typeface="Montserrat"/>
              </a:rPr>
              <a:t>流程优化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04688" y="3383280"/>
            <a:ext cx="2505456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80" b="0">
                <a:solidFill>
                  <a:srgbClr val="394952"/>
                </a:solidFill>
                <a:latin typeface="Montserrat"/>
              </a:rPr>
              <a:t>通过 previous_state 保存阻塞前状态，避免人工判断恢复节点造成的误操作。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375904" y="2944368"/>
            <a:ext cx="2834640" cy="1298448"/>
          </a:xfrm>
          <a:prstGeom prst="roundRect">
            <a:avLst>
              <a:gd name="adj" fmla="val 8000"/>
            </a:avLst>
          </a:prstGeom>
          <a:solidFill>
            <a:srgbClr val="E8EEF0"/>
          </a:solidFill>
          <a:ln>
            <a:solidFill>
              <a:srgbClr val="CC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40496" y="3072384"/>
            <a:ext cx="2505456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13642"/>
                </a:solidFill>
                <a:latin typeface="Montserrat"/>
              </a:rPr>
              <a:t>前端体验优化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40496" y="3383280"/>
            <a:ext cx="2505456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80" b="0">
                <a:solidFill>
                  <a:srgbClr val="394952"/>
                </a:solidFill>
                <a:latin typeface="Montserrat"/>
              </a:rPr>
              <a:t>多角色视图分治 + ECharts 可视化 + sessionStorage 二级缓存，提升操作效率。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340096" y="4480560"/>
            <a:ext cx="5870448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C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504688" y="4608576"/>
            <a:ext cx="554126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13642"/>
                </a:solidFill>
                <a:latin typeface="Montserrat"/>
              </a:rPr>
              <a:t>风险与应对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504688" y="4919472"/>
            <a:ext cx="5541264" cy="9418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80" b="0">
                <a:solidFill>
                  <a:srgbClr val="394952"/>
                </a:solidFill>
                <a:latin typeface="Montserrat"/>
              </a:rPr>
              <a:t>风险点集中在跨服务协同与消息一致性；本项目通过服务边界清晰化、异步解耦与审计留痕降低问题定位成本。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679631" y="6327648"/>
            <a:ext cx="34747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533327" y="0"/>
            <a:ext cx="658368" cy="6858000"/>
          </a:xfrm>
          <a:prstGeom prst="rect">
            <a:avLst/>
          </a:prstGeom>
          <a:solidFill>
            <a:srgbClr val="818E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533327" y="502920"/>
            <a:ext cx="146304" cy="1325880"/>
          </a:xfrm>
          <a:prstGeom prst="rect">
            <a:avLst/>
          </a:prstGeom>
          <a:solidFill>
            <a:srgbClr val="9B97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347472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567483"/>
                </a:solidFill>
                <a:latin typeface="Montserrat"/>
              </a:rPr>
              <a:t>PART 05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493776"/>
            <a:ext cx="1097280" cy="0"/>
          </a:xfrm>
          <a:prstGeom prst="line">
            <a:avLst/>
          </a:prstGeom>
          <a:ln w="15240">
            <a:solidFill>
              <a:srgbClr val="6A8F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384048" y="566928"/>
            <a:ext cx="621792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213642"/>
                </a:solidFill>
                <a:latin typeface="Montserrat"/>
              </a:rPr>
              <a:t>项目总结与展望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1097280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788991"/>
                </a:solidFill>
                <a:latin typeface="Montserrat"/>
              </a:rPr>
              <a:t>沉淀了可落地的研发协同范式，也保留了后续扩展空间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4048" y="1371600"/>
            <a:ext cx="10515600" cy="1024128"/>
          </a:xfrm>
          <a:prstGeom prst="roundRect">
            <a:avLst>
              <a:gd name="adj" fmla="val 8000"/>
            </a:avLst>
          </a:prstGeom>
          <a:solidFill>
            <a:srgbClr val="DEE8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" y="1627632"/>
            <a:ext cx="100584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567483"/>
                </a:solidFill>
                <a:latin typeface="Montserrat"/>
              </a:rPr>
              <a:t>SoftManage 的核心成果是：把软件项目管理从“记录工具”升级为“可驱动、可恢复、可审计、可度量”的流程系统。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2743200"/>
            <a:ext cx="1874519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C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852928"/>
            <a:ext cx="154533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213642"/>
                </a:solidFill>
                <a:latin typeface="Montserrat"/>
              </a:rPr>
              <a:t>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200400"/>
            <a:ext cx="1545335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88991"/>
                </a:solidFill>
                <a:latin typeface="Montserrat"/>
              </a:rPr>
              <a:t>微服务模块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514599" y="2743200"/>
            <a:ext cx="1874519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C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79191" y="2852928"/>
            <a:ext cx="154533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213642"/>
                </a:solidFill>
                <a:latin typeface="Montserrat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79191" y="3200400"/>
            <a:ext cx="1545335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88991"/>
                </a:solidFill>
                <a:latin typeface="Montserrat"/>
              </a:rPr>
              <a:t>独立数据库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99430" y="2743200"/>
            <a:ext cx="1874519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C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64022" y="2852928"/>
            <a:ext cx="154533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213642"/>
                </a:solidFill>
                <a:latin typeface="Montserrat"/>
              </a:rPr>
              <a:t>8+4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64022" y="3200400"/>
            <a:ext cx="1545335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88991"/>
                </a:solidFill>
                <a:latin typeface="Montserrat"/>
              </a:rPr>
              <a:t>主状态 / 异常流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84261" y="2743200"/>
            <a:ext cx="1874519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C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48853" y="2852928"/>
            <a:ext cx="154533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213642"/>
                </a:solidFill>
                <a:latin typeface="Montserrat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48853" y="3200400"/>
            <a:ext cx="1545335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88991"/>
                </a:solidFill>
                <a:latin typeface="Montserrat"/>
              </a:rPr>
              <a:t>角色协同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769092" y="2743200"/>
            <a:ext cx="1874519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C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33684" y="2852928"/>
            <a:ext cx="154533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213642"/>
                </a:solidFill>
                <a:latin typeface="Montserrat"/>
              </a:rPr>
              <a:t>96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33684" y="3200400"/>
            <a:ext cx="1545335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88991"/>
                </a:solidFill>
                <a:latin typeface="Montserrat"/>
              </a:rPr>
              <a:t>Java 文件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84048" y="4023360"/>
            <a:ext cx="507492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C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687568" y="4023360"/>
            <a:ext cx="521208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C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4187952"/>
            <a:ext cx="438912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13642"/>
                </a:solidFill>
                <a:latin typeface="Montserrat"/>
              </a:rPr>
              <a:t>本次项目收获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4480560"/>
            <a:ext cx="4572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19">
                <a:solidFill>
                  <a:srgbClr val="394952"/>
                </a:solidFill>
                <a:latin typeface="Montserrat"/>
              </a:rPr>
              <a:t>• 完成从需求到发布的完整业务闭环设计</a:t>
            </a:r>
          </a:p>
          <a:p>
            <a:pPr algn="l"/>
            <a:r>
              <a:rPr sz="1019" b="0">
                <a:solidFill>
                  <a:srgbClr val="394952"/>
                </a:solidFill>
                <a:latin typeface="Montserrat"/>
              </a:rPr>
              <a:t>• 验证了微服务拆分与数据库隔离的可行性</a:t>
            </a:r>
          </a:p>
          <a:p>
            <a:pPr algn="l"/>
            <a:r>
              <a:rPr sz="1019" b="0">
                <a:solidFill>
                  <a:srgbClr val="394952"/>
                </a:solidFill>
                <a:latin typeface="Montserrat"/>
              </a:rPr>
              <a:t>• 沉淀了状态机与异常回溯的实现经验</a:t>
            </a:r>
          </a:p>
          <a:p>
            <a:pPr algn="l"/>
            <a:r>
              <a:rPr sz="1019" b="0">
                <a:solidFill>
                  <a:srgbClr val="394952"/>
                </a:solidFill>
                <a:latin typeface="Montserrat"/>
              </a:rPr>
              <a:t>• 形成了前后端协同与可视化表达能力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52160" y="4187952"/>
            <a:ext cx="438912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13642"/>
                </a:solidFill>
                <a:latin typeface="Montserrat"/>
              </a:rPr>
              <a:t>未来展望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52160" y="4480560"/>
            <a:ext cx="466344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19">
                <a:solidFill>
                  <a:srgbClr val="394952"/>
                </a:solidFill>
                <a:latin typeface="Montserrat"/>
              </a:rPr>
              <a:t>• 接入更完善的自动化测试与 CI/CD 流程</a:t>
            </a:r>
          </a:p>
          <a:p>
            <a:pPr algn="l"/>
            <a:r>
              <a:rPr sz="1019" b="0">
                <a:solidFill>
                  <a:srgbClr val="394952"/>
                </a:solidFill>
                <a:latin typeface="Montserrat"/>
              </a:rPr>
              <a:t>• 扩展工作流模板配置能力，支持更多业务场景</a:t>
            </a:r>
          </a:p>
          <a:p>
            <a:pPr algn="l"/>
            <a:r>
              <a:rPr sz="1019" b="0">
                <a:solidFill>
                  <a:srgbClr val="394952"/>
                </a:solidFill>
                <a:latin typeface="Montserrat"/>
              </a:rPr>
              <a:t>• 增强消息可靠性与可观测性，完善监控告警</a:t>
            </a:r>
          </a:p>
          <a:p>
            <a:pPr algn="l"/>
            <a:r>
              <a:rPr sz="1019" b="0">
                <a:solidFill>
                  <a:srgbClr val="394952"/>
                </a:solidFill>
                <a:latin typeface="Montserrat"/>
              </a:rPr>
              <a:t>• 优化移动端适配与更细粒度权限模型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4048" y="6163056"/>
            <a:ext cx="10424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213642"/>
                </a:solidFill>
                <a:latin typeface="Montserrat"/>
              </a:rPr>
              <a:t>感谢各位老师批评指正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679631" y="6327648"/>
            <a:ext cx="34747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