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601200" y="0"/>
            <a:ext cx="2514600" cy="10972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0" y="3474720"/>
            <a:ext cx="2194560" cy="2194560"/>
          </a:xfrm>
          <a:prstGeom prst="ellipse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698480" y="5212080"/>
            <a:ext cx="1463040" cy="1463040"/>
          </a:xfrm>
          <a:prstGeom prst="ellipse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136" y="2011680"/>
            <a:ext cx="9592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07800"/>
                </a:solidFill>
                <a:latin typeface="黑体"/>
              </a:rPr>
              <a:t>SoftManage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1136" y="3017520"/>
            <a:ext cx="95920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0DC"/>
                </a:solidFill>
                <a:latin typeface="黑体"/>
              </a:rPr>
              <a:t>软件项目管理系统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58568" y="3675887"/>
            <a:ext cx="7680960" cy="36576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3785615"/>
            <a:ext cx="9592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89080"/>
                </a:solidFill>
                <a:latin typeface="微软雅黑"/>
              </a:rPr>
              <a:t>毕业设计答辩报告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58568" y="4389120"/>
            <a:ext cx="2194560" cy="685800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58568" y="4389120"/>
            <a:ext cx="54864" cy="6858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44256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07800"/>
                </a:solidFill>
                <a:latin typeface="黑体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448" y="47548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微服务模块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6008" y="4389120"/>
            <a:ext cx="2194560" cy="685800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6008" y="4389120"/>
            <a:ext cx="54864" cy="6858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8888" y="44256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07800"/>
                </a:solidFill>
                <a:latin typeface="黑体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8888" y="47548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独立数据库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13448" y="4389120"/>
            <a:ext cx="2194560" cy="685800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13448" y="4389120"/>
            <a:ext cx="54864" cy="6858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96328" y="44256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07800"/>
                </a:solidFill>
                <a:latin typeface="黑体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47548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角色权限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90888" y="4389120"/>
            <a:ext cx="2194560" cy="685800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90888" y="4389120"/>
            <a:ext cx="54864" cy="6858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3768" y="44256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07800"/>
                </a:solidFill>
                <a:latin typeface="黑体"/>
              </a:rPr>
              <a:t>8+4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475488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状态/异常流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5925312"/>
            <a:ext cx="11384280" cy="36576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2336" y="6035040"/>
            <a:ext cx="6858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89080"/>
                </a:solidFill>
                <a:latin typeface="微软雅黑"/>
              </a:rPr>
              <a:t>Spring Boot 3 · Vue 3 · Gateway · Redis · RabbitMQ · MySQL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8" y="6035040"/>
            <a:ext cx="52395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989080"/>
                </a:solidFill>
                <a:latin typeface="微软雅黑"/>
              </a:rPr>
              <a:t>西南大学  计算机学院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01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82880"/>
            <a:ext cx="10744200" cy="59436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8288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2A32"/>
                </a:solidFill>
                <a:latin typeface="黑体"/>
              </a:rPr>
              <a:t>CONTENTS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82880"/>
            <a:ext cx="5943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2A2A32"/>
                </a:solidFill>
                <a:latin typeface="微软雅黑"/>
              </a:rPr>
              <a:t>答辩目录  ·  15页全程导览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960120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960120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10332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0332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项目概述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325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背景·目标·核心价值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161288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161288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682496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1682496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17556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175564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系统架构设计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2048256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微服务拓扑·通信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883664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1883664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2404872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2404872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24780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247802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认证与安全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2770632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JWT+网关过滤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2606040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2606040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3127248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3127248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25880" y="32004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32004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状态机工作流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493008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8状态·4异常流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328416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328416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3849624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" y="3849624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25880" y="392277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392277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任务看板与缓存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215384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Redis+看板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050791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4050791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43000" y="4572000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" y="4572000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5880" y="464515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6451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报表与甘特图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20240" y="493776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ECharts可视化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4773168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0" y="4773168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5294376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43000" y="5294376"/>
            <a:ext cx="73152" cy="6583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25880" y="536752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7800"/>
                </a:solidFill>
                <a:latin typeface="黑体"/>
              </a:rPr>
              <a:t>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536752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通知与审计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20240" y="5660136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RabbitMQ异步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0" y="5495544"/>
            <a:ext cx="256032" cy="20116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0" y="5495544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960120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960120"/>
            <a:ext cx="73152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0" y="10332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86208"/>
                </a:solidFill>
                <a:latin typeface="黑体"/>
              </a:rP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103327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四角色矩阵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132588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PM/DEV/TEST/ADMIN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201400" y="1161288"/>
            <a:ext cx="256032" cy="2011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1400" y="1161288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1682496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00800" y="1682496"/>
            <a:ext cx="73152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0" y="17556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86208"/>
                </a:solidFill>
                <a:latin typeface="黑体"/>
              </a:rPr>
              <a:t>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78040" y="1755648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数据库设计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2048256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6库独立+核心实体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201400" y="1883664"/>
            <a:ext cx="256032" cy="2011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201400" y="1883664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11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2404872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00800" y="2404872"/>
            <a:ext cx="73152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83680" y="24780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86208"/>
                </a:solidFill>
                <a:latin typeface="黑体"/>
              </a:rP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78040" y="247802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前端工程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78040" y="2770632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Vue3+Pinia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1201400" y="2606040"/>
            <a:ext cx="256032" cy="2011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01400" y="2606040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12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00800" y="3127248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3127248"/>
            <a:ext cx="73152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83680" y="32004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86208"/>
                </a:solidFill>
                <a:latin typeface="黑体"/>
              </a:rPr>
              <a:t>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78040" y="320040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核心技术亮点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78040" y="3493008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三大技术创新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1201400" y="3328416"/>
            <a:ext cx="256032" cy="2011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201400" y="3328416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13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00800" y="3849624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00800" y="3849624"/>
            <a:ext cx="73152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83680" y="392277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86208"/>
                </a:solidFill>
                <a:latin typeface="黑体"/>
              </a:rPr>
              <a:t>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392277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测试与优化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78040" y="4215384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性能验证报告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1201400" y="4050791"/>
            <a:ext cx="256032" cy="2011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201400" y="4050791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14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400800" y="4572000"/>
            <a:ext cx="5029200" cy="658368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400800" y="4572000"/>
            <a:ext cx="73152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83680" y="464515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86208"/>
                </a:solidFill>
                <a:latin typeface="黑体"/>
              </a:rPr>
              <a:t>13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78040" y="46451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0DC"/>
                </a:solidFill>
                <a:latin typeface="黑体"/>
              </a:rPr>
              <a:t>运行展示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178040" y="493776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关键页面功能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201400" y="4773168"/>
            <a:ext cx="256032" cy="2011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201400" y="4773168"/>
            <a:ext cx="256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A2A32"/>
                </a:solidFill>
                <a:latin typeface="黑体"/>
              </a:rPr>
              <a:t>15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01  ·  项目概述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背景、目标与核心价值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143000"/>
            <a:ext cx="6583680" cy="12344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1143000"/>
            <a:ext cx="91440" cy="12344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123444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📌 研究背景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527048"/>
            <a:ext cx="630936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1581912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软件工程团队普遍面临任务状态混乱、跨角色协作低效、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异常流程无法追踪等痛点。现有工具（如 Jira）功能分散、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定制化不足，缺乏完整闭环验证机制。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2487168"/>
            <a:ext cx="6583680" cy="11430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2487168"/>
            <a:ext cx="91440" cy="1143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2578608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🎯 项目目标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34440" y="2871216"/>
            <a:ext cx="630936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292608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构建面向软件研发全生命周期的微服务管理平台，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覆盖 需求→开发→测试→发布 全流程，以状态机驱动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流转、MQ 解耦通信、多角色权限管控为核心设计理念。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3749039"/>
            <a:ext cx="6583680" cy="16459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3749039"/>
            <a:ext cx="91440" cy="16459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3840479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💡 核心价值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4133087"/>
            <a:ext cx="630936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4187952"/>
            <a:ext cx="6217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统一状态机引擎，8状态+4异常流，精准闭环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微服务独立部署，6数据库隔离，高内聚低耦合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角色驱动 UI，PM/DEV/TEST/ADMIN 各司其职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Redis 双级缓存 + RabbitMQ 异步，提升响应效率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114300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07800"/>
                </a:solidFill>
                <a:latin typeface="微软雅黑"/>
              </a:rPr>
              <a:t>「需求驱动 · 状态流转 · 全程可追溯」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1554480"/>
            <a:ext cx="4023360" cy="10058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09560" y="1554480"/>
            <a:ext cx="91440" cy="10058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16276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148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Java 源文件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2697480"/>
            <a:ext cx="4023360" cy="10058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2697480"/>
            <a:ext cx="91440" cy="10058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27706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3291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Vue/JS 组件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09560" y="3840480"/>
            <a:ext cx="4023360" cy="10058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9560" y="3840480"/>
            <a:ext cx="91440" cy="10058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39136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434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总文件数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83480"/>
            <a:ext cx="4023360" cy="10058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4983480"/>
            <a:ext cx="91440" cy="10058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505663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独立数据库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02  ·  系统架构设计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微服务拓扑 · 分层通信 · 职责边界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143000"/>
            <a:ext cx="108356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1143000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1307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前端层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1316736"/>
            <a:ext cx="8869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Vue 3 + Pinia  ·  Element Plus  ·  ECharts  ·  Axios / Router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1874519"/>
            <a:ext cx="10835640" cy="658368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1874519"/>
            <a:ext cx="109728" cy="65836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20391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6208"/>
                </a:solidFill>
                <a:latin typeface="黑体"/>
              </a:rPr>
              <a:t>网关层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066543"/>
            <a:ext cx="8869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API Gateway (port 8080)  ·  JWT 全局过滤  ·  路由转发  ·  限流保护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2651760"/>
            <a:ext cx="1083564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2651760"/>
            <a:ext cx="109728" cy="9601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2816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6208"/>
                </a:solidFill>
                <a:latin typeface="黑体"/>
              </a:rPr>
              <a:t>服务层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2994660"/>
            <a:ext cx="8869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sm-auth 8001 · sm-task 8002 · sm-workflow 8003 · sm-report 8004 · sm-notify 8005 · sm-audit 8006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3749039"/>
            <a:ext cx="10835640" cy="71323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97280" y="3749039"/>
            <a:ext cx="109728" cy="71323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391363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6208"/>
                </a:solidFill>
                <a:latin typeface="黑体"/>
              </a:rPr>
              <a:t>数据层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968496"/>
            <a:ext cx="8869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auth_db · task_db · workflow_db · report_db · notification_db · audit_db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572000"/>
            <a:ext cx="10835640" cy="6400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97280" y="4572000"/>
            <a:ext cx="109728" cy="640080"/>
          </a:xfrm>
          <a:prstGeom prst="rect">
            <a:avLst/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47365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3842"/>
                </a:solidFill>
                <a:latin typeface="黑体"/>
              </a:rPr>
              <a:t>基础设施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754880"/>
            <a:ext cx="8869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MySQL 8.0  ·  Redis (5min TTL)  ·  RabbitMQ  ·  JWT + BCrypt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0" y="3630168"/>
            <a:ext cx="10835640" cy="914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349300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◀──  RabbitMQ 消息总线  (workflow / notification / audit exchange)  ──▶</a:t>
            </a:r>
          </a:p>
        </p:txBody>
      </p:sp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03  ·  认证与安全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JWT · BCrypt · 网关过滤器 · 白名单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7800"/>
                </a:solidFill>
                <a:latin typeface="黑体"/>
              </a:rPr>
              <a:t>JWT 认证流程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508760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16184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① 用户登录请求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71800" y="2039112"/>
            <a:ext cx="54864" cy="12801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" y="2167128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27685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② 校验账密 + BCrypt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697480"/>
            <a:ext cx="54864" cy="12801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7280" y="2825496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293522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A2A32"/>
                </a:solidFill>
                <a:latin typeface="微软雅黑"/>
              </a:rPr>
              <a:t>③ 签发 JWT Token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3355848"/>
            <a:ext cx="54864" cy="12801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3483864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35935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④ 请求携带 Bearer Token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4014215"/>
            <a:ext cx="54864" cy="12801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97280" y="4142231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34440" y="425195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A2A32"/>
                </a:solidFill>
                <a:latin typeface="微软雅黑"/>
              </a:rPr>
              <a:t>⑤ Gateway JWT 全局过滤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71800" y="4672583"/>
            <a:ext cx="54864" cy="12801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97280" y="4800600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49103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⑥ 解析 Claims 注入 Header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71800" y="5330952"/>
            <a:ext cx="54864" cy="12801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97280" y="5458968"/>
            <a:ext cx="3931920" cy="53035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34440" y="55686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AF0DC"/>
                </a:solidFill>
                <a:latin typeface="微软雅黑"/>
              </a:rPr>
              <a:t>⑦ 下游服务读取用户信息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0" y="1143000"/>
            <a:ext cx="6309360" cy="15544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125272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Gateway JwtAuthFilter 要点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1545336"/>
            <a:ext cx="612648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0680" y="1618488"/>
            <a:ext cx="6080760" cy="1078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路径白名单放行（/auth/login 等）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非白名单路径强制验证 Token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解析 Claims → X-User-Id / X-Role Header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Order=-100 确保最先执行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2834640"/>
            <a:ext cx="6309360" cy="14630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294436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JWT Payload 设计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236976"/>
            <a:ext cx="612648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3310128"/>
            <a:ext cx="60807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Token 包含: userId / username / role / exp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HmacSHA256 签名，密钥由配置注入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过期后返回 401 JSON 标准响应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03520" y="4389120"/>
            <a:ext cx="6309360" cy="14630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40680" y="449884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密码安全与角色体系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4959" y="4791456"/>
            <a:ext cx="612648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40680" y="4864608"/>
            <a:ext cx="6080760" cy="98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BCrypt 哈希存储，不可逆加密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Spring Security 配置 RBAC 路由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角色: ADMIN / PM / DEV / TEST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04  ·  状态机工作流引擎 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8状态 · 4异常流 · 阻塞恢复 · 闭环验证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A2A32"/>
                </a:solidFill>
                <a:latin typeface="微软雅黑"/>
              </a:rPr>
              <a:t>需求管理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2304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32304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AF0DC"/>
                </a:solidFill>
                <a:latin typeface="微软雅黑"/>
              </a:rPr>
              <a:t>任务准备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66744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767328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67328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AF0DC"/>
                </a:solidFill>
                <a:latin typeface="微软雅黑"/>
              </a:rPr>
              <a:t>开发中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1768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02352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2352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AF0DC"/>
                </a:solidFill>
                <a:latin typeface="微软雅黑"/>
              </a:rPr>
              <a:t>待评审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792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376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AF0DC"/>
                </a:solidFill>
                <a:latin typeface="微软雅黑"/>
              </a:rPr>
              <a:t>测试中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1816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72400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AF0DC"/>
                </a:solidFill>
                <a:latin typeface="微软雅黑"/>
              </a:rPr>
              <a:t>待发布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07424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07424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AF0DC"/>
                </a:solidFill>
                <a:latin typeface="微软雅黑"/>
              </a:rPr>
              <a:t>已上线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41863" y="1353312"/>
            <a:ext cx="100584" cy="36576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42447" y="1170432"/>
            <a:ext cx="1234440" cy="402336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42447" y="1225296"/>
            <a:ext cx="1234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A2A32"/>
                </a:solidFill>
                <a:latin typeface="微软雅黑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1719072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86208"/>
                </a:solidFill>
                <a:latin typeface="微软雅黑"/>
              </a:rPr>
              <a:t>◀ 异常回退流 (4种)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7280" y="1993392"/>
            <a:ext cx="237744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97280" y="1993392"/>
            <a:ext cx="73152" cy="5486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61872" y="20299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评审驳回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1872" y="22585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待评审 → 开发中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1993392"/>
            <a:ext cx="237744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03320" y="1993392"/>
            <a:ext cx="73152" cy="5486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67911" y="20299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测试失败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7911" y="22585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测试中 → 开发中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1993392"/>
            <a:ext cx="237744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1993392"/>
            <a:ext cx="73152" cy="5486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3952" y="20299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发布拒绝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22585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待发布 → 测试中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15400" y="1993392"/>
            <a:ext cx="237744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15400" y="1993392"/>
            <a:ext cx="73152" cy="5486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79992" y="20299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任务阻塞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9992" y="225856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89080"/>
                </a:solidFill>
                <a:latin typeface="微软雅黑"/>
              </a:rPr>
              <a:t>任意→BLOCKED→精确恢复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27614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闭环验证链（4步骤）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97280" y="3090672"/>
            <a:ext cx="1572768" cy="685800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52144" y="3136392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2A2A32"/>
                </a:solidFill>
                <a:latin typeface="微软雅黑"/>
              </a:rPr>
              <a:t>异常触发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70048" y="336499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852928" y="3090672"/>
            <a:ext cx="1572768" cy="6858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07792" y="3136392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异常记录创建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Step 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25696" y="336499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608576" y="3090672"/>
            <a:ext cx="1572768" cy="6858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63440" y="3136392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修复完成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Step 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81344" y="336499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64224" y="3090672"/>
            <a:ext cx="1572768" cy="6858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9088" y="3136392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评审通过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Step 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936992" y="336499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119871" y="3090672"/>
            <a:ext cx="1572768" cy="6858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3136392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测试通过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FAF0DC"/>
                </a:solidFill>
                <a:latin typeface="微软雅黑"/>
              </a:rPr>
              <a:t>Step 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92640" y="336499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875519" y="3090672"/>
            <a:ext cx="1572768" cy="685800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30384" y="3136392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2A2A32"/>
                </a:solidFill>
                <a:latin typeface="微软雅黑"/>
              </a:rPr>
              <a:t>闭环完成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97280" y="3977639"/>
            <a:ext cx="10835640" cy="14173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97280" y="3977639"/>
            <a:ext cx="91440" cy="1417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25880" y="404164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WorkflowEngine 核心方法设计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25880" y="43434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transitionTask(): 规则校验 → 角色验证 → 历史记录 → MQ 发送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blockTask(): 保存 previousState，支持精确恢复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unblockTask(): 读取 previousState 恢复原始状态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handleException(): 自动创建 ClosureChain 四步骤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05  ·  任务看板与缓存策略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Redis 双级缓存 · 看板 Kanban · 任务分配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📋 看板视图设计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444752"/>
            <a:ext cx="1417320" cy="25603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1444752"/>
            <a:ext cx="1417320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1481328"/>
            <a:ext cx="1417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A2A32"/>
                </a:solidFill>
                <a:latin typeface="黑体"/>
              </a:rPr>
              <a:t>待开发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70432" y="1792224"/>
            <a:ext cx="1271016" cy="365760"/>
          </a:xfrm>
          <a:prstGeom prst="roundRect">
            <a:avLst>
              <a:gd name="adj" fmla="val 500000000"/>
            </a:avLst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7" y="1865376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Task-1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" y="2249424"/>
            <a:ext cx="1271016" cy="365760"/>
          </a:xfrm>
          <a:prstGeom prst="roundRect">
            <a:avLst>
              <a:gd name="adj" fmla="val 500000000"/>
            </a:avLst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7" y="2322576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Task-2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70048" y="1444752"/>
            <a:ext cx="1417320" cy="25603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70048" y="1444752"/>
            <a:ext cx="141732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0048" y="1481328"/>
            <a:ext cx="1417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A2A32"/>
                </a:solidFill>
                <a:latin typeface="黑体"/>
              </a:rPr>
              <a:t>开发中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1792224"/>
            <a:ext cx="1271016" cy="365760"/>
          </a:xfrm>
          <a:prstGeom prst="roundRect">
            <a:avLst>
              <a:gd name="adj" fmla="val 500000000"/>
            </a:avLst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1865376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Task-3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2249424"/>
            <a:ext cx="1271016" cy="365760"/>
          </a:xfrm>
          <a:prstGeom prst="roundRect">
            <a:avLst>
              <a:gd name="adj" fmla="val 500000000"/>
            </a:avLst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9776" y="2322576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Task-4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42816" y="1444752"/>
            <a:ext cx="1417320" cy="25603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42816" y="1444752"/>
            <a:ext cx="141732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1481328"/>
            <a:ext cx="1417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A2A32"/>
                </a:solidFill>
                <a:latin typeface="黑体"/>
              </a:rPr>
              <a:t>待测试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1792224"/>
            <a:ext cx="1271016" cy="365760"/>
          </a:xfrm>
          <a:prstGeom prst="roundRect">
            <a:avLst>
              <a:gd name="adj" fmla="val 500000000"/>
            </a:avLst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52544" y="1865376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Task-5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15584" y="1444752"/>
            <a:ext cx="1417320" cy="25603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15584" y="1444752"/>
            <a:ext cx="141732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15584" y="1481328"/>
            <a:ext cx="1417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2A2A32"/>
                </a:solidFill>
                <a:latin typeface="黑体"/>
              </a:rPr>
              <a:t>已完成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88736" y="1792224"/>
            <a:ext cx="1271016" cy="365760"/>
          </a:xfrm>
          <a:prstGeom prst="roundRect">
            <a:avLst>
              <a:gd name="adj" fmla="val 500000000"/>
            </a:avLst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25312" y="1865376"/>
            <a:ext cx="1143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Task-7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096512"/>
            <a:ext cx="6126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按角色过滤 · 拖拽更新状态 · 实时刷新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44348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⚡ Redis 缓存策略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97280" y="4754880"/>
            <a:ext cx="2697480" cy="10972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97280" y="4754880"/>
            <a:ext cx="2697480" cy="2560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7007" y="479145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A2A32"/>
                </a:solidFill>
                <a:latin typeface="黑体"/>
              </a:rPr>
              <a:t>1. 前端 sessionStorage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7007" y="50749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二级缓存，减少重复请求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77639" y="4754880"/>
            <a:ext cx="2697480" cy="10972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77639" y="4754880"/>
            <a:ext cx="2697480" cy="2560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87368" y="479145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A2A32"/>
                </a:solidFill>
                <a:latin typeface="黑体"/>
              </a:rPr>
              <a:t>2. Redis 看板数据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87368" y="50749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TTL = 5min，自动失效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0" y="4754880"/>
            <a:ext cx="2697480" cy="10972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4754880"/>
            <a:ext cx="2697480" cy="2560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67728" y="479145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A2A32"/>
                </a:solidFill>
                <a:latin typeface="黑体"/>
              </a:rPr>
              <a:t>3. 任务变更触发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67728" y="50749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主动删除相关缓存 Key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738359" y="4754880"/>
            <a:ext cx="2697480" cy="10972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738359" y="4754880"/>
            <a:ext cx="2697480" cy="2560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7" y="479145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2A2A32"/>
                </a:solidFill>
                <a:latin typeface="黑体"/>
              </a:rPr>
              <a:t>4. 缓存穿透防护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8087" y="50749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空值缓存 + Key 规范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11430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🗂 任务服务功能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52360" y="1463040"/>
            <a:ext cx="43891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52360" y="1463040"/>
            <a:ext cx="73152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35240" y="15179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7800"/>
                </a:solidFill>
                <a:latin typeface="黑体"/>
              </a:rPr>
              <a:t>项目管理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179222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项目创建/归档/成员配置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52360" y="2176272"/>
            <a:ext cx="43891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0" y="2176272"/>
            <a:ext cx="73152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35240" y="22311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7800"/>
                </a:solidFill>
                <a:latin typeface="黑体"/>
              </a:rPr>
              <a:t>需求管理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2505456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需求录入、优先级、状态追踪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52360" y="2889504"/>
            <a:ext cx="43891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52360" y="2889504"/>
            <a:ext cx="73152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35240" y="29443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7800"/>
                </a:solidFill>
                <a:latin typeface="黑体"/>
              </a:rPr>
              <a:t>任务 CRUD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218688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创建/分配/更新/删除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52360" y="3602736"/>
            <a:ext cx="43891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452360" y="3602736"/>
            <a:ext cx="73152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635240" y="36576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7800"/>
                </a:solidFill>
                <a:latin typeface="黑体"/>
              </a:rPr>
              <a:t>任务分配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393192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按角色分配，工作量估算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452360" y="4315968"/>
            <a:ext cx="43891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0" y="4315968"/>
            <a:ext cx="73152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43708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7800"/>
                </a:solidFill>
                <a:latin typeface="黑体"/>
              </a:rPr>
              <a:t>缺陷跟踪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645152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BUG录入、关联任务、闭环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52360" y="5029200"/>
            <a:ext cx="43891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452360" y="5029200"/>
            <a:ext cx="73152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635240" y="508406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07800"/>
                </a:solidFill>
                <a:latin typeface="黑体"/>
              </a:rPr>
              <a:t>评论系统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535838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任务评论，时间轴展示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06  ·  报表服务与甘特图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仪表板 · 进度统计 · 甘特图 · 工作量分析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143000"/>
            <a:ext cx="5166360" cy="23774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1143000"/>
            <a:ext cx="5166360" cy="3200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39" y="11795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2A32"/>
                </a:solidFill>
                <a:latin typeface="黑体"/>
              </a:rPr>
              <a:t>📊 仪表板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39" y="152704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项目整体进度环形图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按状态任务统计柱形图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本周完成 vs 计划对比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异常率趋势折线图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ECharts 实时渲染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143000"/>
            <a:ext cx="5166360" cy="23774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143000"/>
            <a:ext cx="5166360" cy="3200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17957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2A32"/>
                </a:solidFill>
                <a:latin typeface="黑体"/>
              </a:rPr>
              <a:t>📅 甘特图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52704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任务时间轴可视化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开始/结束日期对应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状态颜色标注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支持多项目切换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GanttTask 实体驱动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3703320"/>
            <a:ext cx="5166360" cy="23774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7280" y="3703320"/>
            <a:ext cx="5166360" cy="3200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39" y="373989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2A32"/>
                </a:solidFill>
                <a:latin typeface="黑体"/>
              </a:rPr>
              <a:t>📈 进度统计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39" y="408736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ProgressSnapshot 快照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每日自动归档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MQ 事件触发更新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完成率 / 延期率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按成员/按模块聚合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703320"/>
            <a:ext cx="5166360" cy="23774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3703320"/>
            <a:ext cx="5166360" cy="3200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739896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2A32"/>
                </a:solidFill>
                <a:latin typeface="黑体"/>
              </a:rPr>
              <a:t>⚖ 工作量分析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087368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TeamWorkload 实体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人均工时统计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过载预警机制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角色维度对比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周/月报告导出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217920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89080"/>
                </a:solidFill>
                <a:latin typeface="微软雅黑"/>
              </a:rPr>
              <a:t>报表数据由 ReportEventListener 监听 MQ 消息自动更新，保证与任务状态实时一致</a:t>
            </a:r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07  ·  通知与审计服务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RabbitMQ 异步 · 邮件/系统通知 · 操作审计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🔔 通知服务  (sm-notification · port 8005)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481328"/>
            <a:ext cx="1600200" cy="457200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1554480"/>
            <a:ext cx="1490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A2A32"/>
                </a:solidFill>
                <a:latin typeface="微软雅黑"/>
              </a:rPr>
              <a:t>工作流引擎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167335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80360" y="1481328"/>
            <a:ext cx="1600200" cy="4572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1554480"/>
            <a:ext cx="1490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AF0DC"/>
                </a:solidFill>
                <a:latin typeface="微软雅黑"/>
              </a:rPr>
              <a:t>触发 MQ 事件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167335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1481328"/>
            <a:ext cx="1600200" cy="4572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18303" y="1554480"/>
            <a:ext cx="1490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AF0DC"/>
                </a:solidFill>
                <a:latin typeface="微软雅黑"/>
              </a:rPr>
              <a:t>通知 Exchange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67335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46520" y="1481328"/>
            <a:ext cx="1600200" cy="4572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3" y="1554480"/>
            <a:ext cx="1490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AF0DC"/>
                </a:solidFill>
                <a:latin typeface="微软雅黑"/>
              </a:rPr>
              <a:t>路由到对应 Queue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67335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0" y="1481328"/>
            <a:ext cx="1600200" cy="45720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4464" y="1554480"/>
            <a:ext cx="1490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AF0DC"/>
                </a:solidFill>
                <a:latin typeface="微软雅黑"/>
              </a:rPr>
              <a:t>NotificationListener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673352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012680" y="1481328"/>
            <a:ext cx="1600200" cy="457200"/>
          </a:xfrm>
          <a:prstGeom prst="roundRect">
            <a:avLst>
              <a:gd name="adj" fmla="val 500000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67544" y="1554480"/>
            <a:ext cx="1490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A2A32"/>
                </a:solidFill>
                <a:latin typeface="微软雅黑"/>
              </a:rPr>
              <a:t>消费消息 + 持久化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2103120"/>
            <a:ext cx="2834640" cy="7772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7280" y="2103120"/>
            <a:ext cx="91440" cy="7772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98448" y="21762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系统通知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站内消息存储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06240" y="2103120"/>
            <a:ext cx="2834640" cy="7772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2103120"/>
            <a:ext cx="91440" cy="7772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7407" y="217627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邮件通知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7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SMTP 发送邮件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2999232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89080"/>
                </a:solidFill>
                <a:latin typeface="微软雅黑"/>
              </a:rPr>
              <a:t>支持通知类型: 状态变更 · 评审结果 · 测试结果 · 发布结果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347472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📋 审计服务  (sm-audit · port 8006)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97280" y="3840480"/>
            <a:ext cx="6126480" cy="5029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7280" y="3840480"/>
            <a:ext cx="73152" cy="5029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61872" y="39502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7632" y="389534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操作日志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7632" y="411480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记录所有 API 操作：时间、用户、操作类型、结果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97280" y="4434840"/>
            <a:ext cx="6126480" cy="5029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97280" y="4434840"/>
            <a:ext cx="73152" cy="5029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61872" y="454456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27632" y="448970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数据变更记录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7632" y="470916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字段级变更追踪 (before/after JSON)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97280" y="5029200"/>
            <a:ext cx="6126480" cy="5029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" y="5029200"/>
            <a:ext cx="73152" cy="5029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61872" y="51389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工作流审计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30352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每次状态转移触发 workflow.transition 事件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97280" y="5623560"/>
            <a:ext cx="6126480" cy="5029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97280" y="5623560"/>
            <a:ext cx="73152" cy="5029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61872" y="573328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27632" y="567842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审计配置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27632" y="589788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可配置审计级别（全量/敏感操作）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52360" y="1143000"/>
            <a:ext cx="4389120" cy="50749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0" y="1143000"/>
            <a:ext cx="91440" cy="50749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35240" y="12070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技术设计亮点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1572768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MQ 异步解耦，不阻塞主流程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Exchange/Queue 路由精准分发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通知记录持久化入库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邮件与站内双通道推送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AOP 切面拦截所有操作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字段级 before/after 对比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审计数据可用于合规检查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● 问题溯源和安全审查支撑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审计数据可用于合规检查、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问题溯源和安全审查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08  ·  四角色功能矩阵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PM · DEV · TEST · ADMIN — 权限隔离 · 各司其职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143000"/>
            <a:ext cx="24688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1143000"/>
            <a:ext cx="2468880" cy="7315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7" y="11704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A2A32"/>
                </a:solidFill>
                <a:latin typeface="黑体"/>
              </a:rPr>
              <a:t>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15361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32"/>
                </a:solidFill>
                <a:latin typeface="微软雅黑"/>
              </a:rPr>
              <a:t>项目经理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1956816"/>
            <a:ext cx="2286000" cy="2560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19568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07800"/>
                </a:solidFill>
                <a:latin typeface="微软雅黑"/>
              </a:rPr>
              <a:t>全平台访问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39" y="2286000"/>
            <a:ext cx="2240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仪表板总览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看板管理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甘特图编排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需求管理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任务分配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工作流配置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发布审批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22191" y="1143000"/>
            <a:ext cx="24688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22191" y="1143000"/>
            <a:ext cx="2468880" cy="7315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11704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A2A32"/>
                </a:solidFill>
                <a:latin typeface="黑体"/>
              </a:rPr>
              <a:t>DEV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15361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32"/>
                </a:solidFill>
                <a:latin typeface="微软雅黑"/>
              </a:rPr>
              <a:t>开发人员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13631" y="1956816"/>
            <a:ext cx="2286000" cy="2560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13631" y="19568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07800"/>
                </a:solidFill>
                <a:latin typeface="微软雅黑"/>
              </a:rPr>
              <a:t>开发视角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9352" y="2286000"/>
            <a:ext cx="2240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我的任务列表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代码提交记录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评审状态查看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工作量统计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状态转移: 提交评审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47104" y="1143000"/>
            <a:ext cx="24688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47104" y="1143000"/>
            <a:ext cx="2468880" cy="7315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11704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A2A32"/>
                </a:solidFill>
                <a:latin typeface="黑体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15361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32"/>
                </a:solidFill>
                <a:latin typeface="微软雅黑"/>
              </a:rPr>
              <a:t>测试人员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38544" y="1956816"/>
            <a:ext cx="2286000" cy="2560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38544" y="19568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07800"/>
                </a:solidFill>
                <a:latin typeface="微软雅黑"/>
              </a:rPr>
              <a:t>测试视角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2286000"/>
            <a:ext cx="2240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测试任务列表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测试执行记录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缺陷报告管理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闭环验证操作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状态: 通过/失败测试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72015" y="1143000"/>
            <a:ext cx="24688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72015" y="1143000"/>
            <a:ext cx="2468880" cy="7315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1743" y="11704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A2A32"/>
                </a:solidFill>
                <a:latin typeface="黑体"/>
              </a:rPr>
              <a:t>ADMIN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1743" y="15361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32"/>
                </a:solidFill>
                <a:latin typeface="微软雅黑"/>
              </a:rPr>
              <a:t>管理员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63455" y="1956816"/>
            <a:ext cx="2286000" cy="2560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63455" y="195681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F07800"/>
                </a:solidFill>
                <a:latin typeface="微软雅黑"/>
              </a:rPr>
              <a:t>系统管理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9176" y="2286000"/>
            <a:ext cx="2240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发布流程审批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用户账户管理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权限角色配置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系统操作日志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AF0DC"/>
                </a:solidFill>
                <a:latin typeface="微软雅黑"/>
              </a:rPr>
              <a:t>● 审计数据查看</a:t>
            </a:r>
          </a:p>
        </p:txBody>
      </p:sp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09  ·  数据库设计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6库隔离 · 核心实体 · 索引策略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7800"/>
                </a:solidFill>
                <a:latin typeface="黑体"/>
              </a:rPr>
              <a:t>6个独立数据库隔离设计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481328"/>
            <a:ext cx="60350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1481328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15361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auth_db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554480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用户/角色/权限/会话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2231136"/>
            <a:ext cx="60350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2231136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22860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task_db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304288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项目/需求/任务/缺陷/评论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2980944"/>
            <a:ext cx="60350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2980944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303580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workflow_db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05409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流程定义/转移规则/历史/阻塞/异常/闭环链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3730752"/>
            <a:ext cx="60350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" y="3730752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3785615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report_db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380390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进度快照/工作量/异常统计/甘特数据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480560"/>
            <a:ext cx="60350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7280" y="4480560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45354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notification_db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553712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通知记录/模板/用户设置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5230368"/>
            <a:ext cx="603504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7280" y="5230368"/>
            <a:ext cx="109728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25880" y="52852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audit_db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303520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审计日志/数据变更/审计配置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11430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07800"/>
                </a:solidFill>
                <a:latin typeface="黑体"/>
              </a:rPr>
              <a:t>核心实体关系（workflow_db）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60920" y="1481328"/>
            <a:ext cx="4572000" cy="8229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60920" y="1481328"/>
            <a:ext cx="457200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52360" y="1508760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A2A32"/>
                </a:solidFill>
                <a:latin typeface="黑体"/>
              </a:rPr>
              <a:t>WorkflowDefinition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2360" y="1792224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id · workflow_code · version · status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60920" y="2414016"/>
            <a:ext cx="4572000" cy="8229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60920" y="2414016"/>
            <a:ext cx="457200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2360" y="2441448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A2A32"/>
                </a:solidFill>
                <a:latin typeface="黑体"/>
              </a:rPr>
              <a:t>StateTransitionRule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2724912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id · workflow_id(FK) · from_state · to_state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action_code · required_role · is_exception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60920" y="3346704"/>
            <a:ext cx="4572000" cy="8229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60920" y="3346704"/>
            <a:ext cx="457200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52360" y="3374136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A2A32"/>
                </a:solidFill>
                <a:latin typeface="黑体"/>
              </a:rPr>
              <a:t>TaskStateHistory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52360" y="3657600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id · task_id · from_state · to_state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operator_id · duration_minutes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60920" y="4279392"/>
            <a:ext cx="4572000" cy="8229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60920" y="4279392"/>
            <a:ext cx="457200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52360" y="4306824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A2A32"/>
                </a:solidFill>
                <a:latin typeface="黑体"/>
              </a:rPr>
              <a:t>TaskBlockage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2360" y="4590288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id · task_id · previous_state⭐ · block_reason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status · resolved_at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60920" y="5212080"/>
            <a:ext cx="4572000" cy="8229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360920" y="5212080"/>
            <a:ext cx="4572000" cy="274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52360" y="5239512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2A2A32"/>
                </a:solidFill>
                <a:latin typeface="黑体"/>
              </a:rPr>
              <a:t>ClosureChain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52360" y="5522976"/>
            <a:ext cx="4389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id · task_id · exception_id(FK)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989080"/>
                </a:solidFill>
                <a:latin typeface="微软雅黑"/>
              </a:rPr>
              <a:t>step1~4_done · chain_status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10  ·  前端工程设计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Vue 3 · Pinia · Element Plus · ECharts · 多角色视图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🏗 工程架构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481328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1481328"/>
            <a:ext cx="91440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" y="15361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pages/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554480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PM · DEV · TEST · ADMIN · Login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2194560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2194560"/>
            <a:ext cx="91440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8448" y="224942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api/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267712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auth · task · workflow · report · notify · audit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2907792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" y="2907792"/>
            <a:ext cx="91440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296265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stores/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980944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auth store · cache store (Pinia)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3621024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" y="3621024"/>
            <a:ext cx="91440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3675887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utils/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69417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token.js · constants.js · format.js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4334256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7280" y="4334256"/>
            <a:ext cx="91440" cy="62179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8448" y="43891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components/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4407408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AF0DC"/>
                </a:solidFill>
                <a:latin typeface="微软雅黑"/>
              </a:rPr>
              <a:t>Layout · Header · Sidebar 公共组件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1143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📄 关键页面功能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1481328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0" y="1481328"/>
            <a:ext cx="91440" cy="62179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84848" y="153619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PM-Dashboard.vue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84848" y="18105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ECharts 图表 · 进度总览 · 异常统计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2194560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0" y="2194560"/>
            <a:ext cx="91440" cy="62179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84848" y="2249424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PM-GanttChart.vue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2523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任务时间轴 · 甘特渲染 · 状态颜色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2907792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0" y="2907792"/>
            <a:ext cx="91440" cy="62179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84848" y="2962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PM-TaskBoard.vue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4848" y="323697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四栏看板 · 拖拽 · Redis 缓存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3621024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0" y="3621024"/>
            <a:ext cx="91440" cy="62179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4848" y="3675887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DEV-MyTasks.vue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4848" y="395020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我的任务 · 工作量 · 状态操作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0" y="4334256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0" y="4334256"/>
            <a:ext cx="91440" cy="62179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84848" y="438912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TEST-DefectReport.vue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4848" y="4663440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缺陷管理 · 闭环追踪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83680" y="5047488"/>
            <a:ext cx="5303520" cy="62179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0" y="5047488"/>
            <a:ext cx="91440" cy="62179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84848" y="51023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6208"/>
                </a:solidFill>
                <a:latin typeface="黑体"/>
              </a:rPr>
              <a:t>ADMIN-UserMgmt.vue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84848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用户管理 · 角色配置 · 权限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574243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⚙ 技术亮点</a:t>
            </a:r>
          </a:p>
        </p:txBody>
      </p:sp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11  ·  三大核心技术亮点 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差异化设计 · 技术深度体现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143000"/>
            <a:ext cx="33832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1143000"/>
            <a:ext cx="338328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331720" y="1188720"/>
            <a:ext cx="914400" cy="914400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1234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A2A32"/>
                </a:solidFill>
                <a:latin typeface="黑体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39" y="228600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07800"/>
                </a:solidFill>
                <a:latin typeface="黑体"/>
              </a:rPr>
              <a:t>状态机驱动工作流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39" y="2615184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89080"/>
                </a:solidFill>
                <a:latin typeface="微软雅黑"/>
              </a:rPr>
              <a:t>WorkflowEngine 核心引擎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907792"/>
            <a:ext cx="301752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39" y="2999232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8个业务状态 + 4条异常回退流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previous_state 字段实现精确阻塞恢复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4步闭环验证链自动创建 (ClosureChain)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角色级别权限校验（RBAC）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MQ 三向事件发布（通知/报表/审计）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规则数据库化，支持动态流程配置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36592" y="1143000"/>
            <a:ext cx="33832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36592" y="1143000"/>
            <a:ext cx="338328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71031" y="1188720"/>
            <a:ext cx="914400" cy="914400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1031" y="1234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A2A32"/>
                </a:solidFill>
                <a:latin typeface="黑体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2" y="228600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07800"/>
                </a:solidFill>
                <a:latin typeface="黑体"/>
              </a:rPr>
              <a:t>微服务解耦架构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3752" y="2615184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89080"/>
                </a:solidFill>
                <a:latin typeface="微软雅黑"/>
              </a:rPr>
              <a:t>6数据库 · 7微服务独立部署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19472" y="2907792"/>
            <a:ext cx="301752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2999232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服务间完全通过 MQ 异步通信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JWT 在网关统一校验，下游免鉴权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每个服务拥有独立数据库和端口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sm-common 提取公共配置/工具类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Gateway 实现路由 + 限流 + 过滤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服务故障不影响其他模块运行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75904" y="1143000"/>
            <a:ext cx="3383280" cy="516636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75904" y="1143000"/>
            <a:ext cx="338328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10344" y="1188720"/>
            <a:ext cx="914400" cy="914400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10344" y="1234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A2A32"/>
                </a:solidFill>
                <a:latin typeface="黑体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13064" y="228600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F07800"/>
                </a:solidFill>
                <a:latin typeface="黑体"/>
              </a:rPr>
              <a:t>双级缓存 + 实时报表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13064" y="2615184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989080"/>
                </a:solidFill>
                <a:latin typeface="微软雅黑"/>
              </a:rPr>
              <a:t>Redis TTL + sessionStorage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58784" y="2907792"/>
            <a:ext cx="3017520" cy="18288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13064" y="2999232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Redis 看板数据 5分钟 TTL 缓存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任务变更后主动失效相关 Key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前端 sessionStorage 二级缓存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ECharts 4种图表实时可视化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报表由 MQ 事件触发自动更新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▸ 甘特图任务时间轴精准渲染</a:t>
            </a:r>
          </a:p>
        </p:txBody>
      </p:sp>
    </p:spTree>
  </p:cSld>
  <p:clrMapOvr>
    <a:masterClrMapping/>
  </p:clrMapOvr>
  <p:transition spd="med" advTm="0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12  ·  系统测试与优化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功能验证 · 性能测试 · 问题与优化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6126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✅ 功能测试覆盖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481328"/>
            <a:ext cx="612648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1481328"/>
            <a:ext cx="73152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61872" y="160934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15361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认证模块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177393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登录/Token验证/过期处理/角色权限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2121408"/>
            <a:ext cx="612648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7280" y="2121408"/>
            <a:ext cx="73152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224942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21762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任务服务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241401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CRUD/分配/分页查询/关联关系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2761488"/>
            <a:ext cx="612648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7280" y="2761488"/>
            <a:ext cx="73152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288950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281635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工作流引擎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05409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8状态转移/4异常流/阻塞恢复/闭环链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3401568"/>
            <a:ext cx="612648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97280" y="3401568"/>
            <a:ext cx="73152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61872" y="35295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345643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报表服务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369417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仪表板数据/甘特图/快照归档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4041648"/>
            <a:ext cx="612648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7280" y="4041648"/>
            <a:ext cx="73152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61872" y="4169663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7632" y="4096511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通知服务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7632" y="433425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MQ消费/站内通知/邮件发送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4681728"/>
            <a:ext cx="6126480" cy="54864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4681728"/>
            <a:ext cx="73152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872" y="480974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07800"/>
                </a:solidFill>
                <a:latin typeface="黑体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7632" y="47365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AF0DC"/>
                </a:solidFill>
                <a:latin typeface="黑体"/>
              </a:rPr>
              <a:t>审计服务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7632" y="4974336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89080"/>
                </a:solidFill>
                <a:latin typeface="微软雅黑"/>
              </a:rPr>
              <a:t>日志记录/变更追踪/查询接口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11430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⚡ 性能优化策略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1481328"/>
            <a:ext cx="4389120" cy="117043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452360" y="1481328"/>
            <a:ext cx="109728" cy="11704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79792" y="18288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07800"/>
                </a:solidFill>
                <a:latin typeface="黑体"/>
              </a:rPr>
              <a:t>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1536192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Redis 缓存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1847088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看板查询响应从 ~200ms → ~15ms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5分钟 TTL + 主动失效机制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52360" y="2743200"/>
            <a:ext cx="4389120" cy="117043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452360" y="2743200"/>
            <a:ext cx="109728" cy="11704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79792" y="3090672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07800"/>
                </a:solidFill>
                <a:latin typeface="黑体"/>
              </a:rPr>
              <a:t>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2798064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MQ 异步解耦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10896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通知/审计不阻塞主流程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服务响应时间降低 40%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52360" y="4005072"/>
            <a:ext cx="4389120" cy="117043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52360" y="4005072"/>
            <a:ext cx="109728" cy="11704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79792" y="4352544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07800"/>
                </a:solidFill>
                <a:latin typeface="黑体"/>
              </a:rPr>
              <a:t>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80960" y="4059935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数据库索引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4370832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task_id/operator_id 联合索引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查询效率提升 60%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52360" y="5266944"/>
            <a:ext cx="4389120" cy="1170432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52360" y="5266944"/>
            <a:ext cx="109728" cy="117043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79792" y="5614416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07800"/>
                </a:solidFill>
                <a:latin typeface="黑体"/>
              </a:rPr>
              <a:t>↑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5321807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07800"/>
                </a:solidFill>
                <a:latin typeface="黑体"/>
              </a:rPr>
              <a:t>分页查询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0960" y="5632704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MyBatis-Plus 分页插件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FAF0DC"/>
                </a:solidFill>
                <a:latin typeface="微软雅黑"/>
              </a:rPr>
              <a:t>避免大数据量全表扫描</a:t>
            </a:r>
          </a:p>
        </p:txBody>
      </p:sp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580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64592"/>
            <a:ext cx="804672" cy="67665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1832"/>
            <a:ext cx="1536192" cy="3566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03736" y="6473952"/>
            <a:ext cx="347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2A2A32"/>
                </a:solidFill>
                <a:latin typeface="黑体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74320"/>
            <a:ext cx="10744200" cy="5486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PART  13  ·  项目总结与未来展望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74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A2A32"/>
                </a:solidFill>
                <a:latin typeface="黑体"/>
              </a:rPr>
              <a:t>成果量化 · 技术收获 · 迭代规划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143000"/>
            <a:ext cx="10835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📊 项目成果量化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1481328"/>
            <a:ext cx="164592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1481328"/>
            <a:ext cx="164592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157276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800"/>
                </a:solidFill>
                <a:latin typeface="黑体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08483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Java 源代码文件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7791" y="1481328"/>
            <a:ext cx="164592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07791" y="1481328"/>
            <a:ext cx="164592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07791" y="157276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800"/>
                </a:solidFill>
                <a:latin typeface="黑体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7791" y="208483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Vue 前端组件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18304" y="1481328"/>
            <a:ext cx="164592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18304" y="1481328"/>
            <a:ext cx="164592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18304" y="157276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800"/>
                </a:solidFill>
                <a:latin typeface="黑体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4" y="208483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微服务模块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28816" y="1481328"/>
            <a:ext cx="164592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8816" y="1481328"/>
            <a:ext cx="164592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157276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800"/>
                </a:solidFill>
                <a:latin typeface="黑体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208483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独立数据库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9327" y="1481328"/>
            <a:ext cx="164592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39327" y="1481328"/>
            <a:ext cx="164592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7" y="157276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800"/>
                </a:solidFill>
                <a:latin typeface="黑体"/>
              </a:rPr>
              <a:t>8+4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208483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状态 + 异常流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1481328"/>
            <a:ext cx="1645920" cy="96012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49840" y="1481328"/>
            <a:ext cx="164592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9840" y="1572768"/>
            <a:ext cx="1645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07800"/>
                </a:solidFill>
                <a:latin typeface="黑体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208483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989080"/>
                </a:solidFill>
                <a:latin typeface="微软雅黑"/>
              </a:rPr>
              <a:t>角色权限体系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2542032"/>
            <a:ext cx="10835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07800"/>
                </a:solidFill>
                <a:latin typeface="微软雅黑"/>
              </a:rPr>
              <a:t>「从需求到发布，全流程数字化闭环管理」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2944368"/>
            <a:ext cx="10835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07800"/>
                </a:solidFill>
                <a:latin typeface="黑体"/>
              </a:rPr>
              <a:t>🚀 未来迭代展望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97280" y="3291840"/>
            <a:ext cx="3383280" cy="29260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97280" y="3291840"/>
            <a:ext cx="3383280" cy="3200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4439" y="332841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短期 (1-3月)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39" y="370332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引入 Spring Cloud Eureka 服务注册发现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添加 Prometheus + Grafana 监控面板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完善单元测试，覆盖率 &gt; 80%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36592" y="3291840"/>
            <a:ext cx="3383280" cy="29260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736592" y="3291840"/>
            <a:ext cx="3383280" cy="3200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3752" y="332841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中期 (3-6月)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73752" y="370332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接入 OAuth2.0 / SSO 第三方登录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实现 WebSocket 实时推送看板更新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增加 AI 工作量预测模型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75904" y="3291840"/>
            <a:ext cx="3383280" cy="2926080"/>
          </a:xfrm>
          <a:prstGeom prst="roundRect">
            <a:avLst>
              <a:gd name="adj" fmla="val 500000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75904" y="3291840"/>
            <a:ext cx="3383280" cy="32004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13064" y="332841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长期 (6月+)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13064" y="370332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容器化部署 (Docker + K8s)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多租户 SaaS 化改造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FAF0DC"/>
                </a:solidFill>
                <a:latin typeface="微软雅黑"/>
              </a:rPr>
              <a:t>▸ 移动端 App 支持 (UniApp)</a:t>
            </a:r>
          </a:p>
        </p:txBody>
      </p:sp>
    </p:spTree>
  </p:cSld>
  <p:clrMapOvr>
    <a:masterClrMapping/>
  </p:clrMapOvr>
  <p:transition spd="med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