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71" r:id="rId10"/>
    <p:sldId id="261" r:id="rId11"/>
    <p:sldId id="263" r:id="rId12"/>
    <p:sldId id="265" r:id="rId13"/>
    <p:sldId id="268" r:id="rId14"/>
    <p:sldId id="269" r:id="rId15"/>
    <p:sldId id="270" r:id="rId16"/>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755" userDrawn="1">
          <p15:clr>
            <a:srgbClr val="747775"/>
          </p15:clr>
        </p15:guide>
        <p15:guide id="2" pos="289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55"/>
        <p:guide pos="289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各位老师好，我是杨丽姿，今天我汇报的毕业设计题目是《SoftManage——面向软件研发全生命周期的工作流驱动项目管理系统》。这个系统旨在解决传统软件开发过程中异常处理混乱、状态恢复困难等痛点，通过引入状态机驱动的工作流和异常闭环机制，实现研发流程的规范化和高效化。接下来我将从项目概述、系统架构、核心功能、测试优化和总结展望五个方面展开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Noto Sans SC"/>
                <a:ea typeface="Noto Sans SC"/>
                <a:cs typeface="Noto Sans SC"/>
                <a:sym typeface="Noto Sans SC"/>
              </a:rPr>
              <a:t>本次汇报将分为五个部分。首先，我会介绍项目的研究背景、目标和核心价值。其次，详细阐述系统的整体架构设计，包括数据模型和权限体系。第三部分将深入讲解工作流引擎、异常闭环等核心功能的实现细节。第四部分展示系统的测试设计、关键性能结果和功能验证情况。最后，对整个项目进行总结，并对未来的优化方向进行展望。</a:t>
            </a:r>
            <a:endParaRPr lang="en-US" sz="1200" b="0" i="0" u="none" strike="noStrike">
              <a:solidFill>
                <a:srgbClr val="000000"/>
              </a:solidFill>
              <a:latin typeface="Noto Sans SC"/>
              <a:ea typeface="Noto Sans SC"/>
              <a:cs typeface="Noto Sans SC"/>
              <a:sym typeface="Noto Sans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来看项目概述。在传统的软件开发过程中，我们发现存在流程混乱、协作效率低下等核心痛点。针对这些问题，我们的建设目标是构建一个覆盖软件开发生命周期的微服务管理平台。我们的核心价值在于通过技术手段，实现流程统一、角色分权和状态驱动，从而提升研发效率和质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a:ea typeface="Calibri"/>
                <a:cs typeface="Calibri"/>
                <a:sym typeface="Calibri"/>
              </a:rPr>
              <a:t>为了实现上述目标，我们提出了三个核心创新点。第一，我们设计了规则表驱动的工作流引擎，实现了流程的可配置化。第二，我们建立了异常四步闭环机制，确保问题得到彻底解决。第三，通过`previous_state`实现了精确的状态恢复，极大地提升了操作效率。</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Noto Sans SC"/>
                <a:ea typeface="Noto Sans SC"/>
                <a:cs typeface="Noto Sans SC"/>
                <a:sym typeface="Noto Sans SC"/>
              </a:rPr>
              <a:t>接下来是系统架构设计。我们采用了前后端分离的五层微服务架构。前端基于Vue3构建，所有请求通过Spring Cloud Gateway网关进行统一认证和路由。后端拆分为七个核心微服务，每个服务都有独立的数据库。数据层采用MySQL、Redis和RabbitMQ，分别负责持久化、缓存和消息通信。</a:t>
            </a:r>
            <a:endParaRPr lang="en-US" sz="1200" b="0" i="0" u="none" strike="noStrike">
              <a:solidFill>
                <a:srgbClr val="000000"/>
              </a:solidFill>
              <a:latin typeface="Noto Sans SC"/>
              <a:ea typeface="Noto Sans SC"/>
              <a:cs typeface="Noto Sans SC"/>
              <a:sym typeface="Noto Sans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数据设计方面，我们采用了六库隔离架构，每个微服务都有自己独立的数据库，实现了物理隔离，以确保系统的高可用性和数据安全。跨服务的数据同步，我们通过API调用和MQ消息队列事件来完成，确保数据的最终一致性。</a:t>
            </a:r>
            <a:endParaRPr lang="en-US" sz="1400" b="0" i="0" u="none" strike="noStrike">
              <a:solidFill>
                <a:srgbClr val="000000"/>
              </a:solidFill>
            </a:endParaRPr>
          </a:p>
          <a:p>
            <a:pPr indent="0" algn="l">
              <a:lnSpc>
                <a:spcPct val="100000"/>
              </a:lnSpc>
            </a:pPr>
            <a:r>
              <a:rPr lang="en-US" sz="1400" b="0" i="0" u="none" strike="noStrike">
                <a:solidFill>
                  <a:srgbClr val="000000"/>
                </a:solidFill>
              </a:rPr>
              <a:t>在性能方面，我们为核心高频查询字段建立了复合索引，并采用了成熟的技术栈，包括MyBatis-Plus、雪花ID、逻辑删除、乐观锁以及MySQL 8.0 InnoDB引擎，保证了数据操作的高效与安全。</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将数据库分为六大类：鉴权库管理用户与权限，任务库承载核心业务数据，工作流库定义流转规则，报表库存储统计快照，通知库处理消息触达，审计库记录所有操作日志，实现了业务数据的解耦与专业化管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a:ea typeface="Calibri"/>
                <a:cs typeface="Calibri"/>
                <a:sym typeface="Calibri"/>
              </a:rPr>
              <a:t>现在我们来看核心功能的实现。首先是工作流引擎。我们定义了从需求管理到测试中的标准生命周期。同时，我们设计了四条异常回路，包括评审驳回、测试失败、发布拒绝和阻塞恢复。每一种异常情况都有明确的处理流程和状态转移路径，确保了流程的健壮性和可追溯性。</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核心功能是阻塞与精确恢复。当任务遇到障碍时，用户可以将其阻塞，系统会自动记录下当前的精确状态。待问题解决后，只需一键即可将任务恢复到阻塞前的状态。实验数据显示，系统恢复的准确率达到100%，耗时从18.4秒缩短到了0.3秒，极大地提升了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a:ea typeface="Calibri"/>
                <a:cs typeface="Calibri"/>
                <a:sym typeface="Calibri"/>
              </a:rPr>
              <a:t>最后，对项目进行总结。我们的系统实现了状态机驱动的闭环管理、微服务的分层部署和异步解耦提效。未来，我们计划向容器化部署、智能任务分配和多租户SaaS化方向发展，将SoftManage从一个流程管理工具升级为一个智能研发管理平台。</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Calibri"/>
                <a:ea typeface="Calibri"/>
                <a:cs typeface="Calibri"/>
                <a:sym typeface="Calibri"/>
              </a:rPr>
              <a:t>当然，项目也存在一些局限。例如，闭环步骤目前是固定的，阻塞分类依赖人工。针对这些问题，我们制定了清晰的短期和中期改进计划。短期内，我们将实现闭环步骤的可配置化和工作流的可视化建模。中期，我们计划引入Websocket实现实时更新，并集成监控告警系统，进一步提升系统的实用性和可维护性。</a:t>
            </a:r>
            <a:endParaRPr lang="en-US" sz="1200" b="0" i="0" u="none" strike="noStrike">
              <a:solidFill>
                <a:srgbClr val="000000"/>
              </a:solidFill>
              <a:latin typeface="Calibri"/>
              <a:ea typeface="Calibri"/>
              <a:cs typeface="Calibri"/>
              <a:sym typeface="Calibri"/>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我的汇报到此结束。SoftManage系统成功解决了研发流程中的关键痛点，是一个具有工程价值和良好扩展性的解决方案。感谢各位老师的聆听，欢迎提问。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7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7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7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7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704020202020204"/>
              <a:buNone/>
              <a:defRPr sz="33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704020202020204"/>
              <a:buChar char="•"/>
              <a:defRPr sz="21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L="914400" marR="0" lvl="1" indent="-342900" algn="l" rtl="0">
              <a:lnSpc>
                <a:spcPct val="90000"/>
              </a:lnSpc>
              <a:spcBef>
                <a:spcPts val="400"/>
              </a:spcBef>
              <a:spcAft>
                <a:spcPts val="0"/>
              </a:spcAft>
              <a:buClr>
                <a:schemeClr val="dk1"/>
              </a:buClr>
              <a:buSzPts val="1800"/>
              <a:buFont typeface="Arial" panose="020B0704020202020204"/>
              <a:buChar char="•"/>
              <a:defRPr sz="1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L="1371600" marR="0" lvl="2" indent="-323850" algn="l" rtl="0">
              <a:lnSpc>
                <a:spcPct val="90000"/>
              </a:lnSpc>
              <a:spcBef>
                <a:spcPts val="400"/>
              </a:spcBef>
              <a:spcAft>
                <a:spcPts val="0"/>
              </a:spcAft>
              <a:buClr>
                <a:schemeClr val="dk1"/>
              </a:buClr>
              <a:buSzPts val="1500"/>
              <a:buFont typeface="Arial" panose="020B0704020202020204"/>
              <a:buChar char="•"/>
              <a:defRPr sz="15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L="1828800" marR="0" lvl="3"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L="2286000" marR="0" lvl="4"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L="2743200" marR="0" lvl="5"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L="3200400" marR="0" lvl="6"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L="3657600" marR="0" lvl="7"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L="4114800" marR="0" lvl="8" indent="-317500" algn="l" rtl="0">
              <a:lnSpc>
                <a:spcPct val="90000"/>
              </a:lnSpc>
              <a:spcBef>
                <a:spcPts val="400"/>
              </a:spcBef>
              <a:spcAft>
                <a:spcPts val="0"/>
              </a:spcAft>
              <a:buClr>
                <a:schemeClr val="dk1"/>
              </a:buClr>
              <a:buSzPts val="1400"/>
              <a:buFont typeface="Arial" panose="020B0704020202020204"/>
              <a:buChar char="•"/>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R="0" lvl="1"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spcBef>
                <a:spcPts val="0"/>
              </a:spcBef>
              <a:spcAft>
                <a:spcPts val="0"/>
              </a:spcAft>
              <a:buSzPts val="1100"/>
              <a:buNone/>
              <a:defRPr sz="14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1pPr>
            <a:lvl2pPr marL="0" marR="0" lvl="1"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2pPr>
            <a:lvl3pPr marL="0" marR="0" lvl="2"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3pPr>
            <a:lvl4pPr marL="0" marR="0" lvl="3"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4pPr>
            <a:lvl5pPr marL="0" marR="0" lvl="4"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5pPr>
            <a:lvl6pPr marL="0" marR="0" lvl="5"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6pPr>
            <a:lvl7pPr marL="0" marR="0" lvl="6"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7pPr>
            <a:lvl8pPr marL="0" marR="0" lvl="7"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8pPr>
            <a:lvl9pPr marL="0" marR="0" lvl="8" indent="0" algn="r" rtl="0">
              <a:spcBef>
                <a:spcPts val="0"/>
              </a:spcBef>
              <a:buNone/>
              <a:defRPr sz="900" b="0" i="0" u="none" strike="noStrike" cap="none">
                <a:solidFill>
                  <a:srgbClr val="888888"/>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notesSlide" Target="../notesSlides/notesSlide7.xml"/><Relationship Id="rId2" Type="http://schemas.openxmlformats.org/officeDocument/2006/relationships/tags" Target="../tags/tag1.xml"/><Relationship Id="rId19" Type="http://schemas.openxmlformats.org/officeDocument/2006/relationships/slideLayout" Target="../slideLayouts/slideLayout12.xml"/><Relationship Id="rId18" Type="http://schemas.openxmlformats.org/officeDocument/2006/relationships/image" Target="../media/image9.png"/><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image" Target="../media/image13.png"/><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3" Type="http://schemas.openxmlformats.org/officeDocument/2006/relationships/notesSlide" Target="../notesSlides/notesSlide10.xml"/><Relationship Id="rId22" Type="http://schemas.openxmlformats.org/officeDocument/2006/relationships/slideLayout" Target="../slideLayouts/slideLayout12.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image" Target="../media/image5.png"/><Relationship Id="rId19" Type="http://schemas.openxmlformats.org/officeDocument/2006/relationships/tags" Target="../tags/tag31.xml"/><Relationship Id="rId18" Type="http://schemas.openxmlformats.org/officeDocument/2006/relationships/image" Target="../media/image15.png"/><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image" Target="../media/image14.png"/><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0"/>
            <a:ext cx="9144000" cy="5143500"/>
          </a:xfrm>
          <a:prstGeom prst="roundRect">
            <a:avLst>
              <a:gd name="adj" fmla="val 0"/>
            </a:avLst>
          </a:prstGeom>
          <a:solidFill>
            <a:schemeClr val="bg1"/>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a:stretch>
            <a:fillRect/>
          </a:stretch>
        </p:blipFill>
        <p:spPr>
          <a:xfrm>
            <a:off x="0" y="0"/>
            <a:ext cx="3429000" cy="5143500"/>
          </a:xfrm>
          <a:prstGeom prst="rect">
            <a:avLst/>
          </a:prstGeom>
          <a:noFill/>
          <a:ln w="25400" cap="flat" cmpd="sng">
            <a:noFill/>
            <a:prstDash val="solid"/>
            <a:round/>
          </a:ln>
        </p:spPr>
      </p:pic>
      <p:sp>
        <p:nvSpPr>
          <p:cNvPr id="7" name="AutoShape 7"/>
          <p:cNvSpPr/>
          <p:nvPr/>
        </p:nvSpPr>
        <p:spPr>
          <a:xfrm>
            <a:off x="3975100" y="3691890"/>
            <a:ext cx="4635500" cy="240665"/>
          </a:xfrm>
          <a:prstGeom prst="roundRect">
            <a:avLst>
              <a:gd name="adj" fmla="val 0"/>
            </a:avLst>
          </a:prstGeom>
          <a:noFill/>
          <a:ln w="25400" cap="flat" cmpd="sng">
            <a:noFill/>
            <a:prstDash val="solid"/>
            <a:round/>
          </a:ln>
        </p:spPr>
        <p:txBody>
          <a:bodyPr vert="horz" wrap="none" lIns="0" tIns="0" rIns="0" bIns="0" rtlCol="0" anchor="t" anchorCtr="0"/>
          <a:lstStyle/>
          <a:p>
            <a:pPr indent="0" algn="ctr">
              <a:lnSpc>
                <a:spcPts val="1900"/>
              </a:lnSpc>
              <a:defRPr/>
            </a:pPr>
            <a:r>
              <a:rPr lang="en-US" sz="4000" b="0" i="0" u="none" strike="noStrike">
                <a:ln/>
                <a:solidFill>
                  <a:schemeClr val="accent1"/>
                </a:solidFill>
                <a:effectLst>
                  <a:outerShdw blurRad="38100" dist="25400" dir="5400000" algn="ctr" rotWithShape="0">
                    <a:srgbClr val="6E747A">
                      <a:alpha val="43000"/>
                      <a:alpha val="43000"/>
                    </a:srgbClr>
                  </a:outerShdw>
                </a:effectLst>
                <a:latin typeface="Merriweather"/>
                <a:ea typeface="Merriweather"/>
                <a:cs typeface="Merriweather"/>
                <a:sym typeface="Merriweather"/>
              </a:rPr>
              <a:t>软件项目管理系统 </a:t>
            </a:r>
            <a:endParaRPr lang="en-US" sz="4000" b="0" i="0" u="none" strike="noStrike">
              <a:ln/>
              <a:solidFill>
                <a:schemeClr val="accent1"/>
              </a:solidFill>
              <a:effectLst>
                <a:outerShdw blurRad="38100" dist="25400" dir="5400000" algn="ctr" rotWithShape="0">
                  <a:srgbClr val="6E747A">
                    <a:alpha val="43000"/>
                    <a:alpha val="43000"/>
                  </a:srgbClr>
                </a:outerShdw>
              </a:effectLst>
              <a:latin typeface="Merriweather"/>
              <a:ea typeface="Merriweather"/>
              <a:cs typeface="Merriweather"/>
              <a:sym typeface="Merriweather"/>
            </a:endParaRPr>
          </a:p>
        </p:txBody>
      </p:sp>
      <p:sp>
        <p:nvSpPr>
          <p:cNvPr id="18" name="AutoShape 18"/>
          <p:cNvSpPr/>
          <p:nvPr/>
        </p:nvSpPr>
        <p:spPr>
          <a:xfrm>
            <a:off x="3975100" y="4384675"/>
            <a:ext cx="4635500" cy="241300"/>
          </a:xfrm>
          <a:prstGeom prst="roundRect">
            <a:avLst>
              <a:gd name="adj" fmla="val 0"/>
            </a:avLst>
          </a:prstGeom>
          <a:noFill/>
          <a:ln w="25400" cap="flat" cmpd="sng">
            <a:noFill/>
            <a:prstDash val="solid"/>
            <a:round/>
          </a:ln>
        </p:spPr>
        <p:txBody>
          <a:bodyPr vert="horz" wrap="none" lIns="0" tIns="0" rIns="0" bIns="0" rtlCol="0" anchor="t" anchorCtr="0"/>
          <a:lstStyle/>
          <a:p>
            <a:pPr indent="0" algn="ctr">
              <a:lnSpc>
                <a:spcPts val="1900"/>
              </a:lnSpc>
              <a:defRPr/>
            </a:pPr>
            <a:r>
              <a:rPr lang="en-US" sz="1800" b="1" i="0" u="none" strike="noStrike">
                <a:solidFill>
                  <a:schemeClr val="tx1"/>
                </a:solidFill>
                <a:latin typeface="Merriweather"/>
                <a:ea typeface="Merriweather"/>
                <a:cs typeface="Merriweather"/>
                <a:sym typeface="Merriweather"/>
              </a:rPr>
              <a:t>答辩人：</a:t>
            </a:r>
            <a:r>
              <a:rPr lang="zh-CN" altLang="en-US" sz="1800" b="1" i="0" u="none" strike="noStrike">
                <a:solidFill>
                  <a:schemeClr val="tx1"/>
                </a:solidFill>
                <a:latin typeface="Merriweather"/>
                <a:ea typeface="Merriweather"/>
                <a:cs typeface="Merriweather"/>
                <a:sym typeface="Merriweather"/>
              </a:rPr>
              <a:t>杨思妮</a:t>
            </a:r>
            <a:r>
              <a:rPr lang="en-US" altLang="zh-CN" sz="1800" b="1" i="0" u="none" strike="noStrike">
                <a:solidFill>
                  <a:schemeClr val="tx1"/>
                </a:solidFill>
                <a:latin typeface="Merriweather"/>
                <a:ea typeface="Merriweather"/>
                <a:cs typeface="Merriweather"/>
                <a:sym typeface="Merriweather"/>
              </a:rPr>
              <a:t> </a:t>
            </a:r>
            <a:endParaRPr lang="en-US" altLang="zh-CN" sz="1800" b="1" i="0" u="none" strike="noStrike">
              <a:solidFill>
                <a:schemeClr val="tx1"/>
              </a:solidFill>
              <a:latin typeface="Merriweather"/>
              <a:ea typeface="Merriweather"/>
              <a:cs typeface="Merriweather"/>
              <a:sym typeface="Merriweather"/>
            </a:endParaRPr>
          </a:p>
        </p:txBody>
      </p:sp>
      <p:pic>
        <p:nvPicPr>
          <p:cNvPr id="19" name="Picture 4" descr="xinan.png"/>
          <p:cNvPicPr>
            <a:picLocks noChangeAspect="1"/>
          </p:cNvPicPr>
          <p:nvPr/>
        </p:nvPicPr>
        <p:blipFill>
          <a:blip r:embed="rId3"/>
          <a:stretch>
            <a:fillRect/>
          </a:stretch>
        </p:blipFill>
        <p:spPr>
          <a:xfrm>
            <a:off x="4819015" y="0"/>
            <a:ext cx="2736215" cy="2296160"/>
          </a:xfrm>
          <a:prstGeom prst="rect">
            <a:avLst/>
          </a:prstGeom>
        </p:spPr>
      </p:pic>
      <p:pic>
        <p:nvPicPr>
          <p:cNvPr id="20" name="Picture 5" descr="font.png"/>
          <p:cNvPicPr>
            <a:picLocks noChangeAspect="1"/>
          </p:cNvPicPr>
          <p:nvPr/>
        </p:nvPicPr>
        <p:blipFill>
          <a:blip r:embed="rId4"/>
          <a:stretch>
            <a:fillRect/>
          </a:stretch>
        </p:blipFill>
        <p:spPr>
          <a:xfrm>
            <a:off x="4157980" y="2296160"/>
            <a:ext cx="4636135" cy="1073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0"/>
            <a:ext cx="9144000" cy="5143500"/>
          </a:xfrm>
          <a:prstGeom prst="roundRect">
            <a:avLst>
              <a:gd name="adj" fmla="val 0"/>
            </a:avLst>
          </a:prstGeom>
          <a:solidFill>
            <a:srgbClr val="09151A">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71500" y="355600"/>
            <a:ext cx="3187700" cy="3937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3100"/>
              </a:lnSpc>
              <a:defRPr/>
            </a:pPr>
            <a:r>
              <a:rPr lang="en-US" sz="2500" b="1" i="0" u="none" strike="noStrike">
                <a:solidFill>
                  <a:srgbClr val="F5F0F0"/>
                </a:solidFill>
                <a:latin typeface="Merriweather"/>
                <a:ea typeface="Merriweather"/>
                <a:cs typeface="Merriweather"/>
                <a:sym typeface="Merriweather"/>
              </a:rPr>
              <a:t>答辩目录</a:t>
            </a:r>
            <a:endParaRPr lang="en-US" sz="1100"/>
          </a:p>
        </p:txBody>
      </p:sp>
      <p:sp>
        <p:nvSpPr>
          <p:cNvPr id="6" name="AutoShape 6"/>
          <p:cNvSpPr/>
          <p:nvPr/>
        </p:nvSpPr>
        <p:spPr>
          <a:xfrm>
            <a:off x="571500" y="965200"/>
            <a:ext cx="80137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450"/>
              </a:lnSpc>
              <a:defRPr/>
            </a:pPr>
            <a:r>
              <a:rPr lang="en-US" sz="1000" b="0" i="0" u="none" strike="noStrike">
                <a:solidFill>
                  <a:srgbClr val="E2E6E9"/>
                </a:solidFill>
                <a:latin typeface="Merriweather"/>
                <a:ea typeface="Merriweather"/>
                <a:cs typeface="Merriweather"/>
                <a:sym typeface="Merriweather"/>
              </a:rPr>
              <a:t>围绕“问题—架构—实现—验证—展望”形成完整叙事</a:t>
            </a:r>
            <a:endParaRPr lang="en-US" sz="1100"/>
          </a:p>
        </p:txBody>
      </p:sp>
      <p:sp>
        <p:nvSpPr>
          <p:cNvPr id="7" name="AutoShape 7"/>
          <p:cNvSpPr/>
          <p:nvPr/>
        </p:nvSpPr>
        <p:spPr>
          <a:xfrm>
            <a:off x="571500" y="1460500"/>
            <a:ext cx="3949700" cy="914400"/>
          </a:xfrm>
          <a:prstGeom prst="roundRect">
            <a:avLst>
              <a:gd name="adj" fmla="val 6944"/>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8" name="AutoShape 8"/>
          <p:cNvSpPr/>
          <p:nvPr/>
        </p:nvSpPr>
        <p:spPr>
          <a:xfrm>
            <a:off x="571500" y="1447800"/>
            <a:ext cx="3949700" cy="63500"/>
          </a:xfrm>
          <a:prstGeom prst="roundRect">
            <a:avLst>
              <a:gd name="adj" fmla="val 8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2349500" y="1270000"/>
            <a:ext cx="381000" cy="381000"/>
          </a:xfrm>
          <a:prstGeom prst="roundRect">
            <a:avLst>
              <a:gd name="adj" fmla="val 15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2349500" y="1371600"/>
            <a:ext cx="381000" cy="1905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ts val="1750"/>
              </a:lnSpc>
              <a:defRPr/>
            </a:pPr>
            <a:r>
              <a:rPr lang="en-US" sz="1200" b="1" i="0" u="none" strike="noStrike">
                <a:solidFill>
                  <a:srgbClr val="000000"/>
                </a:solidFill>
                <a:latin typeface="Merriweather"/>
                <a:ea typeface="Merriweather"/>
                <a:cs typeface="Merriweather"/>
                <a:sym typeface="Merriweather"/>
              </a:rPr>
              <a:t>01</a:t>
            </a:r>
            <a:endParaRPr lang="en-US" sz="1100"/>
          </a:p>
        </p:txBody>
      </p:sp>
      <p:sp>
        <p:nvSpPr>
          <p:cNvPr id="11" name="AutoShape 11"/>
          <p:cNvSpPr/>
          <p:nvPr/>
        </p:nvSpPr>
        <p:spPr>
          <a:xfrm>
            <a:off x="711200" y="1778000"/>
            <a:ext cx="1905000" cy="2032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550"/>
              </a:lnSpc>
              <a:defRPr/>
            </a:pPr>
            <a:r>
              <a:rPr lang="en-US" sz="1300" b="1" i="0" u="none" strike="noStrike">
                <a:solidFill>
                  <a:srgbClr val="E2E6E9"/>
                </a:solidFill>
                <a:latin typeface="Merriweather"/>
                <a:ea typeface="Merriweather"/>
                <a:cs typeface="Merriweather"/>
                <a:sym typeface="Merriweather"/>
              </a:rPr>
              <a:t>项目概述</a:t>
            </a:r>
            <a:endParaRPr lang="en-US" sz="1100"/>
          </a:p>
        </p:txBody>
      </p:sp>
      <p:sp>
        <p:nvSpPr>
          <p:cNvPr id="12" name="AutoShape 12"/>
          <p:cNvSpPr/>
          <p:nvPr/>
        </p:nvSpPr>
        <p:spPr>
          <a:xfrm>
            <a:off x="711200" y="2044700"/>
            <a:ext cx="36703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450"/>
              </a:lnSpc>
              <a:defRPr/>
            </a:pPr>
            <a:r>
              <a:rPr lang="en-US" sz="1000" b="0" i="0" u="none" strike="noStrike">
                <a:solidFill>
                  <a:srgbClr val="9CA3AF"/>
                </a:solidFill>
                <a:latin typeface="Merriweather"/>
                <a:ea typeface="Merriweather"/>
                <a:cs typeface="Merriweather"/>
                <a:sym typeface="Merriweather"/>
              </a:rPr>
              <a:t>背景 · 目标 · 核心价值</a:t>
            </a:r>
            <a:endParaRPr lang="en-US" sz="1100"/>
          </a:p>
        </p:txBody>
      </p:sp>
      <p:sp>
        <p:nvSpPr>
          <p:cNvPr id="13" name="AutoShape 13"/>
          <p:cNvSpPr/>
          <p:nvPr/>
        </p:nvSpPr>
        <p:spPr>
          <a:xfrm>
            <a:off x="4622800" y="1460500"/>
            <a:ext cx="3949700" cy="914400"/>
          </a:xfrm>
          <a:prstGeom prst="roundRect">
            <a:avLst>
              <a:gd name="adj" fmla="val 6944"/>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14" name="AutoShape 14"/>
          <p:cNvSpPr/>
          <p:nvPr/>
        </p:nvSpPr>
        <p:spPr>
          <a:xfrm>
            <a:off x="4622800" y="1447800"/>
            <a:ext cx="3949700" cy="63500"/>
          </a:xfrm>
          <a:prstGeom prst="roundRect">
            <a:avLst>
              <a:gd name="adj" fmla="val 8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1270000"/>
            <a:ext cx="381000" cy="381000"/>
          </a:xfrm>
          <a:prstGeom prst="roundRect">
            <a:avLst>
              <a:gd name="adj" fmla="val 15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1371600"/>
            <a:ext cx="381000" cy="1905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ts val="1750"/>
              </a:lnSpc>
              <a:defRPr/>
            </a:pPr>
            <a:r>
              <a:rPr lang="en-US" sz="1200" b="1" i="0" u="none" strike="noStrike">
                <a:solidFill>
                  <a:srgbClr val="000000"/>
                </a:solidFill>
                <a:latin typeface="Merriweather"/>
                <a:ea typeface="Merriweather"/>
                <a:cs typeface="Merriweather"/>
                <a:sym typeface="Merriweather"/>
              </a:rPr>
              <a:t>02</a:t>
            </a:r>
            <a:endParaRPr lang="en-US" sz="1100"/>
          </a:p>
        </p:txBody>
      </p:sp>
      <p:sp>
        <p:nvSpPr>
          <p:cNvPr id="17" name="AutoShape 17"/>
          <p:cNvSpPr/>
          <p:nvPr/>
        </p:nvSpPr>
        <p:spPr>
          <a:xfrm>
            <a:off x="4762500" y="1778000"/>
            <a:ext cx="1905000" cy="2032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550"/>
              </a:lnSpc>
              <a:defRPr/>
            </a:pPr>
            <a:r>
              <a:rPr lang="en-US" sz="1300" b="1" i="0" u="none" strike="noStrike">
                <a:solidFill>
                  <a:srgbClr val="E2E6E9"/>
                </a:solidFill>
                <a:latin typeface="Merriweather"/>
                <a:ea typeface="Merriweather"/>
                <a:cs typeface="Merriweather"/>
                <a:sym typeface="Merriweather"/>
              </a:rPr>
              <a:t>系统架构设计</a:t>
            </a:r>
            <a:endParaRPr lang="en-US" sz="1100"/>
          </a:p>
        </p:txBody>
      </p:sp>
      <p:sp>
        <p:nvSpPr>
          <p:cNvPr id="18" name="AutoShape 18"/>
          <p:cNvSpPr/>
          <p:nvPr/>
        </p:nvSpPr>
        <p:spPr>
          <a:xfrm>
            <a:off x="4762500" y="2044700"/>
            <a:ext cx="36703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450"/>
              </a:lnSpc>
              <a:defRPr/>
            </a:pPr>
            <a:r>
              <a:rPr lang="en-US" sz="1000" b="0" i="0" u="none" strike="noStrike">
                <a:solidFill>
                  <a:srgbClr val="9CA3AF"/>
                </a:solidFill>
                <a:latin typeface="Merriweather"/>
                <a:ea typeface="Merriweather"/>
                <a:cs typeface="Merriweather"/>
                <a:sym typeface="Merriweather"/>
              </a:rPr>
              <a:t>五层结构 · 微服务拓扑</a:t>
            </a:r>
            <a:endParaRPr lang="en-US" sz="1100"/>
          </a:p>
        </p:txBody>
      </p:sp>
      <p:sp>
        <p:nvSpPr>
          <p:cNvPr id="19" name="AutoShape 19"/>
          <p:cNvSpPr/>
          <p:nvPr/>
        </p:nvSpPr>
        <p:spPr>
          <a:xfrm>
            <a:off x="571500" y="2667000"/>
            <a:ext cx="3949700" cy="914400"/>
          </a:xfrm>
          <a:prstGeom prst="roundRect">
            <a:avLst>
              <a:gd name="adj" fmla="val 6944"/>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20" name="AutoShape 20"/>
          <p:cNvSpPr/>
          <p:nvPr/>
        </p:nvSpPr>
        <p:spPr>
          <a:xfrm>
            <a:off x="571500" y="2654300"/>
            <a:ext cx="3949700" cy="63500"/>
          </a:xfrm>
          <a:prstGeom prst="roundRect">
            <a:avLst>
              <a:gd name="adj" fmla="val 8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2349500" y="2476500"/>
            <a:ext cx="381000" cy="381000"/>
          </a:xfrm>
          <a:prstGeom prst="roundRect">
            <a:avLst>
              <a:gd name="adj" fmla="val 15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2349500" y="2578100"/>
            <a:ext cx="381000" cy="1905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ts val="1750"/>
              </a:lnSpc>
              <a:defRPr/>
            </a:pPr>
            <a:r>
              <a:rPr lang="en-US" sz="1200" b="1" i="0" u="none" strike="noStrike">
                <a:solidFill>
                  <a:srgbClr val="000000"/>
                </a:solidFill>
                <a:latin typeface="Merriweather"/>
                <a:ea typeface="Merriweather"/>
                <a:cs typeface="Merriweather"/>
                <a:sym typeface="Merriweather"/>
              </a:rPr>
              <a:t>03</a:t>
            </a:r>
            <a:endParaRPr lang="en-US" sz="1100"/>
          </a:p>
        </p:txBody>
      </p:sp>
      <p:sp>
        <p:nvSpPr>
          <p:cNvPr id="23" name="AutoShape 23"/>
          <p:cNvSpPr/>
          <p:nvPr/>
        </p:nvSpPr>
        <p:spPr>
          <a:xfrm>
            <a:off x="711200" y="2984500"/>
            <a:ext cx="1905000" cy="2032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550"/>
              </a:lnSpc>
              <a:defRPr/>
            </a:pPr>
            <a:r>
              <a:rPr lang="en-US" sz="1300" b="1" i="0" u="none" strike="noStrike">
                <a:solidFill>
                  <a:srgbClr val="E2E6E9"/>
                </a:solidFill>
                <a:latin typeface="Merriweather"/>
                <a:ea typeface="Merriweather"/>
                <a:cs typeface="Merriweather"/>
                <a:sym typeface="Merriweather"/>
              </a:rPr>
              <a:t>核心功能实现</a:t>
            </a:r>
            <a:endParaRPr lang="en-US" sz="1100"/>
          </a:p>
        </p:txBody>
      </p:sp>
      <p:sp>
        <p:nvSpPr>
          <p:cNvPr id="24" name="AutoShape 24"/>
          <p:cNvSpPr/>
          <p:nvPr/>
        </p:nvSpPr>
        <p:spPr>
          <a:xfrm>
            <a:off x="711200" y="3251200"/>
            <a:ext cx="36703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450"/>
              </a:lnSpc>
              <a:defRPr/>
            </a:pPr>
            <a:r>
              <a:rPr lang="en-US" sz="1000" b="0" i="0" u="none" strike="noStrike">
                <a:solidFill>
                  <a:srgbClr val="9CA3AF"/>
                </a:solidFill>
                <a:latin typeface="Merriweather"/>
                <a:ea typeface="Merriweather"/>
                <a:cs typeface="Merriweather"/>
                <a:sym typeface="Merriweather"/>
              </a:rPr>
              <a:t>工作流引擎 · 异常闭环 · 精确恢复</a:t>
            </a:r>
            <a:endParaRPr lang="en-US" sz="1100"/>
          </a:p>
        </p:txBody>
      </p:sp>
      <p:sp>
        <p:nvSpPr>
          <p:cNvPr id="25" name="AutoShape 25"/>
          <p:cNvSpPr/>
          <p:nvPr/>
        </p:nvSpPr>
        <p:spPr>
          <a:xfrm>
            <a:off x="4622800" y="2667000"/>
            <a:ext cx="3949700" cy="914400"/>
          </a:xfrm>
          <a:prstGeom prst="roundRect">
            <a:avLst>
              <a:gd name="adj" fmla="val 6944"/>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26" name="AutoShape 26"/>
          <p:cNvSpPr/>
          <p:nvPr/>
        </p:nvSpPr>
        <p:spPr>
          <a:xfrm>
            <a:off x="4622800" y="2654300"/>
            <a:ext cx="3949700" cy="63500"/>
          </a:xfrm>
          <a:prstGeom prst="roundRect">
            <a:avLst>
              <a:gd name="adj" fmla="val 8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413500" y="2476500"/>
            <a:ext cx="381000" cy="381000"/>
          </a:xfrm>
          <a:prstGeom prst="roundRect">
            <a:avLst>
              <a:gd name="adj" fmla="val 15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413500" y="2578100"/>
            <a:ext cx="381000" cy="1905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ts val="1750"/>
              </a:lnSpc>
              <a:defRPr/>
            </a:pPr>
            <a:r>
              <a:rPr lang="en-US" sz="1200" b="1" i="0" u="none" strike="noStrike">
                <a:solidFill>
                  <a:srgbClr val="000000"/>
                </a:solidFill>
                <a:latin typeface="Merriweather"/>
                <a:ea typeface="Merriweather"/>
                <a:cs typeface="Merriweather"/>
                <a:sym typeface="Merriweather"/>
              </a:rPr>
              <a:t>04</a:t>
            </a:r>
            <a:endParaRPr lang="en-US" sz="1100"/>
          </a:p>
        </p:txBody>
      </p:sp>
      <p:sp>
        <p:nvSpPr>
          <p:cNvPr id="29" name="AutoShape 29"/>
          <p:cNvSpPr/>
          <p:nvPr/>
        </p:nvSpPr>
        <p:spPr>
          <a:xfrm>
            <a:off x="4762500" y="2984500"/>
            <a:ext cx="1905000" cy="2032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550"/>
              </a:lnSpc>
              <a:defRPr/>
            </a:pPr>
            <a:r>
              <a:rPr lang="en-US" sz="1300" b="1" i="0" u="none" strike="noStrike">
                <a:solidFill>
                  <a:srgbClr val="E2E6E9"/>
                </a:solidFill>
                <a:latin typeface="Merriweather"/>
                <a:ea typeface="Merriweather"/>
                <a:cs typeface="Merriweather"/>
                <a:sym typeface="Merriweather"/>
              </a:rPr>
              <a:t>系统测试与优化</a:t>
            </a:r>
            <a:endParaRPr lang="en-US" sz="1100"/>
          </a:p>
        </p:txBody>
      </p:sp>
      <p:sp>
        <p:nvSpPr>
          <p:cNvPr id="30" name="AutoShape 30"/>
          <p:cNvSpPr/>
          <p:nvPr/>
        </p:nvSpPr>
        <p:spPr>
          <a:xfrm>
            <a:off x="4762500" y="3251200"/>
            <a:ext cx="36703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450"/>
              </a:lnSpc>
              <a:defRPr/>
            </a:pPr>
            <a:r>
              <a:rPr lang="en-US" sz="1000" b="0" i="0" u="none" strike="noStrike">
                <a:solidFill>
                  <a:srgbClr val="9CA3AF"/>
                </a:solidFill>
                <a:latin typeface="Merriweather"/>
                <a:ea typeface="Merriweather"/>
                <a:cs typeface="Merriweather"/>
                <a:sym typeface="Merriweather"/>
              </a:rPr>
              <a:t>功能验证 · 性能优化</a:t>
            </a:r>
            <a:endParaRPr lang="en-US" sz="1100"/>
          </a:p>
        </p:txBody>
      </p:sp>
      <p:sp>
        <p:nvSpPr>
          <p:cNvPr id="31" name="AutoShape 31"/>
          <p:cNvSpPr/>
          <p:nvPr/>
        </p:nvSpPr>
        <p:spPr>
          <a:xfrm>
            <a:off x="571500" y="3873500"/>
            <a:ext cx="3949700" cy="914400"/>
          </a:xfrm>
          <a:prstGeom prst="roundRect">
            <a:avLst>
              <a:gd name="adj" fmla="val 6944"/>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32" name="AutoShape 32"/>
          <p:cNvSpPr/>
          <p:nvPr/>
        </p:nvSpPr>
        <p:spPr>
          <a:xfrm>
            <a:off x="571500" y="3860800"/>
            <a:ext cx="3949700" cy="63500"/>
          </a:xfrm>
          <a:prstGeom prst="roundRect">
            <a:avLst>
              <a:gd name="adj" fmla="val 8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2349500" y="3683000"/>
            <a:ext cx="381000" cy="381000"/>
          </a:xfrm>
          <a:prstGeom prst="roundRect">
            <a:avLst>
              <a:gd name="adj" fmla="val 15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2349500" y="3784600"/>
            <a:ext cx="381000" cy="1905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ts val="1750"/>
              </a:lnSpc>
              <a:defRPr/>
            </a:pPr>
            <a:r>
              <a:rPr lang="en-US" sz="1200" b="1" i="0" u="none" strike="noStrike">
                <a:solidFill>
                  <a:srgbClr val="000000"/>
                </a:solidFill>
                <a:latin typeface="Merriweather"/>
                <a:ea typeface="Merriweather"/>
                <a:cs typeface="Merriweather"/>
                <a:sym typeface="Merriweather"/>
              </a:rPr>
              <a:t>05</a:t>
            </a:r>
            <a:endParaRPr lang="en-US" sz="1100"/>
          </a:p>
        </p:txBody>
      </p:sp>
      <p:sp>
        <p:nvSpPr>
          <p:cNvPr id="35" name="AutoShape 35"/>
          <p:cNvSpPr/>
          <p:nvPr/>
        </p:nvSpPr>
        <p:spPr>
          <a:xfrm>
            <a:off x="711200" y="4203700"/>
            <a:ext cx="1905000" cy="2032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550"/>
              </a:lnSpc>
              <a:defRPr/>
            </a:pPr>
            <a:r>
              <a:rPr lang="en-US" sz="1300" b="1" i="0" u="none" strike="noStrike">
                <a:solidFill>
                  <a:srgbClr val="E2E6E9"/>
                </a:solidFill>
                <a:latin typeface="Merriweather"/>
                <a:ea typeface="Merriweather"/>
                <a:cs typeface="Merriweather"/>
                <a:sym typeface="Merriweather"/>
              </a:rPr>
              <a:t>总结与展望</a:t>
            </a:r>
            <a:endParaRPr lang="en-US" sz="1100"/>
          </a:p>
        </p:txBody>
      </p:sp>
      <p:sp>
        <p:nvSpPr>
          <p:cNvPr id="36" name="AutoShape 36"/>
          <p:cNvSpPr/>
          <p:nvPr/>
        </p:nvSpPr>
        <p:spPr>
          <a:xfrm>
            <a:off x="711200" y="4457700"/>
            <a:ext cx="36703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450"/>
              </a:lnSpc>
              <a:defRPr/>
            </a:pPr>
            <a:r>
              <a:rPr lang="en-US" sz="1000" b="0" i="0" u="none" strike="noStrike">
                <a:solidFill>
                  <a:srgbClr val="9CA3AF"/>
                </a:solidFill>
                <a:latin typeface="Merriweather"/>
                <a:ea typeface="Merriweather"/>
                <a:cs typeface="Merriweather"/>
                <a:sym typeface="Merriweather"/>
              </a:rPr>
              <a:t>核心成果 · 迭代规划</a:t>
            </a:r>
            <a:endParaRPr lang="en-US" sz="1100"/>
          </a:p>
        </p:txBody>
      </p:sp>
      <p:sp>
        <p:nvSpPr>
          <p:cNvPr id="37" name="AutoShape 37"/>
          <p:cNvSpPr/>
          <p:nvPr/>
        </p:nvSpPr>
        <p:spPr>
          <a:xfrm>
            <a:off x="4622800" y="3873500"/>
            <a:ext cx="3949700" cy="914400"/>
          </a:xfrm>
          <a:prstGeom prst="roundRect">
            <a:avLst>
              <a:gd name="adj" fmla="val 6944"/>
            </a:avLst>
          </a:prstGeom>
          <a:solidFill>
            <a:srgbClr val="09151A">
              <a:alpha val="95000"/>
            </a:srgbClr>
          </a:solidFill>
          <a:ln w="12700" cap="flat" cmpd="sng">
            <a:solidFill>
              <a:srgbClr val="194A99">
                <a:alpha val="40000"/>
              </a:srgbClr>
            </a:solidFill>
            <a:prstDash val="solid"/>
            <a:miter lim="10000000"/>
          </a:ln>
        </p:spPr>
        <p:txBody>
          <a:bodyPr vert="horz" wrap="square" lIns="63500" tIns="63500" rIns="63500" bIns="63500" rtlCol="0" anchor="ctr"/>
          <a:lstStyle/>
          <a:p>
            <a:pPr algn="ctr">
              <a:defRPr/>
            </a:pPr>
          </a:p>
        </p:txBody>
      </p:sp>
      <p:sp>
        <p:nvSpPr>
          <p:cNvPr id="38" name="AutoShape 38"/>
          <p:cNvSpPr/>
          <p:nvPr/>
        </p:nvSpPr>
        <p:spPr>
          <a:xfrm>
            <a:off x="4622800" y="3860800"/>
            <a:ext cx="3949700" cy="63500"/>
          </a:xfrm>
          <a:prstGeom prst="roundRect">
            <a:avLst>
              <a:gd name="adj" fmla="val 80000"/>
            </a:avLst>
          </a:prstGeom>
          <a:solidFill>
            <a:srgbClr val="609D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9" name="AutoShape 39"/>
          <p:cNvSpPr/>
          <p:nvPr/>
        </p:nvSpPr>
        <p:spPr>
          <a:xfrm>
            <a:off x="6413500" y="3683000"/>
            <a:ext cx="381000" cy="381000"/>
          </a:xfrm>
          <a:prstGeom prst="roundRect">
            <a:avLst>
              <a:gd name="adj" fmla="val 150000"/>
            </a:avLst>
          </a:prstGeom>
          <a:solidFill>
            <a:srgbClr val="609DFF">
              <a:alpha val="40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40"/>
          <p:cNvSpPr/>
          <p:nvPr/>
        </p:nvSpPr>
        <p:spPr>
          <a:xfrm>
            <a:off x="4762500" y="4203700"/>
            <a:ext cx="1905000" cy="203200"/>
          </a:xfrm>
          <a:prstGeom prst="roundRect">
            <a:avLst>
              <a:gd name="adj" fmla="val 0"/>
            </a:avLst>
          </a:prstGeom>
          <a:noFill/>
          <a:ln w="25400" cap="flat" cmpd="sng">
            <a:noFill/>
            <a:prstDash val="solid"/>
            <a:round/>
          </a:ln>
        </p:spPr>
        <p:txBody>
          <a:bodyPr vert="horz" wrap="none" lIns="0" tIns="0" rIns="0" bIns="0" rtlCol="0" anchor="t" anchorCtr="0"/>
          <a:lstStyle/>
          <a:p>
            <a:pPr indent="0" algn="ctr">
              <a:lnSpc>
                <a:spcPts val="1550"/>
              </a:lnSpc>
              <a:defRPr/>
            </a:pPr>
            <a:r>
              <a:rPr lang="en-US" sz="1300" b="0" i="0" u="none" strike="noStrike">
                <a:solidFill>
                  <a:srgbClr val="64748B"/>
                </a:solidFill>
                <a:latin typeface="Merriweather"/>
                <a:ea typeface="Merriweather"/>
                <a:cs typeface="Merriweather"/>
                <a:sym typeface="Merriweather"/>
              </a:rPr>
              <a:t>THANKS</a:t>
            </a:r>
            <a:endParaRPr lang="en-US" sz="1100"/>
          </a:p>
        </p:txBody>
      </p:sp>
      <p:sp>
        <p:nvSpPr>
          <p:cNvPr id="41" name="AutoShape 41"/>
          <p:cNvSpPr/>
          <p:nvPr/>
        </p:nvSpPr>
        <p:spPr>
          <a:xfrm>
            <a:off x="4762500" y="4457700"/>
            <a:ext cx="36703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ctr">
              <a:lnSpc>
                <a:spcPts val="1450"/>
              </a:lnSpc>
              <a:defRPr/>
            </a:pPr>
            <a:r>
              <a:rPr lang="en-US" sz="1000" b="0" i="0" u="none" strike="noStrike">
                <a:solidFill>
                  <a:srgbClr val="64748B"/>
                </a:solidFill>
                <a:latin typeface="Merriweather"/>
                <a:ea typeface="Merriweather"/>
                <a:cs typeface="Merriweather"/>
                <a:sym typeface="Merriweather"/>
              </a:rPr>
              <a:t>感谢聆听 · 敬请指正</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0"/>
            <a:ext cx="9144000" cy="5143500"/>
          </a:xfrm>
          <a:prstGeom prst="roundRect">
            <a:avLst>
              <a:gd name="adj" fmla="val 0"/>
            </a:avLst>
          </a:prstGeom>
          <a:solidFill>
            <a:srgbClr val="09151A">
              <a:alpha val="95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a:stretch>
            <a:fillRect/>
          </a:stretch>
        </p:blipFill>
        <p:spPr>
          <a:xfrm>
            <a:off x="0" y="0"/>
            <a:ext cx="3429000" cy="5143500"/>
          </a:xfrm>
          <a:prstGeom prst="rect">
            <a:avLst/>
          </a:prstGeom>
          <a:noFill/>
          <a:ln w="25400" cap="flat" cmpd="sng">
            <a:noFill/>
            <a:prstDash val="solid"/>
            <a:round/>
          </a:ln>
        </p:spPr>
      </p:pic>
      <p:sp>
        <p:nvSpPr>
          <p:cNvPr id="6" name="AutoShape 6"/>
          <p:cNvSpPr/>
          <p:nvPr/>
        </p:nvSpPr>
        <p:spPr>
          <a:xfrm>
            <a:off x="3746500" y="292100"/>
            <a:ext cx="736600" cy="152400"/>
          </a:xfrm>
          <a:prstGeom prst="roundRect">
            <a:avLst>
              <a:gd name="adj" fmla="val 16666"/>
            </a:avLst>
          </a:prstGeom>
          <a:solidFill>
            <a:srgbClr val="001D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784600" y="292100"/>
            <a:ext cx="1397000" cy="1524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ts val="1200"/>
              </a:lnSpc>
              <a:defRPr/>
            </a:pPr>
            <a:r>
              <a:rPr lang="en-US" sz="800" b="1" i="0" u="none" strike="noStrike">
                <a:solidFill>
                  <a:srgbClr val="E2E6E9"/>
                </a:solidFill>
                <a:latin typeface="Noto Sans SC"/>
                <a:ea typeface="Noto Sans SC"/>
                <a:cs typeface="Noto Sans SC"/>
                <a:sym typeface="Noto Sans SC"/>
              </a:rPr>
              <a:t>PART 01 · 项目概述</a:t>
            </a:r>
            <a:endParaRPr lang="en-US" sz="1100"/>
          </a:p>
        </p:txBody>
      </p:sp>
      <p:sp>
        <p:nvSpPr>
          <p:cNvPr id="8" name="AutoShape 8"/>
          <p:cNvSpPr/>
          <p:nvPr/>
        </p:nvSpPr>
        <p:spPr>
          <a:xfrm>
            <a:off x="3746500" y="571500"/>
            <a:ext cx="4826000" cy="381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ts val="2800"/>
              </a:lnSpc>
              <a:defRPr/>
            </a:pPr>
            <a:r>
              <a:rPr lang="en-US" sz="2000" b="1" i="0" u="none" strike="noStrike">
                <a:solidFill>
                  <a:srgbClr val="FFFFFF"/>
                </a:solidFill>
                <a:latin typeface="Noto Sans SC"/>
                <a:ea typeface="Noto Sans SC"/>
                <a:cs typeface="Noto Sans SC"/>
                <a:sym typeface="Noto Sans SC"/>
              </a:rPr>
              <a:t>核心痛点与建设目标</a:t>
            </a:r>
            <a:endParaRPr lang="en-US" sz="1100"/>
          </a:p>
        </p:txBody>
      </p:sp>
      <p:sp>
        <p:nvSpPr>
          <p:cNvPr id="9" name="AutoShape 9"/>
          <p:cNvSpPr/>
          <p:nvPr/>
        </p:nvSpPr>
        <p:spPr>
          <a:xfrm>
            <a:off x="3746500" y="1143000"/>
            <a:ext cx="5207000" cy="571500"/>
          </a:xfrm>
          <a:prstGeom prst="roundRect">
            <a:avLst>
              <a:gd name="adj" fmla="val 6666"/>
            </a:avLst>
          </a:prstGeom>
          <a:solidFill>
            <a:srgbClr val="112240">
              <a:alpha val="100000"/>
            </a:srgbClr>
          </a:solidFill>
          <a:ln w="12700" cap="flat" cmpd="sng">
            <a:solidFill>
              <a:srgbClr val="3B82F6">
                <a:alpha val="6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873500" y="1244600"/>
            <a:ext cx="4953000" cy="4445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0000"/>
              </a:lnSpc>
              <a:defRPr/>
            </a:pPr>
            <a:r>
              <a:rPr lang="en-US" sz="1100" b="1" i="0" u="none" strike="noStrike">
                <a:solidFill>
                  <a:srgbClr val="F97316"/>
                </a:solidFill>
                <a:latin typeface="Noto Sans SC"/>
                <a:ea typeface="Noto Sans SC"/>
                <a:cs typeface="Noto Sans SC"/>
                <a:sym typeface="Noto Sans SC"/>
              </a:rPr>
              <a:t>01 / 研究背景：</a:t>
            </a:r>
            <a:r>
              <a:rPr lang="en-US" sz="900" b="0" i="0" u="none" strike="noStrike">
                <a:solidFill>
                  <a:srgbClr val="E2E6E9"/>
                </a:solidFill>
                <a:latin typeface="Noto Sans SC"/>
                <a:ea typeface="Noto Sans SC"/>
                <a:cs typeface="Noto Sans SC"/>
                <a:sym typeface="Noto Sans SC"/>
              </a:rPr>
              <a:t>软件项目管理普遍存在流程混乱、协作效率低下的问题。现有工具功能分散、定制化不足，缺乏完整的异常闭环管理机制。</a:t>
            </a:r>
            <a:endParaRPr lang="en-US" sz="1100"/>
          </a:p>
        </p:txBody>
      </p:sp>
      <p:sp>
        <p:nvSpPr>
          <p:cNvPr id="11" name="AutoShape 11"/>
          <p:cNvSpPr/>
          <p:nvPr/>
        </p:nvSpPr>
        <p:spPr>
          <a:xfrm>
            <a:off x="3746500" y="1905000"/>
            <a:ext cx="5207000" cy="571500"/>
          </a:xfrm>
          <a:prstGeom prst="roundRect">
            <a:avLst>
              <a:gd name="adj" fmla="val 6666"/>
            </a:avLst>
          </a:prstGeom>
          <a:solidFill>
            <a:srgbClr val="112240">
              <a:alpha val="100000"/>
            </a:srgbClr>
          </a:solidFill>
          <a:ln w="12700" cap="flat" cmpd="sng">
            <a:solidFill>
              <a:srgbClr val="10B981">
                <a:alpha val="6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3873500" y="2006600"/>
            <a:ext cx="4953000" cy="4445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0000"/>
              </a:lnSpc>
              <a:defRPr/>
            </a:pPr>
            <a:r>
              <a:rPr lang="en-US" sz="1100" b="1" i="0" u="none" strike="noStrike">
                <a:solidFill>
                  <a:srgbClr val="34D399"/>
                </a:solidFill>
                <a:latin typeface="Noto Sans SC"/>
                <a:ea typeface="Noto Sans SC"/>
                <a:cs typeface="Noto Sans SC"/>
                <a:sym typeface="Noto Sans SC"/>
              </a:rPr>
              <a:t>02 / 建设目标：</a:t>
            </a:r>
            <a:r>
              <a:rPr lang="en-US" sz="900" b="0" i="0" u="none" strike="noStrike">
                <a:solidFill>
                  <a:srgbClr val="E2E6E9"/>
                </a:solidFill>
                <a:latin typeface="Noto Sans SC"/>
                <a:ea typeface="Noto Sans SC"/>
                <a:cs typeface="Noto Sans SC"/>
                <a:sym typeface="Noto Sans SC"/>
              </a:rPr>
              <a:t>构建覆盖软件开发生命周期的微服务管理平台，实现“需求→开发→测试→发布”全流程统一管理，支持多团队协作与状态驱动。</a:t>
            </a:r>
            <a:endParaRPr lang="en-US" sz="1100"/>
          </a:p>
        </p:txBody>
      </p:sp>
      <p:sp>
        <p:nvSpPr>
          <p:cNvPr id="13" name="AutoShape 13"/>
          <p:cNvSpPr/>
          <p:nvPr/>
        </p:nvSpPr>
        <p:spPr>
          <a:xfrm>
            <a:off x="3746500" y="2667000"/>
            <a:ext cx="5207000" cy="571500"/>
          </a:xfrm>
          <a:prstGeom prst="roundRect">
            <a:avLst>
              <a:gd name="adj" fmla="val 6666"/>
            </a:avLst>
          </a:prstGeom>
          <a:solidFill>
            <a:srgbClr val="112240">
              <a:alpha val="100000"/>
            </a:srgbClr>
          </a:solidFill>
          <a:ln w="12700" cap="flat" cmpd="sng">
            <a:solidFill>
              <a:srgbClr val="60A5FA">
                <a:alpha val="6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3873500" y="2768600"/>
            <a:ext cx="4953000" cy="4445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0000"/>
              </a:lnSpc>
              <a:defRPr/>
            </a:pPr>
            <a:r>
              <a:rPr lang="en-US" sz="1100" b="1" i="0" u="none" strike="noStrike">
                <a:solidFill>
                  <a:srgbClr val="60A5FA"/>
                </a:solidFill>
                <a:latin typeface="Noto Sans SC"/>
                <a:ea typeface="Noto Sans SC"/>
                <a:cs typeface="Noto Sans SC"/>
                <a:sym typeface="Noto Sans SC"/>
              </a:rPr>
              <a:t>03 / 核心价值：</a:t>
            </a:r>
            <a:r>
              <a:rPr lang="en-US" sz="900" b="0" i="0" u="none" strike="noStrike">
                <a:solidFill>
                  <a:srgbClr val="E2E6E9"/>
                </a:solidFill>
                <a:latin typeface="Noto Sans SC"/>
                <a:ea typeface="Noto Sans SC"/>
                <a:cs typeface="Noto Sans SC"/>
                <a:sym typeface="Noto Sans SC"/>
              </a:rPr>
              <a:t>统一流程引擎驱动 · 精细化角色分权 · 状态流转全闭环 · MQ消息异步解耦，打造高可用研发中台。</a:t>
            </a:r>
            <a:endParaRPr lang="en-US" sz="1100"/>
          </a:p>
        </p:txBody>
      </p:sp>
      <p:sp>
        <p:nvSpPr>
          <p:cNvPr id="15" name="AutoShape 15"/>
          <p:cNvSpPr/>
          <p:nvPr/>
        </p:nvSpPr>
        <p:spPr>
          <a:xfrm>
            <a:off x="3746500" y="3556000"/>
            <a:ext cx="1206500" cy="1143000"/>
          </a:xfrm>
          <a:prstGeom prst="roundRect">
            <a:avLst>
              <a:gd name="adj" fmla="val 0"/>
            </a:avLst>
          </a:prstGeom>
          <a:solidFill>
            <a:srgbClr val="1E293B">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3746500" y="3683000"/>
            <a:ext cx="1206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F97316"/>
                </a:solidFill>
                <a:latin typeface="Noto Sans SC"/>
                <a:ea typeface="Noto Sans SC"/>
                <a:cs typeface="Noto Sans SC"/>
                <a:sym typeface="Noto Sans SC"/>
              </a:rPr>
              <a:t>7</a:t>
            </a:r>
            <a:endParaRPr lang="en-US" sz="1100"/>
          </a:p>
        </p:txBody>
      </p:sp>
      <p:sp>
        <p:nvSpPr>
          <p:cNvPr id="17" name="AutoShape 17"/>
          <p:cNvSpPr/>
          <p:nvPr/>
        </p:nvSpPr>
        <p:spPr>
          <a:xfrm>
            <a:off x="3746500" y="4318000"/>
            <a:ext cx="1206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CBD5E1"/>
                </a:solidFill>
                <a:latin typeface="Noto Sans SC"/>
                <a:ea typeface="Noto Sans SC"/>
                <a:cs typeface="Noto Sans SC"/>
                <a:sym typeface="Noto Sans SC"/>
              </a:rPr>
              <a:t>微服务模块</a:t>
            </a:r>
            <a:endParaRPr lang="en-US" sz="1100"/>
          </a:p>
        </p:txBody>
      </p:sp>
      <p:sp>
        <p:nvSpPr>
          <p:cNvPr id="18" name="AutoShape 18"/>
          <p:cNvSpPr/>
          <p:nvPr/>
        </p:nvSpPr>
        <p:spPr>
          <a:xfrm>
            <a:off x="5080000" y="3556000"/>
            <a:ext cx="1206500" cy="1143000"/>
          </a:xfrm>
          <a:prstGeom prst="roundRect">
            <a:avLst>
              <a:gd name="adj" fmla="val 0"/>
            </a:avLst>
          </a:prstGeom>
          <a:solidFill>
            <a:srgbClr val="1E293B">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080000" y="3683000"/>
            <a:ext cx="1206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34D399"/>
                </a:solidFill>
                <a:latin typeface="Noto Sans SC"/>
                <a:ea typeface="Noto Sans SC"/>
                <a:cs typeface="Noto Sans SC"/>
                <a:sym typeface="Noto Sans SC"/>
              </a:rPr>
              <a:t>6</a:t>
            </a:r>
            <a:endParaRPr lang="en-US" sz="1100"/>
          </a:p>
        </p:txBody>
      </p:sp>
      <p:sp>
        <p:nvSpPr>
          <p:cNvPr id="20" name="AutoShape 20"/>
          <p:cNvSpPr/>
          <p:nvPr/>
        </p:nvSpPr>
        <p:spPr>
          <a:xfrm>
            <a:off x="5080000" y="4318000"/>
            <a:ext cx="1206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CBD5E1"/>
                </a:solidFill>
                <a:latin typeface="Noto Sans SC"/>
                <a:ea typeface="Noto Sans SC"/>
                <a:cs typeface="Noto Sans SC"/>
                <a:sym typeface="Noto Sans SC"/>
              </a:rPr>
              <a:t>独立数据库</a:t>
            </a:r>
            <a:endParaRPr lang="en-US" sz="1100"/>
          </a:p>
        </p:txBody>
      </p:sp>
      <p:sp>
        <p:nvSpPr>
          <p:cNvPr id="21" name="AutoShape 21"/>
          <p:cNvSpPr/>
          <p:nvPr/>
        </p:nvSpPr>
        <p:spPr>
          <a:xfrm>
            <a:off x="6413500" y="3556000"/>
            <a:ext cx="1206500" cy="1143000"/>
          </a:xfrm>
          <a:prstGeom prst="roundRect">
            <a:avLst>
              <a:gd name="adj" fmla="val 0"/>
            </a:avLst>
          </a:prstGeom>
          <a:solidFill>
            <a:srgbClr val="1E293B">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13500" y="3683000"/>
            <a:ext cx="1206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60A5FA"/>
                </a:solidFill>
                <a:latin typeface="Noto Sans SC"/>
                <a:ea typeface="Noto Sans SC"/>
                <a:cs typeface="Noto Sans SC"/>
                <a:sym typeface="Noto Sans SC"/>
              </a:rPr>
              <a:t>8+4</a:t>
            </a:r>
            <a:endParaRPr lang="en-US" sz="1100"/>
          </a:p>
        </p:txBody>
      </p:sp>
      <p:sp>
        <p:nvSpPr>
          <p:cNvPr id="23" name="AutoShape 23"/>
          <p:cNvSpPr/>
          <p:nvPr/>
        </p:nvSpPr>
        <p:spPr>
          <a:xfrm>
            <a:off x="6413500" y="4318000"/>
            <a:ext cx="1206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CBD5E1"/>
                </a:solidFill>
                <a:latin typeface="Noto Sans SC"/>
                <a:ea typeface="Noto Sans SC"/>
                <a:cs typeface="Noto Sans SC"/>
                <a:sym typeface="Noto Sans SC"/>
              </a:rPr>
              <a:t>状态与异常流</a:t>
            </a:r>
            <a:endParaRPr lang="en-US" sz="1100"/>
          </a:p>
        </p:txBody>
      </p:sp>
      <p:sp>
        <p:nvSpPr>
          <p:cNvPr id="24" name="AutoShape 24"/>
          <p:cNvSpPr/>
          <p:nvPr/>
        </p:nvSpPr>
        <p:spPr>
          <a:xfrm>
            <a:off x="7747000" y="3556000"/>
            <a:ext cx="1206500" cy="1143000"/>
          </a:xfrm>
          <a:prstGeom prst="roundRect">
            <a:avLst>
              <a:gd name="adj" fmla="val 0"/>
            </a:avLst>
          </a:prstGeom>
          <a:solidFill>
            <a:srgbClr val="1E293B">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747000" y="3683000"/>
            <a:ext cx="1206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EC4899"/>
                </a:solidFill>
                <a:latin typeface="Noto Sans SC"/>
                <a:ea typeface="Noto Sans SC"/>
                <a:cs typeface="Noto Sans SC"/>
                <a:sym typeface="Noto Sans SC"/>
              </a:rPr>
              <a:t>4</a:t>
            </a:r>
            <a:endParaRPr lang="en-US" sz="1100"/>
          </a:p>
        </p:txBody>
      </p:sp>
      <p:sp>
        <p:nvSpPr>
          <p:cNvPr id="26" name="AutoShape 26"/>
          <p:cNvSpPr/>
          <p:nvPr/>
        </p:nvSpPr>
        <p:spPr>
          <a:xfrm>
            <a:off x="7747000" y="4318000"/>
            <a:ext cx="12065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000" b="0" i="0" u="none" strike="noStrike">
                <a:solidFill>
                  <a:srgbClr val="CBD5E1"/>
                </a:solidFill>
                <a:latin typeface="Noto Sans SC"/>
                <a:ea typeface="Noto Sans SC"/>
                <a:cs typeface="Noto Sans SC"/>
                <a:sym typeface="Noto Sans SC"/>
              </a:rPr>
              <a:t>角色类型</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0"/>
            <a:ext cx="9144000" cy="5143500"/>
          </a:xfrm>
          <a:prstGeom prst="roundRect">
            <a:avLst>
              <a:gd name="adj" fmla="val 0"/>
            </a:avLst>
          </a:prstGeom>
          <a:solidFill>
            <a:srgbClr val="09151A">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20700" y="431800"/>
            <a:ext cx="1460500" cy="279400"/>
          </a:xfrm>
          <a:prstGeom prst="roundRect">
            <a:avLst>
              <a:gd name="adj" fmla="val 18181"/>
            </a:avLst>
          </a:prstGeom>
          <a:solidFill>
            <a:srgbClr val="001D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09600" y="482600"/>
            <a:ext cx="12827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450"/>
              </a:lnSpc>
              <a:defRPr/>
            </a:pPr>
            <a:r>
              <a:rPr lang="en-US" sz="900" b="0" i="0" u="none" strike="noStrike">
                <a:solidFill>
                  <a:srgbClr val="E2E6E9"/>
                </a:solidFill>
                <a:latin typeface="Merriweather"/>
                <a:ea typeface="Merriweather"/>
                <a:cs typeface="Merriweather"/>
                <a:sym typeface="Merriweather"/>
              </a:rPr>
              <a:t>PART 01 · 项目概述</a:t>
            </a:r>
            <a:endParaRPr lang="en-US" sz="1100"/>
          </a:p>
        </p:txBody>
      </p:sp>
      <p:sp>
        <p:nvSpPr>
          <p:cNvPr id="7" name="AutoShape 7"/>
          <p:cNvSpPr/>
          <p:nvPr/>
        </p:nvSpPr>
        <p:spPr>
          <a:xfrm>
            <a:off x="520700" y="762000"/>
            <a:ext cx="3810000" cy="4699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3650"/>
              </a:lnSpc>
              <a:defRPr/>
            </a:pPr>
            <a:r>
              <a:rPr lang="en-US" sz="2900" b="0" i="0" u="none" strike="noStrike">
                <a:solidFill>
                  <a:srgbClr val="F5F0F0"/>
                </a:solidFill>
                <a:latin typeface="Merriweather"/>
                <a:ea typeface="Merriweather"/>
                <a:cs typeface="Merriweather"/>
                <a:sym typeface="Merriweather"/>
              </a:rPr>
              <a:t>三大核心创新点</a:t>
            </a:r>
            <a:endParaRPr lang="en-US" sz="1100"/>
          </a:p>
        </p:txBody>
      </p:sp>
      <p:sp>
        <p:nvSpPr>
          <p:cNvPr id="8" name="AutoShape 8"/>
          <p:cNvSpPr/>
          <p:nvPr/>
        </p:nvSpPr>
        <p:spPr>
          <a:xfrm>
            <a:off x="520700" y="1447800"/>
            <a:ext cx="1498600" cy="927100"/>
          </a:xfrm>
          <a:prstGeom prst="roundRect">
            <a:avLst>
              <a:gd name="adj" fmla="val 0"/>
            </a:avLst>
          </a:prstGeom>
          <a:solidFill>
            <a:srgbClr val="10B981">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20700" y="1676400"/>
            <a:ext cx="1498600" cy="444500"/>
          </a:xfrm>
          <a:prstGeom prst="rect">
            <a:avLst/>
          </a:prstGeom>
          <a:noFill/>
          <a:ln w="9525"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01</a:t>
            </a:r>
            <a:endParaRPr lang="en-US" sz="1100"/>
          </a:p>
        </p:txBody>
      </p:sp>
      <p:sp>
        <p:nvSpPr>
          <p:cNvPr id="10" name="AutoShape 10"/>
          <p:cNvSpPr/>
          <p:nvPr/>
        </p:nvSpPr>
        <p:spPr>
          <a:xfrm>
            <a:off x="520700" y="2552700"/>
            <a:ext cx="2578100" cy="317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400"/>
              </a:lnSpc>
              <a:defRPr/>
            </a:pPr>
            <a:r>
              <a:rPr lang="en-US" sz="1600" b="1" i="0" u="none" strike="noStrike">
                <a:solidFill>
                  <a:srgbClr val="E2E6E9"/>
                </a:solidFill>
                <a:latin typeface="Noto Sans SC"/>
                <a:ea typeface="Noto Sans SC"/>
                <a:cs typeface="Noto Sans SC"/>
                <a:sym typeface="Noto Sans SC"/>
              </a:rPr>
              <a:t>规则表驱动工作流</a:t>
            </a:r>
            <a:endParaRPr lang="en-US" sz="1100"/>
          </a:p>
        </p:txBody>
      </p:sp>
      <p:sp>
        <p:nvSpPr>
          <p:cNvPr id="11" name="AutoShape 11"/>
          <p:cNvSpPr/>
          <p:nvPr/>
        </p:nvSpPr>
        <p:spPr>
          <a:xfrm>
            <a:off x="520700" y="3048000"/>
            <a:ext cx="2578100" cy="2794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000"/>
              </a:lnSpc>
              <a:defRPr/>
            </a:pPr>
            <a:r>
              <a:rPr lang="en-US" sz="1300" b="1" i="0" u="none" strike="noStrike">
                <a:solidFill>
                  <a:srgbClr val="38BDF8"/>
                </a:solidFill>
                <a:latin typeface="Noto Sans SC"/>
                <a:ea typeface="Noto Sans SC"/>
                <a:cs typeface="Noto Sans SC"/>
                <a:sym typeface="Noto Sans SC"/>
              </a:rPr>
              <a:t>动态配置 · 无需重启服务</a:t>
            </a:r>
            <a:endParaRPr lang="en-US" sz="1100"/>
          </a:p>
        </p:txBody>
      </p:sp>
      <p:sp>
        <p:nvSpPr>
          <p:cNvPr id="12" name="AutoShape 12"/>
          <p:cNvSpPr/>
          <p:nvPr/>
        </p:nvSpPr>
        <p:spPr>
          <a:xfrm>
            <a:off x="520700" y="3556000"/>
            <a:ext cx="2578100" cy="1651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BD5E1"/>
                </a:solidFill>
                <a:latin typeface="Noto Sans SC"/>
                <a:ea typeface="Noto Sans SC"/>
                <a:cs typeface="Noto Sans SC"/>
                <a:sym typeface="Noto Sans SC"/>
              </a:rPr>
              <a:t>将流程规则下沉到数据库，实现工作流的动态配置。系统支持热更新流程定义，无需重启服务即可灵活调整业务流转路径，极大提升了系统的灵活性和对业务变更的适应性。</a:t>
            </a:r>
            <a:endParaRPr lang="en-US" sz="1100"/>
          </a:p>
        </p:txBody>
      </p:sp>
      <p:sp>
        <p:nvSpPr>
          <p:cNvPr id="13" name="AutoShape 13"/>
          <p:cNvSpPr/>
          <p:nvPr/>
        </p:nvSpPr>
        <p:spPr>
          <a:xfrm>
            <a:off x="3276600" y="1447800"/>
            <a:ext cx="1498600" cy="927100"/>
          </a:xfrm>
          <a:prstGeom prst="roundRect">
            <a:avLst>
              <a:gd name="adj" fmla="val 0"/>
            </a:avLst>
          </a:prstGeom>
          <a:solidFill>
            <a:srgbClr val="F97316">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276600" y="1676400"/>
            <a:ext cx="1498600" cy="444500"/>
          </a:xfrm>
          <a:prstGeom prst="rect">
            <a:avLst/>
          </a:prstGeom>
          <a:noFill/>
          <a:ln w="9525"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02</a:t>
            </a:r>
            <a:endParaRPr lang="en-US" sz="1100"/>
          </a:p>
        </p:txBody>
      </p:sp>
      <p:sp>
        <p:nvSpPr>
          <p:cNvPr id="15" name="AutoShape 15"/>
          <p:cNvSpPr/>
          <p:nvPr/>
        </p:nvSpPr>
        <p:spPr>
          <a:xfrm>
            <a:off x="3276600" y="2552700"/>
            <a:ext cx="2578100" cy="317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400"/>
              </a:lnSpc>
              <a:defRPr/>
            </a:pPr>
            <a:r>
              <a:rPr lang="en-US" sz="1600" b="1" i="0" u="none" strike="noStrike">
                <a:solidFill>
                  <a:srgbClr val="E2E6E9"/>
                </a:solidFill>
                <a:latin typeface="Noto Sans SC"/>
                <a:ea typeface="Noto Sans SC"/>
                <a:cs typeface="Noto Sans SC"/>
                <a:sym typeface="Noto Sans SC"/>
              </a:rPr>
              <a:t>异常四步闭环机制</a:t>
            </a:r>
            <a:endParaRPr lang="en-US" sz="1100"/>
          </a:p>
        </p:txBody>
      </p:sp>
      <p:sp>
        <p:nvSpPr>
          <p:cNvPr id="16" name="AutoShape 16"/>
          <p:cNvSpPr/>
          <p:nvPr/>
        </p:nvSpPr>
        <p:spPr>
          <a:xfrm>
            <a:off x="3276600" y="3048000"/>
            <a:ext cx="2578100" cy="2794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000"/>
              </a:lnSpc>
              <a:defRPr/>
            </a:pPr>
            <a:r>
              <a:rPr lang="en-US" sz="1300" b="1" i="0" u="none" strike="noStrike">
                <a:solidFill>
                  <a:srgbClr val="FB923C"/>
                </a:solidFill>
                <a:latin typeface="Noto Sans SC"/>
                <a:ea typeface="Noto Sans SC"/>
                <a:cs typeface="Noto Sans SC"/>
                <a:sym typeface="Noto Sans SC"/>
              </a:rPr>
              <a:t>识别 → 修复 → 验证 → 关闭</a:t>
            </a:r>
            <a:endParaRPr lang="en-US" sz="1100"/>
          </a:p>
        </p:txBody>
      </p:sp>
      <p:sp>
        <p:nvSpPr>
          <p:cNvPr id="17" name="AutoShape 17"/>
          <p:cNvSpPr/>
          <p:nvPr/>
        </p:nvSpPr>
        <p:spPr>
          <a:xfrm>
            <a:off x="3276600" y="3556000"/>
            <a:ext cx="2578100" cy="1651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BD5E1"/>
                </a:solidFill>
                <a:latin typeface="Noto Sans SC"/>
                <a:ea typeface="Noto Sans SC"/>
                <a:cs typeface="Noto Sans SC"/>
                <a:sym typeface="Noto Sans SC"/>
              </a:rPr>
              <a:t>建立了从异常</a:t>
            </a:r>
            <a:r>
              <a:rPr lang="zh-CN" altLang="en-US" sz="1200" b="0" i="0" u="none" strike="noStrike">
                <a:solidFill>
                  <a:srgbClr val="CBD5E1"/>
                </a:solidFill>
                <a:latin typeface="Noto Sans SC"/>
                <a:ea typeface="Noto Sans SC"/>
                <a:cs typeface="Noto Sans SC"/>
                <a:sym typeface="Noto Sans SC"/>
              </a:rPr>
              <a:t>标注</a:t>
            </a:r>
            <a:r>
              <a:rPr lang="en-US" sz="1200" b="0" i="0" u="none" strike="noStrike">
                <a:solidFill>
                  <a:srgbClr val="CBD5E1"/>
                </a:solidFill>
                <a:latin typeface="Noto Sans SC"/>
                <a:ea typeface="Noto Sans SC"/>
                <a:cs typeface="Noto Sans SC"/>
                <a:sym typeface="Noto Sans SC"/>
              </a:rPr>
              <a:t>、人工修复、结果验证到问题彻底关闭的完整管理闭环，确保系统运行中的每一个问题都能被有效跟踪和解决，避免遗漏。</a:t>
            </a:r>
            <a:endParaRPr lang="en-US" sz="1100"/>
          </a:p>
        </p:txBody>
      </p:sp>
      <p:sp>
        <p:nvSpPr>
          <p:cNvPr id="18" name="AutoShape 18"/>
          <p:cNvSpPr/>
          <p:nvPr/>
        </p:nvSpPr>
        <p:spPr>
          <a:xfrm>
            <a:off x="6045200" y="1447800"/>
            <a:ext cx="1498600" cy="927100"/>
          </a:xfrm>
          <a:prstGeom prst="roundRect">
            <a:avLst>
              <a:gd name="adj" fmla="val 0"/>
            </a:avLst>
          </a:prstGeom>
          <a:solidFill>
            <a:srgbClr val="8B5CF6">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045200" y="1676400"/>
            <a:ext cx="1498600" cy="444500"/>
          </a:xfrm>
          <a:prstGeom prst="rect">
            <a:avLst/>
          </a:prstGeom>
          <a:noFill/>
          <a:ln w="9525"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03</a:t>
            </a:r>
            <a:endParaRPr lang="en-US" sz="1100"/>
          </a:p>
        </p:txBody>
      </p:sp>
      <p:sp>
        <p:nvSpPr>
          <p:cNvPr id="20" name="AutoShape 20"/>
          <p:cNvSpPr/>
          <p:nvPr/>
        </p:nvSpPr>
        <p:spPr>
          <a:xfrm>
            <a:off x="6045200" y="2552700"/>
            <a:ext cx="2578100" cy="317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400"/>
              </a:lnSpc>
              <a:defRPr/>
            </a:pPr>
            <a:r>
              <a:rPr lang="en-US" sz="1600" b="1" i="0" u="none" strike="noStrike">
                <a:solidFill>
                  <a:srgbClr val="E2E6E9"/>
                </a:solidFill>
                <a:latin typeface="Noto Sans SC"/>
                <a:ea typeface="Noto Sans SC"/>
                <a:cs typeface="Noto Sans SC"/>
                <a:sym typeface="Noto Sans SC"/>
              </a:rPr>
              <a:t>精确状态恢复机制</a:t>
            </a:r>
            <a:endParaRPr lang="en-US" sz="1100"/>
          </a:p>
        </p:txBody>
      </p:sp>
      <p:sp>
        <p:nvSpPr>
          <p:cNvPr id="21" name="AutoShape 21"/>
          <p:cNvSpPr/>
          <p:nvPr/>
        </p:nvSpPr>
        <p:spPr>
          <a:xfrm>
            <a:off x="6045200" y="3048000"/>
            <a:ext cx="2578100" cy="2794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000"/>
              </a:lnSpc>
              <a:defRPr/>
            </a:pPr>
            <a:r>
              <a:rPr lang="en-US" sz="1300" b="1" i="0" u="none" strike="noStrike">
                <a:solidFill>
                  <a:srgbClr val="A78BFA"/>
                </a:solidFill>
                <a:latin typeface="Noto Sans SC"/>
                <a:ea typeface="Noto Sans SC"/>
                <a:cs typeface="Noto Sans SC"/>
                <a:sym typeface="Noto Sans SC"/>
              </a:rPr>
              <a:t>previous_state · 一键无差错恢复</a:t>
            </a:r>
            <a:endParaRPr lang="en-US" sz="1100"/>
          </a:p>
        </p:txBody>
      </p:sp>
      <p:sp>
        <p:nvSpPr>
          <p:cNvPr id="22" name="AutoShape 22"/>
          <p:cNvSpPr/>
          <p:nvPr/>
        </p:nvSpPr>
        <p:spPr>
          <a:xfrm>
            <a:off x="6045200" y="3556000"/>
            <a:ext cx="2578100" cy="1651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CBD5E1"/>
                </a:solidFill>
                <a:latin typeface="Noto Sans SC"/>
                <a:ea typeface="Noto Sans SC"/>
                <a:cs typeface="Noto Sans SC"/>
                <a:sym typeface="Noto Sans SC"/>
              </a:rPr>
              <a:t>通过记录任务阻塞前的完整上下文与 `previous_state` 字段，系统支持一键式状态回滚。该机制规避了手动恢复可能带来的人为错误，将故障恢复的操作成本降至最低，保障业务连续性。</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0"/>
            <a:ext cx="9144000" cy="5143500"/>
          </a:xfrm>
          <a:prstGeom prst="roundRect">
            <a:avLst>
              <a:gd name="adj" fmla="val 0"/>
            </a:avLst>
          </a:prstGeom>
          <a:solidFill>
            <a:srgbClr val="09151A">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92200" y="342900"/>
            <a:ext cx="1079500" cy="190500"/>
          </a:xfrm>
          <a:prstGeom prst="roundRect">
            <a:avLst>
              <a:gd name="adj" fmla="val 20000"/>
            </a:avLst>
          </a:prstGeom>
          <a:solidFill>
            <a:srgbClr val="001D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155700" y="381000"/>
            <a:ext cx="1270000" cy="1270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950"/>
              </a:lnSpc>
              <a:defRPr/>
            </a:pPr>
            <a:r>
              <a:rPr lang="en-US" sz="700" b="0" i="0" u="none" strike="noStrike">
                <a:solidFill>
                  <a:srgbClr val="E2E6E9"/>
                </a:solidFill>
                <a:latin typeface="Merriweather"/>
                <a:ea typeface="Merriweather"/>
                <a:cs typeface="Merriweather"/>
                <a:sym typeface="Merriweather"/>
              </a:rPr>
              <a:t>PART 02 · 系统架构设计</a:t>
            </a:r>
            <a:endParaRPr lang="en-US" sz="1100"/>
          </a:p>
        </p:txBody>
      </p:sp>
      <p:sp>
        <p:nvSpPr>
          <p:cNvPr id="7" name="AutoShape 7"/>
          <p:cNvSpPr/>
          <p:nvPr/>
        </p:nvSpPr>
        <p:spPr>
          <a:xfrm>
            <a:off x="1092200" y="571500"/>
            <a:ext cx="3810000" cy="3429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700"/>
              </a:lnSpc>
              <a:defRPr/>
            </a:pPr>
            <a:r>
              <a:rPr lang="en-US" sz="2200" b="1" i="0" u="none" strike="noStrike">
                <a:solidFill>
                  <a:srgbClr val="F5F0F0"/>
                </a:solidFill>
                <a:latin typeface="Merriweather"/>
                <a:ea typeface="Merriweather"/>
                <a:cs typeface="Merriweather"/>
                <a:sym typeface="Merriweather"/>
              </a:rPr>
              <a:t>五层分层微服务架构</a:t>
            </a:r>
            <a:endParaRPr lang="en-US" sz="1100"/>
          </a:p>
        </p:txBody>
      </p:sp>
      <p:sp>
        <p:nvSpPr>
          <p:cNvPr id="8" name="AutoShape 8"/>
          <p:cNvSpPr/>
          <p:nvPr/>
        </p:nvSpPr>
        <p:spPr>
          <a:xfrm>
            <a:off x="1092200" y="1028700"/>
            <a:ext cx="6959600" cy="1524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200"/>
              </a:lnSpc>
              <a:defRPr/>
            </a:pPr>
            <a:r>
              <a:rPr lang="en-US" sz="900" b="0" i="0" u="none" strike="noStrike">
                <a:solidFill>
                  <a:srgbClr val="E2E6E9"/>
                </a:solidFill>
                <a:latin typeface="Merriweather"/>
                <a:ea typeface="Merriweather"/>
                <a:cs typeface="Merriweather"/>
                <a:sym typeface="Merriweather"/>
              </a:rPr>
              <a:t>分层解耦 · 按域拆分 · 数据隔离 · 异步事件驱动</a:t>
            </a:r>
            <a:endParaRPr lang="en-US" sz="1100"/>
          </a:p>
        </p:txBody>
      </p:sp>
      <p:sp>
        <p:nvSpPr>
          <p:cNvPr id="10" name="AutoShape 10"/>
          <p:cNvSpPr/>
          <p:nvPr/>
        </p:nvSpPr>
        <p:spPr>
          <a:xfrm>
            <a:off x="4711700" y="2032000"/>
            <a:ext cx="1651000" cy="177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350"/>
              </a:lnSpc>
              <a:defRPr/>
            </a:pPr>
            <a:r>
              <a:rPr lang="en-US" sz="1300" b="1" i="0" u="none" strike="noStrike">
                <a:solidFill>
                  <a:srgbClr val="F5F0F0"/>
                </a:solidFill>
                <a:latin typeface="Noto Sans SC"/>
                <a:ea typeface="Noto Sans SC"/>
                <a:cs typeface="Noto Sans SC"/>
                <a:sym typeface="Noto Sans SC"/>
              </a:rPr>
              <a:t>核心设计原则与组件</a:t>
            </a:r>
            <a:endParaRPr lang="en-US" sz="1100"/>
          </a:p>
        </p:txBody>
      </p:sp>
      <p:sp>
        <p:nvSpPr>
          <p:cNvPr id="11" name="AutoShape 11"/>
          <p:cNvSpPr/>
          <p:nvPr/>
        </p:nvSpPr>
        <p:spPr>
          <a:xfrm>
            <a:off x="4699000" y="2540000"/>
            <a:ext cx="25400" cy="584200"/>
          </a:xfrm>
          <a:prstGeom prst="roundRect">
            <a:avLst>
              <a:gd name="adj" fmla="val 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851400" y="2540000"/>
            <a:ext cx="1460500" cy="177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350"/>
              </a:lnSpc>
              <a:defRPr/>
            </a:pPr>
            <a:r>
              <a:rPr lang="en-US" sz="1100" b="1" i="0" u="none" strike="noStrike">
                <a:solidFill>
                  <a:srgbClr val="E2E6E9"/>
                </a:solidFill>
                <a:latin typeface="Noto Sans SC"/>
                <a:ea typeface="Noto Sans SC"/>
                <a:cs typeface="Noto Sans SC"/>
                <a:sym typeface="Noto Sans SC"/>
              </a:rPr>
              <a:t>前端交互层</a:t>
            </a:r>
            <a:endParaRPr lang="en-US" sz="1100"/>
          </a:p>
        </p:txBody>
      </p:sp>
      <p:sp>
        <p:nvSpPr>
          <p:cNvPr id="13" name="AutoShape 13"/>
          <p:cNvSpPr/>
          <p:nvPr/>
        </p:nvSpPr>
        <p:spPr>
          <a:xfrm>
            <a:off x="4851400" y="2921000"/>
            <a:ext cx="1460500" cy="762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900" b="0" i="0" u="none" strike="noStrike">
                <a:solidFill>
                  <a:srgbClr val="C8C8C8"/>
                </a:solidFill>
                <a:latin typeface="Noto Sans SC"/>
                <a:ea typeface="Noto Sans SC"/>
                <a:cs typeface="Noto Sans SC"/>
                <a:sym typeface="Noto Sans SC"/>
              </a:rPr>
              <a:t>Vue 3 + Element Plus</a:t>
            </a:r>
            <a:br>
              <a:rPr lang="en-US" sz="900" b="0" i="0" u="none" strike="noStrike">
                <a:solidFill>
                  <a:srgbClr val="C8C8C8"/>
                </a:solidFill>
                <a:latin typeface="Noto Sans SC"/>
                <a:ea typeface="Noto Sans SC"/>
                <a:cs typeface="Noto Sans SC"/>
                <a:sym typeface="Noto Sans SC"/>
              </a:rPr>
            </a:br>
            <a:r>
              <a:rPr lang="en-US" sz="900" b="0" i="0" u="none" strike="noStrike">
                <a:solidFill>
                  <a:srgbClr val="C8C8C8"/>
                </a:solidFill>
                <a:latin typeface="Noto Sans SC"/>
                <a:ea typeface="Noto Sans SC"/>
                <a:cs typeface="Noto Sans SC"/>
                <a:sym typeface="Noto Sans SC"/>
              </a:rPr>
              <a:t>Pinia 状态管理 + ECharts 可视化</a:t>
            </a:r>
            <a:endParaRPr lang="en-US" sz="1100"/>
          </a:p>
        </p:txBody>
      </p:sp>
      <p:sp>
        <p:nvSpPr>
          <p:cNvPr id="14" name="AutoShape 14"/>
          <p:cNvSpPr/>
          <p:nvPr/>
        </p:nvSpPr>
        <p:spPr>
          <a:xfrm>
            <a:off x="6477000" y="2540000"/>
            <a:ext cx="25400" cy="584200"/>
          </a:xfrm>
          <a:prstGeom prst="roundRect">
            <a:avLst>
              <a:gd name="adj" fmla="val 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29400" y="2540000"/>
            <a:ext cx="1460500" cy="177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350"/>
              </a:lnSpc>
              <a:defRPr/>
            </a:pPr>
            <a:r>
              <a:rPr lang="en-US" sz="1100" b="1" i="0" u="none" strike="noStrike">
                <a:solidFill>
                  <a:srgbClr val="E2E6E9"/>
                </a:solidFill>
                <a:latin typeface="Noto Sans SC"/>
                <a:ea typeface="Noto Sans SC"/>
                <a:cs typeface="Noto Sans SC"/>
                <a:sym typeface="Noto Sans SC"/>
              </a:rPr>
              <a:t>网关路由层</a:t>
            </a:r>
            <a:endParaRPr lang="en-US" sz="1100"/>
          </a:p>
        </p:txBody>
      </p:sp>
      <p:sp>
        <p:nvSpPr>
          <p:cNvPr id="16" name="AutoShape 16"/>
          <p:cNvSpPr/>
          <p:nvPr/>
        </p:nvSpPr>
        <p:spPr>
          <a:xfrm>
            <a:off x="6629400" y="2921000"/>
            <a:ext cx="1460500" cy="762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900" b="0" i="0" u="none" strike="noStrike">
                <a:solidFill>
                  <a:srgbClr val="C8C8C8"/>
                </a:solidFill>
                <a:latin typeface="Noto Sans SC"/>
                <a:ea typeface="Noto Sans SC"/>
                <a:cs typeface="Noto Sans SC"/>
                <a:sym typeface="Noto Sans SC"/>
              </a:rPr>
              <a:t>Spring Cloud Gateway</a:t>
            </a:r>
            <a:br>
              <a:rPr lang="en-US" sz="900" b="0" i="0" u="none" strike="noStrike">
                <a:solidFill>
                  <a:srgbClr val="C8C8C8"/>
                </a:solidFill>
                <a:latin typeface="Noto Sans SC"/>
                <a:ea typeface="Noto Sans SC"/>
                <a:cs typeface="Noto Sans SC"/>
                <a:sym typeface="Noto Sans SC"/>
              </a:rPr>
            </a:br>
            <a:r>
              <a:rPr lang="en-US" sz="900" b="0" i="0" u="none" strike="noStrike">
                <a:solidFill>
                  <a:srgbClr val="C8C8C8"/>
                </a:solidFill>
                <a:latin typeface="Noto Sans SC"/>
                <a:ea typeface="Noto Sans SC"/>
                <a:cs typeface="Noto Sans SC"/>
                <a:sym typeface="Noto Sans SC"/>
              </a:rPr>
              <a:t>JWT 统一认证 / 路由限流 / 网关过滤</a:t>
            </a:r>
            <a:endParaRPr lang="en-US" sz="1100"/>
          </a:p>
        </p:txBody>
      </p:sp>
      <p:sp>
        <p:nvSpPr>
          <p:cNvPr id="17" name="AutoShape 17"/>
          <p:cNvSpPr/>
          <p:nvPr/>
        </p:nvSpPr>
        <p:spPr>
          <a:xfrm>
            <a:off x="4699000" y="3937000"/>
            <a:ext cx="25400" cy="584200"/>
          </a:xfrm>
          <a:prstGeom prst="roundRect">
            <a:avLst>
              <a:gd name="adj" fmla="val 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851400" y="3937000"/>
            <a:ext cx="1460500" cy="177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350"/>
              </a:lnSpc>
              <a:defRPr/>
            </a:pPr>
            <a:r>
              <a:rPr lang="en-US" sz="1100" b="1" i="0" u="none" strike="noStrike">
                <a:solidFill>
                  <a:srgbClr val="E2E6E9"/>
                </a:solidFill>
                <a:latin typeface="Noto Sans SC"/>
                <a:ea typeface="Noto Sans SC"/>
                <a:cs typeface="Noto Sans SC"/>
                <a:sym typeface="Noto Sans SC"/>
              </a:rPr>
              <a:t>微服务业务层</a:t>
            </a:r>
            <a:endParaRPr lang="en-US" sz="1100"/>
          </a:p>
        </p:txBody>
      </p:sp>
      <p:sp>
        <p:nvSpPr>
          <p:cNvPr id="19" name="AutoShape 19"/>
          <p:cNvSpPr/>
          <p:nvPr/>
        </p:nvSpPr>
        <p:spPr>
          <a:xfrm>
            <a:off x="4851400" y="4318000"/>
            <a:ext cx="1460500" cy="762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900" b="0" i="0" u="none" strike="noStrike">
                <a:solidFill>
                  <a:srgbClr val="C8C8C8"/>
                </a:solidFill>
                <a:latin typeface="Noto Sans SC"/>
                <a:ea typeface="Noto Sans SC"/>
                <a:cs typeface="Noto Sans SC"/>
                <a:sym typeface="Noto Sans SC"/>
              </a:rPr>
              <a:t>7大核心微服务独立部署</a:t>
            </a:r>
            <a:br>
              <a:rPr lang="en-US" sz="900" b="0" i="0" u="none" strike="noStrike">
                <a:solidFill>
                  <a:srgbClr val="C8C8C8"/>
                </a:solidFill>
                <a:latin typeface="Noto Sans SC"/>
                <a:ea typeface="Noto Sans SC"/>
                <a:cs typeface="Noto Sans SC"/>
                <a:sym typeface="Noto Sans SC"/>
              </a:rPr>
            </a:br>
            <a:r>
              <a:rPr lang="en-US" sz="900" b="0" i="0" u="none" strike="noStrike">
                <a:solidFill>
                  <a:srgbClr val="C8C8C8"/>
                </a:solidFill>
                <a:latin typeface="Noto Sans SC"/>
                <a:ea typeface="Noto Sans SC"/>
                <a:cs typeface="Noto Sans SC"/>
                <a:sym typeface="Noto Sans SC"/>
              </a:rPr>
              <a:t>按业务领域拆分，高内聚低耦合</a:t>
            </a:r>
            <a:endParaRPr lang="en-US" sz="1100"/>
          </a:p>
        </p:txBody>
      </p:sp>
      <p:sp>
        <p:nvSpPr>
          <p:cNvPr id="20" name="AutoShape 20"/>
          <p:cNvSpPr/>
          <p:nvPr/>
        </p:nvSpPr>
        <p:spPr>
          <a:xfrm>
            <a:off x="6477000" y="3937000"/>
            <a:ext cx="25400" cy="584200"/>
          </a:xfrm>
          <a:prstGeom prst="roundRect">
            <a:avLst>
              <a:gd name="adj" fmla="val 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29400" y="3937000"/>
            <a:ext cx="1460500" cy="177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350"/>
              </a:lnSpc>
              <a:defRPr/>
            </a:pPr>
            <a:r>
              <a:rPr lang="en-US" sz="1100" b="1" i="0" u="none" strike="noStrike">
                <a:solidFill>
                  <a:srgbClr val="E2E6E9"/>
                </a:solidFill>
                <a:latin typeface="Noto Sans SC"/>
                <a:ea typeface="Noto Sans SC"/>
                <a:cs typeface="Noto Sans SC"/>
                <a:sym typeface="Noto Sans SC"/>
              </a:rPr>
              <a:t>基础设施层</a:t>
            </a:r>
            <a:endParaRPr lang="en-US" sz="1100"/>
          </a:p>
        </p:txBody>
      </p:sp>
      <p:sp>
        <p:nvSpPr>
          <p:cNvPr id="22" name="AutoShape 22"/>
          <p:cNvSpPr/>
          <p:nvPr/>
        </p:nvSpPr>
        <p:spPr>
          <a:xfrm>
            <a:off x="6629400" y="4318000"/>
            <a:ext cx="1460500" cy="762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900" b="0" i="0" u="none" strike="noStrike">
                <a:solidFill>
                  <a:srgbClr val="C8C8C8"/>
                </a:solidFill>
                <a:latin typeface="Noto Sans SC"/>
                <a:ea typeface="Noto Sans SC"/>
                <a:cs typeface="Noto Sans SC"/>
                <a:sym typeface="Noto Sans SC"/>
              </a:rPr>
              <a:t>Redis 高性能缓存</a:t>
            </a:r>
            <a:br>
              <a:rPr lang="en-US" sz="900" b="0" i="0" u="none" strike="noStrike">
                <a:solidFill>
                  <a:srgbClr val="C8C8C8"/>
                </a:solidFill>
                <a:latin typeface="Noto Sans SC"/>
                <a:ea typeface="Noto Sans SC"/>
                <a:cs typeface="Noto Sans SC"/>
                <a:sym typeface="Noto Sans SC"/>
              </a:rPr>
            </a:br>
            <a:r>
              <a:rPr lang="en-US" sz="900" b="0" i="0" u="none" strike="noStrike">
                <a:solidFill>
                  <a:srgbClr val="C8C8C8"/>
                </a:solidFill>
                <a:latin typeface="Noto Sans SC"/>
                <a:ea typeface="Noto Sans SC"/>
                <a:cs typeface="Noto Sans SC"/>
                <a:sym typeface="Noto Sans SC"/>
              </a:rPr>
              <a:t>RabbitMQ 事件总线 / MySQL 8.0 持久化</a:t>
            </a:r>
            <a:endParaRPr lang="en-US" sz="1100"/>
          </a:p>
        </p:txBody>
      </p:sp>
      <p:pic>
        <p:nvPicPr>
          <p:cNvPr id="23" name="图片 22"/>
          <p:cNvPicPr>
            <a:picLocks noChangeAspect="1"/>
          </p:cNvPicPr>
          <p:nvPr/>
        </p:nvPicPr>
        <p:blipFill>
          <a:blip r:embed="rId2"/>
          <a:srcRect r="65295"/>
          <a:stretch>
            <a:fillRect/>
          </a:stretch>
        </p:blipFill>
        <p:spPr>
          <a:xfrm>
            <a:off x="1022350" y="1314450"/>
            <a:ext cx="2950210" cy="30111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4" name="AutoShape 4"/>
          <p:cNvSpPr/>
          <p:nvPr/>
        </p:nvSpPr>
        <p:spPr>
          <a:xfrm>
            <a:off x="224155" y="304800"/>
            <a:ext cx="1270000" cy="203200"/>
          </a:xfrm>
          <a:prstGeom prst="roundRect">
            <a:avLst>
              <a:gd name="adj" fmla="val 18750"/>
            </a:avLst>
          </a:prstGeom>
          <a:solidFill>
            <a:srgbClr val="001D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287655" y="330200"/>
            <a:ext cx="1143000" cy="1524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defRPr/>
            </a:pPr>
            <a:r>
              <a:rPr lang="en-US" sz="800" b="0" i="0" u="none" strike="noStrike">
                <a:solidFill>
                  <a:srgbClr val="E2E6E9"/>
                </a:solidFill>
                <a:latin typeface="Merriweather"/>
                <a:ea typeface="Merriweather"/>
                <a:cs typeface="Merriweather"/>
                <a:sym typeface="Merriweather"/>
              </a:rPr>
              <a:t>PART 02 · 系统架构设计</a:t>
            </a:r>
            <a:endParaRPr lang="en-US" sz="1100"/>
          </a:p>
        </p:txBody>
      </p:sp>
      <p:sp>
        <p:nvSpPr>
          <p:cNvPr id="6" name="AutoShape 6"/>
          <p:cNvSpPr/>
          <p:nvPr/>
        </p:nvSpPr>
        <p:spPr>
          <a:xfrm>
            <a:off x="224155" y="635000"/>
            <a:ext cx="5080000" cy="4064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2200" b="1" i="0" u="none" strike="noStrike">
                <a:solidFill>
                  <a:srgbClr val="F5F0F0"/>
                </a:solidFill>
                <a:latin typeface="Merriweather"/>
                <a:ea typeface="Merriweather"/>
                <a:cs typeface="Merriweather"/>
                <a:sym typeface="Merriweather"/>
              </a:rPr>
              <a:t>6库隔离架构设计</a:t>
            </a:r>
            <a:endParaRPr lang="en-US" sz="1100"/>
          </a:p>
        </p:txBody>
      </p:sp>
      <p:sp>
        <p:nvSpPr>
          <p:cNvPr id="7" name="AutoShape 7"/>
          <p:cNvSpPr/>
          <p:nvPr/>
        </p:nvSpPr>
        <p:spPr>
          <a:xfrm>
            <a:off x="224155" y="1333500"/>
            <a:ext cx="1524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C107"/>
                </a:solidFill>
                <a:latin typeface="Noto Sans SC"/>
                <a:ea typeface="Noto Sans SC"/>
                <a:cs typeface="Noto Sans SC"/>
                <a:sym typeface="Noto Sans SC"/>
              </a:rPr>
              <a:t>▍ 核心设计原则</a:t>
            </a:r>
            <a:endParaRPr lang="en-US" sz="1100"/>
          </a:p>
        </p:txBody>
      </p:sp>
      <p:sp>
        <p:nvSpPr>
          <p:cNvPr id="8" name="AutoShape 8"/>
          <p:cNvSpPr/>
          <p:nvPr/>
        </p:nvSpPr>
        <p:spPr>
          <a:xfrm>
            <a:off x="224155" y="1841500"/>
            <a:ext cx="1968500" cy="1143000"/>
          </a:xfrm>
          <a:prstGeom prst="roundRect">
            <a:avLst>
              <a:gd name="adj" fmla="val 4444"/>
            </a:avLst>
          </a:prstGeom>
          <a:solidFill>
            <a:srgbClr val="1A3055">
              <a:alpha val="100000"/>
            </a:srgbClr>
          </a:solidFill>
          <a:ln w="12700" cap="flat" cmpd="sng">
            <a:solidFill>
              <a:srgbClr val="4472C4">
                <a:alpha val="5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287655" y="1905000"/>
            <a:ext cx="1841500" cy="1016000"/>
          </a:xfrm>
          <a:prstGeom prst="roundRect">
            <a:avLst>
              <a:gd name="adj" fmla="val 0"/>
            </a:avLst>
          </a:prstGeom>
          <a:noFill/>
          <a:ln w="25400" cap="flat" cmpd="sng">
            <a:noFill/>
            <a:prstDash val="solid"/>
            <a:round/>
          </a:ln>
        </p:spPr>
        <p:txBody>
          <a:bodyPr vert="horz" wrap="square" lIns="63500" tIns="63500" rIns="63500" bIns="63500" rtlCol="0" anchor="t" anchorCtr="0"/>
          <a:lstStyle/>
          <a:p>
            <a:pPr indent="0" algn="l">
              <a:lnSpc>
                <a:spcPct val="92000"/>
              </a:lnSpc>
              <a:defRPr/>
            </a:pPr>
            <a:r>
              <a:rPr lang="en-US" sz="1300" b="1" i="0" u="none" strike="noStrike">
                <a:solidFill>
                  <a:srgbClr val="FFFFFF"/>
                </a:solidFill>
                <a:latin typeface="Noto Sans SC"/>
                <a:ea typeface="Noto Sans SC"/>
                <a:cs typeface="Noto Sans SC"/>
                <a:sym typeface="Noto Sans SC"/>
              </a:rPr>
              <a:t>物理隔离</a:t>
            </a:r>
            <a:endParaRPr lang="en-US" sz="1100"/>
          </a:p>
          <a:p>
            <a:pPr indent="0" algn="l">
              <a:lnSpc>
                <a:spcPct val="100000"/>
              </a:lnSpc>
            </a:pPr>
            <a:r>
              <a:rPr lang="en-US" sz="1000" b="0" i="0" u="none" strike="noStrike">
                <a:solidFill>
                  <a:srgbClr val="BDC3C7"/>
                </a:solidFill>
                <a:latin typeface="Noto Sans SC"/>
                <a:ea typeface="Noto Sans SC"/>
                <a:cs typeface="Noto Sans SC"/>
                <a:sym typeface="Noto Sans SC"/>
              </a:rPr>
              <a:t>每个微服务拥有独立数据库实例，禁止跨库直接查询，保障数据安全与稳定性。</a:t>
            </a:r>
            <a:endParaRPr lang="en-US" sz="1000" b="0" i="0" u="none" strike="noStrike">
              <a:solidFill>
                <a:srgbClr val="BDC3C7"/>
              </a:solidFill>
              <a:latin typeface="Noto Sans SC"/>
              <a:ea typeface="Noto Sans SC"/>
              <a:cs typeface="Noto Sans SC"/>
              <a:sym typeface="Noto Sans SC"/>
            </a:endParaRPr>
          </a:p>
        </p:txBody>
      </p:sp>
      <p:sp>
        <p:nvSpPr>
          <p:cNvPr id="10" name="AutoShape 10"/>
          <p:cNvSpPr/>
          <p:nvPr/>
        </p:nvSpPr>
        <p:spPr>
          <a:xfrm>
            <a:off x="2395855" y="1841500"/>
            <a:ext cx="1968500" cy="1143000"/>
          </a:xfrm>
          <a:prstGeom prst="roundRect">
            <a:avLst>
              <a:gd name="adj" fmla="val 4444"/>
            </a:avLst>
          </a:prstGeom>
          <a:solidFill>
            <a:srgbClr val="1A3055">
              <a:alpha val="100000"/>
            </a:srgbClr>
          </a:solidFill>
          <a:ln w="12700" cap="flat" cmpd="sng">
            <a:solidFill>
              <a:srgbClr val="4472C4">
                <a:alpha val="5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2459355" y="1905000"/>
            <a:ext cx="1841500" cy="1016000"/>
          </a:xfrm>
          <a:prstGeom prst="roundRect">
            <a:avLst>
              <a:gd name="adj" fmla="val 0"/>
            </a:avLst>
          </a:prstGeom>
          <a:noFill/>
          <a:ln w="25400" cap="flat" cmpd="sng">
            <a:noFill/>
            <a:prstDash val="solid"/>
            <a:round/>
          </a:ln>
        </p:spPr>
        <p:txBody>
          <a:bodyPr vert="horz" wrap="square" lIns="63500" tIns="63500" rIns="63500" bIns="63500" rtlCol="0" anchor="t" anchorCtr="0"/>
          <a:lstStyle/>
          <a:p>
            <a:pPr indent="0" algn="l">
              <a:lnSpc>
                <a:spcPct val="92000"/>
              </a:lnSpc>
              <a:defRPr/>
            </a:pPr>
            <a:r>
              <a:rPr lang="en-US" sz="1300" b="1" i="0" u="none" strike="noStrike">
                <a:solidFill>
                  <a:srgbClr val="FFFFFF"/>
                </a:solidFill>
                <a:latin typeface="Noto Sans SC"/>
                <a:ea typeface="Noto Sans SC"/>
                <a:cs typeface="Noto Sans SC"/>
                <a:sym typeface="Noto Sans SC"/>
              </a:rPr>
              <a:t>事件同步</a:t>
            </a:r>
            <a:endParaRPr lang="en-US" sz="1100"/>
          </a:p>
          <a:p>
            <a:pPr indent="0" algn="l">
              <a:lnSpc>
                <a:spcPct val="100000"/>
              </a:lnSpc>
            </a:pPr>
            <a:r>
              <a:rPr lang="en-US" sz="1000" b="0" i="0" u="none" strike="noStrike">
                <a:solidFill>
                  <a:srgbClr val="BDC3C7"/>
                </a:solidFill>
                <a:latin typeface="Noto Sans SC"/>
                <a:ea typeface="Noto Sans SC"/>
                <a:cs typeface="Noto Sans SC"/>
                <a:sym typeface="Noto Sans SC"/>
              </a:rPr>
              <a:t>跨服务数据共享通过 RESTful API 或 MQ 消息队列异步同步，实现最终一致性。</a:t>
            </a:r>
            <a:endParaRPr lang="en-US" sz="1000" b="0" i="0" u="none" strike="noStrike">
              <a:solidFill>
                <a:srgbClr val="BDC3C7"/>
              </a:solidFill>
              <a:latin typeface="Noto Sans SC"/>
              <a:ea typeface="Noto Sans SC"/>
              <a:cs typeface="Noto Sans SC"/>
              <a:sym typeface="Noto Sans SC"/>
            </a:endParaRPr>
          </a:p>
        </p:txBody>
      </p:sp>
      <p:sp>
        <p:nvSpPr>
          <p:cNvPr id="12" name="AutoShape 12"/>
          <p:cNvSpPr/>
          <p:nvPr/>
        </p:nvSpPr>
        <p:spPr>
          <a:xfrm>
            <a:off x="4554855" y="1841500"/>
            <a:ext cx="1968500" cy="1143000"/>
          </a:xfrm>
          <a:prstGeom prst="roundRect">
            <a:avLst>
              <a:gd name="adj" fmla="val 4444"/>
            </a:avLst>
          </a:prstGeom>
          <a:solidFill>
            <a:srgbClr val="1A3055">
              <a:alpha val="100000"/>
            </a:srgbClr>
          </a:solidFill>
          <a:ln w="12700" cap="flat" cmpd="sng">
            <a:solidFill>
              <a:srgbClr val="4472C4">
                <a:alpha val="5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618355" y="1905000"/>
            <a:ext cx="1841500" cy="1016000"/>
          </a:xfrm>
          <a:prstGeom prst="roundRect">
            <a:avLst>
              <a:gd name="adj" fmla="val 0"/>
            </a:avLst>
          </a:prstGeom>
          <a:noFill/>
          <a:ln w="25400" cap="flat" cmpd="sng">
            <a:noFill/>
            <a:prstDash val="solid"/>
            <a:round/>
          </a:ln>
        </p:spPr>
        <p:txBody>
          <a:bodyPr vert="horz" wrap="square" lIns="63500" tIns="63500" rIns="63500" bIns="63500" rtlCol="0" anchor="t" anchorCtr="0"/>
          <a:lstStyle/>
          <a:p>
            <a:pPr indent="0" algn="l">
              <a:lnSpc>
                <a:spcPct val="92000"/>
              </a:lnSpc>
              <a:defRPr/>
            </a:pPr>
            <a:r>
              <a:rPr lang="en-US" sz="1300" b="1" i="0" u="none" strike="noStrike">
                <a:solidFill>
                  <a:srgbClr val="FFFFFF"/>
                </a:solidFill>
                <a:latin typeface="Noto Sans SC"/>
                <a:ea typeface="Noto Sans SC"/>
                <a:cs typeface="Noto Sans SC"/>
                <a:sym typeface="Noto Sans SC"/>
              </a:rPr>
              <a:t>性能优化</a:t>
            </a:r>
            <a:endParaRPr lang="en-US" sz="1100"/>
          </a:p>
          <a:p>
            <a:pPr indent="0" algn="l">
              <a:lnSpc>
                <a:spcPct val="100000"/>
              </a:lnSpc>
            </a:pPr>
            <a:r>
              <a:rPr lang="en-US" sz="1000" b="0" i="0" u="none" strike="noStrike">
                <a:solidFill>
                  <a:srgbClr val="BDC3C7"/>
                </a:solidFill>
                <a:latin typeface="Noto Sans SC"/>
                <a:ea typeface="Noto Sans SC"/>
                <a:cs typeface="Noto Sans SC"/>
                <a:sym typeface="Noto Sans SC"/>
              </a:rPr>
              <a:t>核心高频查询字段建立复合索引；利用分库分表应对海量数据，支撑高并发。</a:t>
            </a:r>
            <a:endParaRPr lang="en-US" sz="1000" b="0" i="0" u="none" strike="noStrike">
              <a:solidFill>
                <a:srgbClr val="BDC3C7"/>
              </a:solidFill>
              <a:latin typeface="Noto Sans SC"/>
              <a:ea typeface="Noto Sans SC"/>
              <a:cs typeface="Noto Sans SC"/>
              <a:sym typeface="Noto Sans SC"/>
            </a:endParaRPr>
          </a:p>
        </p:txBody>
      </p:sp>
      <p:sp>
        <p:nvSpPr>
          <p:cNvPr id="14" name="AutoShape 14"/>
          <p:cNvSpPr/>
          <p:nvPr/>
        </p:nvSpPr>
        <p:spPr>
          <a:xfrm>
            <a:off x="6650355" y="1841500"/>
            <a:ext cx="1968500" cy="1143000"/>
          </a:xfrm>
          <a:prstGeom prst="roundRect">
            <a:avLst>
              <a:gd name="adj" fmla="val 4444"/>
            </a:avLst>
          </a:prstGeom>
          <a:solidFill>
            <a:srgbClr val="0D213C">
              <a:alpha val="100000"/>
            </a:srgbClr>
          </a:solidFill>
          <a:ln w="12700" cap="flat" cmpd="sng">
            <a:solidFill>
              <a:srgbClr val="FFC107">
                <a:alpha val="6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713855" y="1905000"/>
            <a:ext cx="1841500" cy="1016000"/>
          </a:xfrm>
          <a:prstGeom prst="roundRect">
            <a:avLst>
              <a:gd name="adj" fmla="val 0"/>
            </a:avLst>
          </a:prstGeom>
          <a:noFill/>
          <a:ln w="25400" cap="flat" cmpd="sng">
            <a:noFill/>
            <a:prstDash val="solid"/>
            <a:round/>
          </a:ln>
        </p:spPr>
        <p:txBody>
          <a:bodyPr vert="horz" wrap="square" lIns="63500" tIns="63500" rIns="63500" bIns="63500" rtlCol="0" anchor="t" anchorCtr="0"/>
          <a:lstStyle/>
          <a:p>
            <a:pPr indent="0" algn="l">
              <a:lnSpc>
                <a:spcPct val="92000"/>
              </a:lnSpc>
              <a:defRPr/>
            </a:pPr>
            <a:r>
              <a:rPr lang="en-US" sz="1300" b="1" i="0" u="none" strike="noStrike">
                <a:solidFill>
                  <a:srgbClr val="FFC107"/>
                </a:solidFill>
                <a:latin typeface="Noto Sans SC"/>
                <a:ea typeface="Noto Sans SC"/>
                <a:cs typeface="Noto Sans SC"/>
                <a:sym typeface="Noto Sans SC"/>
              </a:rPr>
              <a:t>技术底座</a:t>
            </a:r>
            <a:endParaRPr lang="en-US" sz="1100"/>
          </a:p>
          <a:p>
            <a:pPr indent="0" algn="l">
              <a:lnSpc>
                <a:spcPct val="100000"/>
              </a:lnSpc>
            </a:pPr>
            <a:r>
              <a:rPr lang="en-US" sz="1000" b="0" i="0" u="none" strike="noStrike">
                <a:solidFill>
                  <a:srgbClr val="BDC3C7"/>
                </a:solidFill>
                <a:latin typeface="Noto Sans SC"/>
                <a:ea typeface="Noto Sans SC"/>
                <a:cs typeface="Noto Sans SC"/>
                <a:sym typeface="Noto Sans SC"/>
              </a:rPr>
              <a:t>MySQL 8.0 InnoDB + MyBatis-Plus + 雪花ID + 逻辑删除 + 乐观锁机制。</a:t>
            </a:r>
            <a:endParaRPr lang="en-US" sz="1000" b="0" i="0" u="none" strike="noStrike">
              <a:solidFill>
                <a:srgbClr val="BDC3C7"/>
              </a:solidFill>
              <a:latin typeface="Noto Sans SC"/>
              <a:ea typeface="Noto Sans SC"/>
              <a:cs typeface="Noto Sans SC"/>
              <a:sym typeface="Noto Sans SC"/>
            </a:endParaRPr>
          </a:p>
        </p:txBody>
      </p:sp>
      <p:sp>
        <p:nvSpPr>
          <p:cNvPr id="16" name="AutoShape 16"/>
          <p:cNvSpPr/>
          <p:nvPr/>
        </p:nvSpPr>
        <p:spPr>
          <a:xfrm>
            <a:off x="224155" y="3238500"/>
            <a:ext cx="1524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2ECC71"/>
                </a:solidFill>
                <a:latin typeface="Noto Sans SC"/>
                <a:ea typeface="Noto Sans SC"/>
                <a:cs typeface="Noto Sans SC"/>
                <a:sym typeface="Noto Sans SC"/>
              </a:rPr>
              <a:t>▍ 六大业务数据库</a:t>
            </a:r>
            <a:endParaRPr lang="en-US" sz="1100"/>
          </a:p>
        </p:txBody>
      </p:sp>
      <p:sp>
        <p:nvSpPr>
          <p:cNvPr id="17" name="AutoShape 17"/>
          <p:cNvSpPr/>
          <p:nvPr/>
        </p:nvSpPr>
        <p:spPr>
          <a:xfrm>
            <a:off x="224155" y="3746500"/>
            <a:ext cx="1371600" cy="1333500"/>
          </a:xfrm>
          <a:prstGeom prst="roundRect">
            <a:avLst>
              <a:gd name="adj" fmla="val 3809"/>
            </a:avLst>
          </a:prstGeom>
          <a:solidFill>
            <a:srgbClr val="2332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274955" y="3810000"/>
            <a:ext cx="1270000" cy="1206500"/>
          </a:xfrm>
          <a:prstGeom prst="roundRect">
            <a:avLst>
              <a:gd name="adj" fmla="val 0"/>
            </a:avLst>
          </a:prstGeom>
          <a:noFill/>
          <a:ln w="25400" cap="flat" cmpd="sng">
            <a:noFill/>
            <a:prstDash val="solid"/>
            <a:round/>
          </a:ln>
        </p:spPr>
        <p:txBody>
          <a:bodyPr vert="horz" wrap="square" lIns="0" tIns="63500" rIns="0" bIns="0" rtlCol="0" anchor="t" anchorCtr="0"/>
          <a:lstStyle/>
          <a:p>
            <a:pPr indent="0" algn="ctr">
              <a:lnSpc>
                <a:spcPct val="100000"/>
              </a:lnSpc>
              <a:defRPr/>
            </a:pPr>
            <a:r>
              <a:rPr lang="en-US" sz="1100" b="1" i="0" u="none" strike="noStrike">
                <a:solidFill>
                  <a:srgbClr val="3498DB"/>
                </a:solidFill>
                <a:latin typeface="Noto Sans SC"/>
                <a:ea typeface="Noto Sans SC"/>
                <a:cs typeface="Noto Sans SC"/>
                <a:sym typeface="Noto Sans SC"/>
              </a:rPr>
              <a:t>鉴权库 (Auth)</a:t>
            </a:r>
            <a:endParaRPr lang="en-US" sz="1100"/>
          </a:p>
          <a:p>
            <a:pPr indent="0" algn="ctr">
              <a:lnSpc>
                <a:spcPct val="108000"/>
              </a:lnSpc>
            </a:pPr>
            <a:r>
              <a:rPr lang="en-US" sz="900" b="0" i="0" u="none" strike="noStrike">
                <a:solidFill>
                  <a:srgbClr val="95A5A6"/>
                </a:solidFill>
                <a:latin typeface="Noto Sans SC"/>
                <a:ea typeface="Noto Sans SC"/>
                <a:cs typeface="Noto Sans SC"/>
                <a:sym typeface="Noto Sans SC"/>
              </a:rPr>
              <a:t>用户、角色、权限</a:t>
            </a:r>
            <a:br>
              <a:rPr lang="en-US" sz="1600" b="0" i="0" u="none" strike="noStrike">
                <a:solidFill>
                  <a:srgbClr val="1F2329"/>
                </a:solidFill>
                <a:latin typeface="Noto Sans SC"/>
                <a:ea typeface="Noto Sans SC"/>
                <a:cs typeface="Noto Sans SC"/>
                <a:sym typeface="Noto Sans SC"/>
              </a:rPr>
            </a:br>
            <a:r>
              <a:rPr lang="en-US" sz="900" b="0" i="0" u="none" strike="noStrike">
                <a:solidFill>
                  <a:srgbClr val="95A5A6"/>
                </a:solidFill>
                <a:latin typeface="Noto Sans SC"/>
                <a:ea typeface="Noto Sans SC"/>
                <a:cs typeface="Noto Sans SC"/>
                <a:sym typeface="Noto Sans SC"/>
              </a:rPr>
              <a:t>登录会话Token</a:t>
            </a:r>
            <a:endParaRPr lang="en-US" sz="900" b="0" i="0" u="none" strike="noStrike">
              <a:solidFill>
                <a:srgbClr val="95A5A6"/>
              </a:solidFill>
              <a:latin typeface="Noto Sans SC"/>
              <a:ea typeface="Noto Sans SC"/>
              <a:cs typeface="Noto Sans SC"/>
              <a:sym typeface="Noto Sans SC"/>
            </a:endParaRPr>
          </a:p>
        </p:txBody>
      </p:sp>
      <p:sp>
        <p:nvSpPr>
          <p:cNvPr id="19" name="AutoShape 19"/>
          <p:cNvSpPr/>
          <p:nvPr/>
        </p:nvSpPr>
        <p:spPr>
          <a:xfrm>
            <a:off x="1697355" y="3746500"/>
            <a:ext cx="1371600" cy="1333500"/>
          </a:xfrm>
          <a:prstGeom prst="roundRect">
            <a:avLst>
              <a:gd name="adj" fmla="val 3809"/>
            </a:avLst>
          </a:prstGeom>
          <a:solidFill>
            <a:srgbClr val="2332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748155" y="3810000"/>
            <a:ext cx="1270000" cy="1206500"/>
          </a:xfrm>
          <a:prstGeom prst="roundRect">
            <a:avLst>
              <a:gd name="adj" fmla="val 0"/>
            </a:avLst>
          </a:prstGeom>
          <a:noFill/>
          <a:ln w="25400" cap="flat" cmpd="sng">
            <a:noFill/>
            <a:prstDash val="solid"/>
            <a:round/>
          </a:ln>
        </p:spPr>
        <p:txBody>
          <a:bodyPr vert="horz" wrap="square" lIns="0" tIns="63500" rIns="0" bIns="0" rtlCol="0" anchor="t" anchorCtr="0"/>
          <a:lstStyle/>
          <a:p>
            <a:pPr indent="0" algn="ctr">
              <a:lnSpc>
                <a:spcPct val="100000"/>
              </a:lnSpc>
              <a:defRPr/>
            </a:pPr>
            <a:r>
              <a:rPr lang="en-US" sz="1100" b="1" i="0" u="none" strike="noStrike">
                <a:solidFill>
                  <a:srgbClr val="3498DB"/>
                </a:solidFill>
                <a:latin typeface="Noto Sans SC"/>
                <a:ea typeface="Noto Sans SC"/>
                <a:cs typeface="Noto Sans SC"/>
                <a:sym typeface="Noto Sans SC"/>
              </a:rPr>
              <a:t>任务库 (Task)</a:t>
            </a:r>
            <a:endParaRPr lang="en-US" sz="1100"/>
          </a:p>
          <a:p>
            <a:pPr indent="0" algn="ctr">
              <a:lnSpc>
                <a:spcPct val="108000"/>
              </a:lnSpc>
            </a:pPr>
            <a:r>
              <a:rPr lang="en-US" sz="900" b="0" i="0" u="none" strike="noStrike">
                <a:solidFill>
                  <a:srgbClr val="95A5A6"/>
                </a:solidFill>
                <a:latin typeface="Noto Sans SC"/>
                <a:ea typeface="Noto Sans SC"/>
                <a:cs typeface="Noto Sans SC"/>
                <a:sym typeface="Noto Sans SC"/>
              </a:rPr>
              <a:t>项目、需求、缺陷</a:t>
            </a:r>
            <a:br>
              <a:rPr lang="en-US" sz="1600" b="0" i="0" u="none" strike="noStrike">
                <a:solidFill>
                  <a:srgbClr val="1F2329"/>
                </a:solidFill>
                <a:latin typeface="Noto Sans SC"/>
                <a:ea typeface="Noto Sans SC"/>
                <a:cs typeface="Noto Sans SC"/>
                <a:sym typeface="Noto Sans SC"/>
              </a:rPr>
            </a:br>
            <a:r>
              <a:rPr lang="en-US" sz="900" b="0" i="0" u="none" strike="noStrike">
                <a:solidFill>
                  <a:srgbClr val="95A5A6"/>
                </a:solidFill>
                <a:latin typeface="Noto Sans SC"/>
                <a:ea typeface="Noto Sans SC"/>
                <a:cs typeface="Noto Sans SC"/>
                <a:sym typeface="Noto Sans SC"/>
              </a:rPr>
              <a:t>任务与评论数据</a:t>
            </a:r>
            <a:endParaRPr lang="en-US" sz="900" b="0" i="0" u="none" strike="noStrike">
              <a:solidFill>
                <a:srgbClr val="95A5A6"/>
              </a:solidFill>
              <a:latin typeface="Noto Sans SC"/>
              <a:ea typeface="Noto Sans SC"/>
              <a:cs typeface="Noto Sans SC"/>
              <a:sym typeface="Noto Sans SC"/>
            </a:endParaRPr>
          </a:p>
        </p:txBody>
      </p:sp>
      <p:sp>
        <p:nvSpPr>
          <p:cNvPr id="21" name="AutoShape 21"/>
          <p:cNvSpPr/>
          <p:nvPr/>
        </p:nvSpPr>
        <p:spPr>
          <a:xfrm>
            <a:off x="3170555" y="3746500"/>
            <a:ext cx="1371600" cy="1333500"/>
          </a:xfrm>
          <a:prstGeom prst="roundRect">
            <a:avLst>
              <a:gd name="adj" fmla="val 3809"/>
            </a:avLst>
          </a:prstGeom>
          <a:solidFill>
            <a:srgbClr val="2332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3221355" y="3810000"/>
            <a:ext cx="1270000" cy="1206500"/>
          </a:xfrm>
          <a:prstGeom prst="roundRect">
            <a:avLst>
              <a:gd name="adj" fmla="val 0"/>
            </a:avLst>
          </a:prstGeom>
          <a:noFill/>
          <a:ln w="25400" cap="flat" cmpd="sng">
            <a:noFill/>
            <a:prstDash val="solid"/>
            <a:round/>
          </a:ln>
        </p:spPr>
        <p:txBody>
          <a:bodyPr vert="horz" wrap="square" lIns="0" tIns="63500" rIns="0" bIns="0" rtlCol="0" anchor="t" anchorCtr="0"/>
          <a:lstStyle/>
          <a:p>
            <a:pPr indent="0" algn="ctr">
              <a:lnSpc>
                <a:spcPct val="100000"/>
              </a:lnSpc>
              <a:defRPr/>
            </a:pPr>
            <a:r>
              <a:rPr lang="en-US" sz="1100" b="1" i="0" u="none" strike="noStrike">
                <a:solidFill>
                  <a:srgbClr val="3498DB"/>
                </a:solidFill>
                <a:latin typeface="Noto Sans SC"/>
                <a:ea typeface="Noto Sans SC"/>
                <a:cs typeface="Noto Sans SC"/>
                <a:sym typeface="Noto Sans SC"/>
              </a:rPr>
              <a:t>工作流库 (Flow)</a:t>
            </a:r>
            <a:endParaRPr lang="en-US" sz="1100"/>
          </a:p>
          <a:p>
            <a:pPr indent="0" algn="ctr">
              <a:lnSpc>
                <a:spcPct val="108000"/>
              </a:lnSpc>
            </a:pPr>
            <a:r>
              <a:rPr lang="en-US" sz="900" b="0" i="0" u="none" strike="noStrike">
                <a:solidFill>
                  <a:srgbClr val="95A5A6"/>
                </a:solidFill>
                <a:latin typeface="Noto Sans SC"/>
                <a:ea typeface="Noto Sans SC"/>
                <a:cs typeface="Noto Sans SC"/>
                <a:sym typeface="Noto Sans SC"/>
              </a:rPr>
              <a:t>流程定义、状态转移</a:t>
            </a:r>
            <a:br>
              <a:rPr lang="en-US" sz="1600" b="0" i="0" u="none" strike="noStrike">
                <a:solidFill>
                  <a:srgbClr val="1F2329"/>
                </a:solidFill>
                <a:latin typeface="Noto Sans SC"/>
                <a:ea typeface="Noto Sans SC"/>
                <a:cs typeface="Noto Sans SC"/>
                <a:sym typeface="Noto Sans SC"/>
              </a:rPr>
            </a:br>
            <a:r>
              <a:rPr lang="en-US" sz="900" b="0" i="0" u="none" strike="noStrike">
                <a:solidFill>
                  <a:srgbClr val="95A5A6"/>
                </a:solidFill>
                <a:latin typeface="Noto Sans SC"/>
                <a:ea typeface="Noto Sans SC"/>
                <a:cs typeface="Noto Sans SC"/>
                <a:sym typeface="Noto Sans SC"/>
              </a:rPr>
              <a:t>流转闭环链条</a:t>
            </a:r>
            <a:endParaRPr lang="en-US" sz="900" b="0" i="0" u="none" strike="noStrike">
              <a:solidFill>
                <a:srgbClr val="95A5A6"/>
              </a:solidFill>
              <a:latin typeface="Noto Sans SC"/>
              <a:ea typeface="Noto Sans SC"/>
              <a:cs typeface="Noto Sans SC"/>
              <a:sym typeface="Noto Sans SC"/>
            </a:endParaRPr>
          </a:p>
        </p:txBody>
      </p:sp>
      <p:sp>
        <p:nvSpPr>
          <p:cNvPr id="23" name="AutoShape 23"/>
          <p:cNvSpPr/>
          <p:nvPr/>
        </p:nvSpPr>
        <p:spPr>
          <a:xfrm>
            <a:off x="4643755" y="3746500"/>
            <a:ext cx="1371600" cy="1333500"/>
          </a:xfrm>
          <a:prstGeom prst="roundRect">
            <a:avLst>
              <a:gd name="adj" fmla="val 3809"/>
            </a:avLst>
          </a:prstGeom>
          <a:solidFill>
            <a:srgbClr val="2332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694555" y="3810000"/>
            <a:ext cx="1270000" cy="1206500"/>
          </a:xfrm>
          <a:prstGeom prst="roundRect">
            <a:avLst>
              <a:gd name="adj" fmla="val 0"/>
            </a:avLst>
          </a:prstGeom>
          <a:noFill/>
          <a:ln w="25400" cap="flat" cmpd="sng">
            <a:noFill/>
            <a:prstDash val="solid"/>
            <a:round/>
          </a:ln>
        </p:spPr>
        <p:txBody>
          <a:bodyPr vert="horz" wrap="square" lIns="0" tIns="63500" rIns="0" bIns="0" rtlCol="0" anchor="t" anchorCtr="0"/>
          <a:lstStyle/>
          <a:p>
            <a:pPr indent="0" algn="ctr">
              <a:lnSpc>
                <a:spcPct val="100000"/>
              </a:lnSpc>
              <a:defRPr/>
            </a:pPr>
            <a:r>
              <a:rPr lang="en-US" sz="1100" b="1" i="0" u="none" strike="noStrike">
                <a:solidFill>
                  <a:srgbClr val="F39C12"/>
                </a:solidFill>
                <a:latin typeface="Noto Sans SC"/>
                <a:ea typeface="Noto Sans SC"/>
                <a:cs typeface="Noto Sans SC"/>
                <a:sym typeface="Noto Sans SC"/>
              </a:rPr>
              <a:t>报表库 (Report)</a:t>
            </a:r>
            <a:endParaRPr lang="en-US" sz="1100"/>
          </a:p>
          <a:p>
            <a:pPr indent="0" algn="ctr">
              <a:lnSpc>
                <a:spcPct val="108000"/>
              </a:lnSpc>
            </a:pPr>
            <a:r>
              <a:rPr lang="en-US" sz="900" b="0" i="0" u="none" strike="noStrike">
                <a:solidFill>
                  <a:srgbClr val="95A5A6"/>
                </a:solidFill>
                <a:latin typeface="Noto Sans SC"/>
                <a:ea typeface="Noto Sans SC"/>
                <a:cs typeface="Noto Sans SC"/>
                <a:sym typeface="Noto Sans SC"/>
              </a:rPr>
              <a:t>进度快照、甘特图</a:t>
            </a:r>
            <a:br>
              <a:rPr lang="en-US" sz="1600" b="0" i="0" u="none" strike="noStrike">
                <a:solidFill>
                  <a:srgbClr val="1F2329"/>
                </a:solidFill>
                <a:latin typeface="Noto Sans SC"/>
                <a:ea typeface="Noto Sans SC"/>
                <a:cs typeface="Noto Sans SC"/>
                <a:sym typeface="Noto Sans SC"/>
              </a:rPr>
            </a:br>
            <a:r>
              <a:rPr lang="en-US" sz="900" b="0" i="0" u="none" strike="noStrike">
                <a:solidFill>
                  <a:srgbClr val="95A5A6"/>
                </a:solidFill>
                <a:latin typeface="Noto Sans SC"/>
                <a:ea typeface="Noto Sans SC"/>
                <a:cs typeface="Noto Sans SC"/>
                <a:sym typeface="Noto Sans SC"/>
              </a:rPr>
              <a:t>统计与工作量数据</a:t>
            </a:r>
            <a:endParaRPr lang="en-US" sz="900" b="0" i="0" u="none" strike="noStrike">
              <a:solidFill>
                <a:srgbClr val="95A5A6"/>
              </a:solidFill>
              <a:latin typeface="Noto Sans SC"/>
              <a:ea typeface="Noto Sans SC"/>
              <a:cs typeface="Noto Sans SC"/>
              <a:sym typeface="Noto Sans SC"/>
            </a:endParaRPr>
          </a:p>
        </p:txBody>
      </p:sp>
      <p:sp>
        <p:nvSpPr>
          <p:cNvPr id="25" name="AutoShape 25"/>
          <p:cNvSpPr/>
          <p:nvPr/>
        </p:nvSpPr>
        <p:spPr>
          <a:xfrm>
            <a:off x="6116955" y="3746500"/>
            <a:ext cx="1371600" cy="1333500"/>
          </a:xfrm>
          <a:prstGeom prst="roundRect">
            <a:avLst>
              <a:gd name="adj" fmla="val 3809"/>
            </a:avLst>
          </a:prstGeom>
          <a:solidFill>
            <a:srgbClr val="2332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167755" y="3810000"/>
            <a:ext cx="1270000" cy="1206500"/>
          </a:xfrm>
          <a:prstGeom prst="roundRect">
            <a:avLst>
              <a:gd name="adj" fmla="val 0"/>
            </a:avLst>
          </a:prstGeom>
          <a:noFill/>
          <a:ln w="25400" cap="flat" cmpd="sng">
            <a:noFill/>
            <a:prstDash val="solid"/>
            <a:round/>
          </a:ln>
        </p:spPr>
        <p:txBody>
          <a:bodyPr vert="horz" wrap="square" lIns="0" tIns="63500" rIns="0" bIns="0" rtlCol="0" anchor="t" anchorCtr="0"/>
          <a:lstStyle/>
          <a:p>
            <a:pPr indent="0" algn="ctr">
              <a:lnSpc>
                <a:spcPct val="100000"/>
              </a:lnSpc>
              <a:defRPr/>
            </a:pPr>
            <a:r>
              <a:rPr lang="en-US" sz="1100" b="1" i="0" u="none" strike="noStrike">
                <a:solidFill>
                  <a:srgbClr val="E74C3C"/>
                </a:solidFill>
                <a:latin typeface="Noto Sans SC"/>
                <a:ea typeface="Noto Sans SC"/>
                <a:cs typeface="Noto Sans SC"/>
                <a:sym typeface="Noto Sans SC"/>
              </a:rPr>
              <a:t>通知库 (Notify)</a:t>
            </a:r>
            <a:endParaRPr lang="en-US" sz="1100"/>
          </a:p>
          <a:p>
            <a:pPr indent="0" algn="ctr">
              <a:lnSpc>
                <a:spcPct val="108000"/>
              </a:lnSpc>
            </a:pPr>
            <a:r>
              <a:rPr lang="en-US" sz="900" b="0" i="0" u="none" strike="noStrike">
                <a:solidFill>
                  <a:srgbClr val="95A5A6"/>
                </a:solidFill>
                <a:latin typeface="Noto Sans SC"/>
                <a:ea typeface="Noto Sans SC"/>
                <a:cs typeface="Noto Sans SC"/>
                <a:sym typeface="Noto Sans SC"/>
              </a:rPr>
              <a:t>站内信、消息模板</a:t>
            </a:r>
            <a:br>
              <a:rPr lang="en-US" sz="1600" b="0" i="0" u="none" strike="noStrike">
                <a:solidFill>
                  <a:srgbClr val="1F2329"/>
                </a:solidFill>
                <a:latin typeface="Noto Sans SC"/>
                <a:ea typeface="Noto Sans SC"/>
                <a:cs typeface="Noto Sans SC"/>
                <a:sym typeface="Noto Sans SC"/>
              </a:rPr>
            </a:br>
            <a:r>
              <a:rPr lang="en-US" sz="900" b="0" i="0" u="none" strike="noStrike">
                <a:solidFill>
                  <a:srgbClr val="95A5A6"/>
                </a:solidFill>
                <a:latin typeface="Noto Sans SC"/>
                <a:ea typeface="Noto Sans SC"/>
                <a:cs typeface="Noto Sans SC"/>
                <a:sym typeface="Noto Sans SC"/>
              </a:rPr>
              <a:t>通知配置与记录</a:t>
            </a:r>
            <a:endParaRPr lang="en-US" sz="900" b="0" i="0" u="none" strike="noStrike">
              <a:solidFill>
                <a:srgbClr val="95A5A6"/>
              </a:solidFill>
              <a:latin typeface="Noto Sans SC"/>
              <a:ea typeface="Noto Sans SC"/>
              <a:cs typeface="Noto Sans SC"/>
              <a:sym typeface="Noto Sans SC"/>
            </a:endParaRPr>
          </a:p>
        </p:txBody>
      </p:sp>
      <p:sp>
        <p:nvSpPr>
          <p:cNvPr id="27" name="AutoShape 27"/>
          <p:cNvSpPr/>
          <p:nvPr/>
        </p:nvSpPr>
        <p:spPr>
          <a:xfrm>
            <a:off x="7539355" y="3746500"/>
            <a:ext cx="1371600" cy="1333500"/>
          </a:xfrm>
          <a:prstGeom prst="roundRect">
            <a:avLst>
              <a:gd name="adj" fmla="val 3809"/>
            </a:avLst>
          </a:prstGeom>
          <a:solidFill>
            <a:srgbClr val="2332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7590155" y="3810000"/>
            <a:ext cx="1270000" cy="1206500"/>
          </a:xfrm>
          <a:prstGeom prst="roundRect">
            <a:avLst>
              <a:gd name="adj" fmla="val 0"/>
            </a:avLst>
          </a:prstGeom>
          <a:noFill/>
          <a:ln w="25400" cap="flat" cmpd="sng">
            <a:noFill/>
            <a:prstDash val="solid"/>
            <a:round/>
          </a:ln>
        </p:spPr>
        <p:txBody>
          <a:bodyPr vert="horz" wrap="square" lIns="0" tIns="63500" rIns="0" bIns="0" rtlCol="0" anchor="t" anchorCtr="0"/>
          <a:lstStyle/>
          <a:p>
            <a:pPr indent="0" algn="ctr">
              <a:lnSpc>
                <a:spcPct val="100000"/>
              </a:lnSpc>
              <a:defRPr/>
            </a:pPr>
            <a:r>
              <a:rPr lang="en-US" sz="1100" b="1" i="0" u="none" strike="noStrike">
                <a:solidFill>
                  <a:srgbClr val="9B59B6"/>
                </a:solidFill>
                <a:latin typeface="Noto Sans SC"/>
                <a:ea typeface="Noto Sans SC"/>
                <a:cs typeface="Noto Sans SC"/>
                <a:sym typeface="Noto Sans SC"/>
              </a:rPr>
              <a:t>审计库 (Audit)</a:t>
            </a:r>
            <a:endParaRPr lang="en-US" sz="1100"/>
          </a:p>
          <a:p>
            <a:pPr indent="0" algn="ctr">
              <a:lnSpc>
                <a:spcPct val="108000"/>
              </a:lnSpc>
            </a:pPr>
            <a:r>
              <a:rPr lang="en-US" sz="900" b="0" i="0" u="none" strike="noStrike">
                <a:solidFill>
                  <a:srgbClr val="95A5A6"/>
                </a:solidFill>
                <a:latin typeface="Noto Sans SC"/>
                <a:ea typeface="Noto Sans SC"/>
                <a:cs typeface="Noto Sans SC"/>
                <a:sym typeface="Noto Sans SC"/>
              </a:rPr>
              <a:t>操作日志、数据变更</a:t>
            </a:r>
            <a:br>
              <a:rPr lang="en-US" sz="1600" b="0" i="0" u="none" strike="noStrike">
                <a:solidFill>
                  <a:srgbClr val="1F2329"/>
                </a:solidFill>
                <a:latin typeface="Noto Sans SC"/>
                <a:ea typeface="Noto Sans SC"/>
                <a:cs typeface="Noto Sans SC"/>
                <a:sym typeface="Noto Sans SC"/>
              </a:rPr>
            </a:br>
            <a:r>
              <a:rPr lang="en-US" sz="900" b="0" i="0" u="none" strike="noStrike">
                <a:solidFill>
                  <a:srgbClr val="95A5A6"/>
                </a:solidFill>
                <a:latin typeface="Noto Sans SC"/>
                <a:ea typeface="Noto Sans SC"/>
                <a:cs typeface="Noto Sans SC"/>
                <a:sym typeface="Noto Sans SC"/>
              </a:rPr>
              <a:t>系统配置记录</a:t>
            </a:r>
            <a:endParaRPr lang="en-US" sz="900" b="0" i="0" u="none" strike="noStrike">
              <a:solidFill>
                <a:srgbClr val="95A5A6"/>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5" name="AutoShape 5"/>
          <p:cNvSpPr/>
          <p:nvPr/>
        </p:nvSpPr>
        <p:spPr>
          <a:xfrm>
            <a:off x="1473200" y="304800"/>
            <a:ext cx="876300" cy="165100"/>
          </a:xfrm>
          <a:prstGeom prst="roundRect">
            <a:avLst>
              <a:gd name="adj" fmla="val 23076"/>
            </a:avLst>
          </a:prstGeom>
          <a:solidFill>
            <a:srgbClr val="001D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536700" y="330200"/>
            <a:ext cx="1016000" cy="1016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800"/>
              </a:lnSpc>
              <a:defRPr/>
            </a:pPr>
            <a:r>
              <a:rPr lang="en-US" sz="600" b="0" i="0" u="none" strike="noStrike">
                <a:solidFill>
                  <a:srgbClr val="E2E6E9"/>
                </a:solidFill>
                <a:latin typeface="Merriweather"/>
                <a:ea typeface="Merriweather"/>
                <a:cs typeface="Merriweather"/>
                <a:sym typeface="Merriweather"/>
              </a:rPr>
              <a:t>PART 03 · 核心功能实现</a:t>
            </a:r>
            <a:endParaRPr lang="en-US" sz="1100"/>
          </a:p>
        </p:txBody>
      </p:sp>
      <p:sp>
        <p:nvSpPr>
          <p:cNvPr id="7" name="AutoShape 7"/>
          <p:cNvSpPr/>
          <p:nvPr/>
        </p:nvSpPr>
        <p:spPr>
          <a:xfrm>
            <a:off x="1473200" y="495300"/>
            <a:ext cx="3556000" cy="304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400"/>
              </a:lnSpc>
              <a:defRPr/>
            </a:pPr>
            <a:r>
              <a:rPr lang="en-US" sz="1900" b="0" i="0" u="none" strike="noStrike">
                <a:solidFill>
                  <a:srgbClr val="F5F0F0"/>
                </a:solidFill>
                <a:latin typeface="Merriweather"/>
                <a:ea typeface="Merriweather"/>
                <a:cs typeface="Merriweather"/>
                <a:sym typeface="Merriweather"/>
              </a:rPr>
              <a:t>状态机驱动全链路流转</a:t>
            </a:r>
            <a:endParaRPr lang="en-US" sz="1100"/>
          </a:p>
        </p:txBody>
      </p:sp>
      <p:sp>
        <p:nvSpPr>
          <p:cNvPr id="8" name="AutoShape 8"/>
          <p:cNvSpPr/>
          <p:nvPr/>
        </p:nvSpPr>
        <p:spPr>
          <a:xfrm>
            <a:off x="1473200" y="901700"/>
            <a:ext cx="6985000" cy="1270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000"/>
              </a:lnSpc>
              <a:defRPr/>
            </a:pPr>
            <a:r>
              <a:rPr lang="en-US" sz="800" b="0" i="0" u="none" strike="noStrike">
                <a:solidFill>
                  <a:srgbClr val="E2E6E9"/>
                </a:solidFill>
                <a:latin typeface="Merriweather"/>
                <a:ea typeface="Merriweather"/>
                <a:cs typeface="Merriweather"/>
                <a:sym typeface="Merriweather"/>
              </a:rPr>
              <a:t>8个主状态 · 4条异常回路 ·</a:t>
            </a:r>
            <a:r>
              <a:rPr lang="en-US" sz="800" b="1" i="0" u="none" strike="noStrike">
                <a:solidFill>
                  <a:srgbClr val="E2E6E9"/>
                </a:solidFill>
                <a:latin typeface="Merriweather"/>
                <a:ea typeface="Merriweather"/>
                <a:cs typeface="Merriweather"/>
                <a:sym typeface="Merriweather"/>
              </a:rPr>
              <a:t>previous_state精确恢复</a:t>
            </a:r>
            <a:r>
              <a:rPr lang="en-US" sz="800" b="0" i="0" u="none" strike="noStrike">
                <a:solidFill>
                  <a:srgbClr val="E2E6E9"/>
                </a:solidFill>
                <a:latin typeface="Merriweather"/>
                <a:ea typeface="Merriweather"/>
                <a:cs typeface="Merriweather"/>
                <a:sym typeface="Merriweather"/>
              </a:rPr>
              <a:t>· 闭环验证链</a:t>
            </a:r>
            <a:endParaRPr lang="en-US" sz="1100"/>
          </a:p>
        </p:txBody>
      </p:sp>
      <p:sp>
        <p:nvSpPr>
          <p:cNvPr id="20" name="AutoShape 20"/>
          <p:cNvSpPr/>
          <p:nvPr>
            <p:custDataLst>
              <p:tags r:id="rId2"/>
            </p:custDataLst>
          </p:nvPr>
        </p:nvSpPr>
        <p:spPr>
          <a:xfrm>
            <a:off x="1473200" y="3416300"/>
            <a:ext cx="3073400" cy="673100"/>
          </a:xfrm>
          <a:prstGeom prst="roundRect">
            <a:avLst>
              <a:gd name="adj" fmla="val 9433"/>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21" name="AutoShape 21"/>
          <p:cNvSpPr/>
          <p:nvPr>
            <p:custDataLst>
              <p:tags r:id="rId3"/>
            </p:custDataLst>
          </p:nvPr>
        </p:nvSpPr>
        <p:spPr>
          <a:xfrm>
            <a:off x="1460500" y="3416300"/>
            <a:ext cx="63500" cy="673100"/>
          </a:xfrm>
          <a:prstGeom prst="roundRect">
            <a:avLst>
              <a:gd name="adj" fmla="val 6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4"/>
            </p:custDataLst>
          </p:nvPr>
        </p:nvSpPr>
        <p:spPr>
          <a:xfrm>
            <a:off x="1625600" y="3530600"/>
            <a:ext cx="1231900" cy="1524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200"/>
              </a:lnSpc>
              <a:defRPr/>
            </a:pPr>
            <a:r>
              <a:rPr lang="en-US" sz="1000" b="1" i="0" u="none" strike="noStrike">
                <a:solidFill>
                  <a:srgbClr val="E2E6E9"/>
                </a:solidFill>
                <a:latin typeface="Merriweather"/>
                <a:ea typeface="Merriweather"/>
                <a:cs typeface="Merriweather"/>
                <a:sym typeface="Merriweather"/>
              </a:rPr>
              <a:t>评审驳回</a:t>
            </a:r>
            <a:endParaRPr lang="en-US" sz="1100"/>
          </a:p>
        </p:txBody>
      </p:sp>
      <p:sp>
        <p:nvSpPr>
          <p:cNvPr id="23" name="AutoShape 23"/>
          <p:cNvSpPr/>
          <p:nvPr>
            <p:custDataLst>
              <p:tags r:id="rId5"/>
            </p:custDataLst>
          </p:nvPr>
        </p:nvSpPr>
        <p:spPr>
          <a:xfrm>
            <a:off x="1625600" y="3746500"/>
            <a:ext cx="2794000" cy="304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100"/>
              </a:lnSpc>
              <a:defRPr/>
            </a:pPr>
            <a:r>
              <a:rPr lang="en-US" sz="800" b="0" i="0" u="none" strike="noStrike">
                <a:solidFill>
                  <a:srgbClr val="E2E6E9"/>
                </a:solidFill>
                <a:latin typeface="Merriweather"/>
                <a:ea typeface="Merriweather"/>
                <a:cs typeface="Merriweather"/>
                <a:sym typeface="Merriweather"/>
              </a:rPr>
              <a:t>待评审 → 开发中，保留责任人与上下文，驳回原因强制归档。</a:t>
            </a:r>
            <a:endParaRPr lang="en-US" sz="1100"/>
          </a:p>
        </p:txBody>
      </p:sp>
      <p:sp>
        <p:nvSpPr>
          <p:cNvPr id="24" name="AutoShape 24"/>
          <p:cNvSpPr/>
          <p:nvPr>
            <p:custDataLst>
              <p:tags r:id="rId6"/>
            </p:custDataLst>
          </p:nvPr>
        </p:nvSpPr>
        <p:spPr>
          <a:xfrm>
            <a:off x="4597400" y="3416300"/>
            <a:ext cx="3569335" cy="673100"/>
          </a:xfrm>
          <a:prstGeom prst="roundRect">
            <a:avLst>
              <a:gd name="adj" fmla="val 9433"/>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25" name="AutoShape 25"/>
          <p:cNvSpPr/>
          <p:nvPr>
            <p:custDataLst>
              <p:tags r:id="rId7"/>
            </p:custDataLst>
          </p:nvPr>
        </p:nvSpPr>
        <p:spPr>
          <a:xfrm>
            <a:off x="4584700" y="3416300"/>
            <a:ext cx="63500" cy="673100"/>
          </a:xfrm>
          <a:prstGeom prst="roundRect">
            <a:avLst>
              <a:gd name="adj" fmla="val 6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custDataLst>
              <p:tags r:id="rId8"/>
            </p:custDataLst>
          </p:nvPr>
        </p:nvSpPr>
        <p:spPr>
          <a:xfrm>
            <a:off x="4762500" y="3530600"/>
            <a:ext cx="1231900" cy="1524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200"/>
              </a:lnSpc>
              <a:defRPr/>
            </a:pPr>
            <a:r>
              <a:rPr lang="en-US" sz="1000" b="1" i="0" u="none" strike="noStrike">
                <a:solidFill>
                  <a:srgbClr val="E2E6E9"/>
                </a:solidFill>
                <a:latin typeface="Merriweather"/>
                <a:ea typeface="Merriweather"/>
                <a:cs typeface="Merriweather"/>
                <a:sym typeface="Merriweather"/>
              </a:rPr>
              <a:t>测试失败</a:t>
            </a:r>
            <a:endParaRPr lang="en-US" sz="1100"/>
          </a:p>
        </p:txBody>
      </p:sp>
      <p:sp>
        <p:nvSpPr>
          <p:cNvPr id="27" name="AutoShape 27"/>
          <p:cNvSpPr/>
          <p:nvPr>
            <p:custDataLst>
              <p:tags r:id="rId9"/>
            </p:custDataLst>
          </p:nvPr>
        </p:nvSpPr>
        <p:spPr>
          <a:xfrm>
            <a:off x="4762500" y="3746500"/>
            <a:ext cx="2794000" cy="304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100"/>
              </a:lnSpc>
              <a:defRPr/>
            </a:pPr>
            <a:r>
              <a:rPr lang="en-US" sz="800" b="0" i="0" u="none" strike="noStrike">
                <a:solidFill>
                  <a:srgbClr val="E2E6E9"/>
                </a:solidFill>
                <a:latin typeface="Merriweather"/>
                <a:ea typeface="Merriweather"/>
                <a:cs typeface="Merriweather"/>
                <a:sym typeface="Merriweather"/>
              </a:rPr>
              <a:t>测试中 → 创建修复任务，触发4步闭环验证链，ClosureChain自动关联。</a:t>
            </a:r>
            <a:endParaRPr lang="en-US" sz="1100"/>
          </a:p>
        </p:txBody>
      </p:sp>
      <p:sp>
        <p:nvSpPr>
          <p:cNvPr id="28" name="AutoShape 28"/>
          <p:cNvSpPr/>
          <p:nvPr>
            <p:custDataLst>
              <p:tags r:id="rId10"/>
            </p:custDataLst>
          </p:nvPr>
        </p:nvSpPr>
        <p:spPr>
          <a:xfrm>
            <a:off x="1473200" y="4254500"/>
            <a:ext cx="3073400" cy="673100"/>
          </a:xfrm>
          <a:prstGeom prst="roundRect">
            <a:avLst>
              <a:gd name="adj" fmla="val 9433"/>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29" name="AutoShape 29"/>
          <p:cNvSpPr/>
          <p:nvPr>
            <p:custDataLst>
              <p:tags r:id="rId11"/>
            </p:custDataLst>
          </p:nvPr>
        </p:nvSpPr>
        <p:spPr>
          <a:xfrm>
            <a:off x="1460500" y="4254500"/>
            <a:ext cx="63500" cy="673100"/>
          </a:xfrm>
          <a:prstGeom prst="roundRect">
            <a:avLst>
              <a:gd name="adj" fmla="val 6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custDataLst>
              <p:tags r:id="rId12"/>
            </p:custDataLst>
          </p:nvPr>
        </p:nvSpPr>
        <p:spPr>
          <a:xfrm>
            <a:off x="1625600" y="4368800"/>
            <a:ext cx="1231900" cy="1524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200"/>
              </a:lnSpc>
              <a:defRPr/>
            </a:pPr>
            <a:r>
              <a:rPr lang="en-US" sz="1000" b="1" i="0" u="none" strike="noStrike">
                <a:solidFill>
                  <a:srgbClr val="E2E6E9"/>
                </a:solidFill>
                <a:latin typeface="Merriweather"/>
                <a:ea typeface="Merriweather"/>
                <a:cs typeface="Merriweather"/>
                <a:sym typeface="Merriweather"/>
              </a:rPr>
              <a:t>发布拒绝</a:t>
            </a:r>
            <a:endParaRPr lang="en-US" sz="1100"/>
          </a:p>
        </p:txBody>
      </p:sp>
      <p:sp>
        <p:nvSpPr>
          <p:cNvPr id="31" name="AutoShape 31"/>
          <p:cNvSpPr/>
          <p:nvPr>
            <p:custDataLst>
              <p:tags r:id="rId13"/>
            </p:custDataLst>
          </p:nvPr>
        </p:nvSpPr>
        <p:spPr>
          <a:xfrm>
            <a:off x="1625600" y="4597400"/>
            <a:ext cx="2794000" cy="304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100"/>
              </a:lnSpc>
              <a:defRPr/>
            </a:pPr>
            <a:r>
              <a:rPr lang="en-US" sz="800" b="0" i="0" u="none" strike="noStrike">
                <a:solidFill>
                  <a:srgbClr val="E2E6E9"/>
                </a:solidFill>
                <a:latin typeface="Merriweather"/>
                <a:ea typeface="Merriweather"/>
                <a:cs typeface="Merriweather"/>
                <a:sym typeface="Merriweather"/>
              </a:rPr>
              <a:t>待发布 → 回溯修复，重测前须重新review，拒绝原因审计留痕。</a:t>
            </a:r>
            <a:endParaRPr lang="en-US" sz="1100"/>
          </a:p>
        </p:txBody>
      </p:sp>
      <p:sp>
        <p:nvSpPr>
          <p:cNvPr id="32" name="AutoShape 32"/>
          <p:cNvSpPr/>
          <p:nvPr>
            <p:custDataLst>
              <p:tags r:id="rId14"/>
            </p:custDataLst>
          </p:nvPr>
        </p:nvSpPr>
        <p:spPr>
          <a:xfrm>
            <a:off x="4597400" y="4254500"/>
            <a:ext cx="3569970" cy="673100"/>
          </a:xfrm>
          <a:prstGeom prst="roundRect">
            <a:avLst>
              <a:gd name="adj" fmla="val 9433"/>
            </a:avLst>
          </a:prstGeom>
          <a:solidFill>
            <a:srgbClr val="09151A">
              <a:alpha val="95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33" name="AutoShape 33"/>
          <p:cNvSpPr/>
          <p:nvPr>
            <p:custDataLst>
              <p:tags r:id="rId15"/>
            </p:custDataLst>
          </p:nvPr>
        </p:nvSpPr>
        <p:spPr>
          <a:xfrm>
            <a:off x="4584700" y="4254500"/>
            <a:ext cx="63500" cy="673100"/>
          </a:xfrm>
          <a:prstGeom prst="roundRect">
            <a:avLst>
              <a:gd name="adj" fmla="val 6000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custDataLst>
              <p:tags r:id="rId16"/>
            </p:custDataLst>
          </p:nvPr>
        </p:nvSpPr>
        <p:spPr>
          <a:xfrm>
            <a:off x="4762500" y="4368800"/>
            <a:ext cx="1231900" cy="1524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200"/>
              </a:lnSpc>
              <a:defRPr/>
            </a:pPr>
            <a:r>
              <a:rPr lang="en-US" sz="1000" b="1" i="0" u="none" strike="noStrike">
                <a:solidFill>
                  <a:srgbClr val="E2E6E9"/>
                </a:solidFill>
                <a:latin typeface="Merriweather"/>
                <a:ea typeface="Merriweather"/>
                <a:cs typeface="Merriweather"/>
                <a:sym typeface="Merriweather"/>
              </a:rPr>
              <a:t>阻塞恢复 ★</a:t>
            </a:r>
            <a:endParaRPr lang="en-US" sz="1100"/>
          </a:p>
        </p:txBody>
      </p:sp>
      <p:sp>
        <p:nvSpPr>
          <p:cNvPr id="35" name="AutoShape 35"/>
          <p:cNvSpPr/>
          <p:nvPr>
            <p:custDataLst>
              <p:tags r:id="rId17"/>
            </p:custDataLst>
          </p:nvPr>
        </p:nvSpPr>
        <p:spPr>
          <a:xfrm>
            <a:off x="4762500" y="4597400"/>
            <a:ext cx="2794000" cy="3048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100"/>
              </a:lnSpc>
              <a:defRPr/>
            </a:pPr>
            <a:r>
              <a:rPr lang="en-US" sz="800" b="0" i="0" u="none" strike="noStrike">
                <a:solidFill>
                  <a:srgbClr val="E2E6E9"/>
                </a:solidFill>
                <a:latin typeface="Merriweather"/>
                <a:ea typeface="Merriweather"/>
                <a:cs typeface="Merriweather"/>
                <a:sym typeface="Merriweather"/>
              </a:rPr>
              <a:t>任意阶段 → 回溯修复，previous_state保存当前阶段，解除后直接还原。</a:t>
            </a:r>
            <a:endParaRPr lang="en-US" sz="1100"/>
          </a:p>
        </p:txBody>
      </p:sp>
      <p:pic>
        <p:nvPicPr>
          <p:cNvPr id="43" name="Image 0" descr="preencoded.png"/>
          <p:cNvPicPr>
            <a:picLocks noChangeAspect="1"/>
          </p:cNvPicPr>
          <p:nvPr/>
        </p:nvPicPr>
        <p:blipFill>
          <a:blip r:embed="rId18"/>
          <a:stretch>
            <a:fillRect/>
          </a:stretch>
        </p:blipFill>
        <p:spPr>
          <a:xfrm>
            <a:off x="1571625" y="1097087"/>
            <a:ext cx="6000601" cy="2251695"/>
          </a:xfrm>
          <a:prstGeom prst="rect">
            <a:avLst/>
          </a:prstGeom>
        </p:spPr>
      </p:pic>
      <p:sp>
        <p:nvSpPr>
          <p:cNvPr id="44" name="Text 4"/>
          <p:cNvSpPr/>
          <p:nvPr/>
        </p:nvSpPr>
        <p:spPr>
          <a:xfrm>
            <a:off x="6420049" y="2802162"/>
            <a:ext cx="905067" cy="174350"/>
          </a:xfrm>
          <a:prstGeom prst="rect">
            <a:avLst/>
          </a:prstGeom>
          <a:noFill/>
        </p:spPr>
        <p:txBody>
          <a:bodyPr wrap="none" lIns="0" tIns="0" rIns="0" bIns="0" rtlCol="0" anchor="t"/>
          <a:lstStyle/>
          <a:p>
            <a:pPr marL="0" indent="0" algn="ctr">
              <a:lnSpc>
                <a:spcPts val="1350"/>
              </a:lnSpc>
              <a:buNone/>
            </a:pPr>
            <a:r>
              <a:rPr lang="en-US" sz="1050" dirty="0">
                <a:solidFill>
                  <a:srgbClr val="E2E6E9"/>
                </a:solidFill>
                <a:latin typeface="Merriweather" charset="0"/>
                <a:ea typeface="Merriweather" panose="00000500000000000000" pitchFamily="34" charset="-122"/>
                <a:cs typeface="Merriweather" panose="00000500000000000000" pitchFamily="34" charset="-120"/>
              </a:rPr>
              <a:t>测试中</a:t>
            </a:r>
            <a:endParaRPr lang="en-US" sz="1050" dirty="0"/>
          </a:p>
        </p:txBody>
      </p:sp>
      <p:sp>
        <p:nvSpPr>
          <p:cNvPr id="45" name="Text 5"/>
          <p:cNvSpPr/>
          <p:nvPr/>
        </p:nvSpPr>
        <p:spPr>
          <a:xfrm>
            <a:off x="5279416" y="2802162"/>
            <a:ext cx="905067" cy="174350"/>
          </a:xfrm>
          <a:prstGeom prst="rect">
            <a:avLst/>
          </a:prstGeom>
          <a:noFill/>
        </p:spPr>
        <p:txBody>
          <a:bodyPr wrap="none" lIns="0" tIns="0" rIns="0" bIns="0" rtlCol="0" anchor="t"/>
          <a:lstStyle/>
          <a:p>
            <a:pPr marL="0" indent="0" algn="ctr">
              <a:lnSpc>
                <a:spcPts val="1350"/>
              </a:lnSpc>
              <a:buNone/>
            </a:pPr>
            <a:r>
              <a:rPr lang="en-US" sz="1050" dirty="0">
                <a:solidFill>
                  <a:srgbClr val="E2E6E9"/>
                </a:solidFill>
                <a:latin typeface="Merriweather" charset="0"/>
                <a:ea typeface="Merriweather" panose="00000500000000000000" pitchFamily="34" charset="-122"/>
                <a:cs typeface="Merriweather" panose="00000500000000000000" pitchFamily="34" charset="-120"/>
              </a:rPr>
              <a:t>待评审</a:t>
            </a:r>
            <a:endParaRPr lang="en-US" sz="1050" dirty="0"/>
          </a:p>
        </p:txBody>
      </p:sp>
      <p:sp>
        <p:nvSpPr>
          <p:cNvPr id="46" name="Text 6"/>
          <p:cNvSpPr/>
          <p:nvPr/>
        </p:nvSpPr>
        <p:spPr>
          <a:xfrm>
            <a:off x="4144982" y="2802162"/>
            <a:ext cx="905068" cy="174350"/>
          </a:xfrm>
          <a:prstGeom prst="rect">
            <a:avLst/>
          </a:prstGeom>
          <a:noFill/>
        </p:spPr>
        <p:txBody>
          <a:bodyPr wrap="none" lIns="0" tIns="0" rIns="0" bIns="0" rtlCol="0" anchor="t"/>
          <a:lstStyle/>
          <a:p>
            <a:pPr marL="0" indent="0" algn="ctr">
              <a:lnSpc>
                <a:spcPts val="1350"/>
              </a:lnSpc>
              <a:buNone/>
            </a:pPr>
            <a:r>
              <a:rPr lang="en-US" sz="1050" dirty="0">
                <a:solidFill>
                  <a:srgbClr val="E2E6E9"/>
                </a:solidFill>
                <a:latin typeface="Merriweather" charset="0"/>
                <a:ea typeface="Merriweather" panose="00000500000000000000" pitchFamily="34" charset="-122"/>
                <a:cs typeface="Merriweather" panose="00000500000000000000" pitchFamily="34" charset="-120"/>
              </a:rPr>
              <a:t>开发中</a:t>
            </a:r>
            <a:endParaRPr lang="en-US" sz="1050" dirty="0"/>
          </a:p>
        </p:txBody>
      </p:sp>
      <p:sp>
        <p:nvSpPr>
          <p:cNvPr id="47" name="Text 7"/>
          <p:cNvSpPr/>
          <p:nvPr/>
        </p:nvSpPr>
        <p:spPr>
          <a:xfrm>
            <a:off x="3010548" y="2802162"/>
            <a:ext cx="905067" cy="174350"/>
          </a:xfrm>
          <a:prstGeom prst="rect">
            <a:avLst/>
          </a:prstGeom>
          <a:noFill/>
        </p:spPr>
        <p:txBody>
          <a:bodyPr wrap="none" lIns="0" tIns="0" rIns="0" bIns="0" rtlCol="0" anchor="t"/>
          <a:lstStyle/>
          <a:p>
            <a:pPr marL="0" indent="0" algn="ctr">
              <a:lnSpc>
                <a:spcPts val="1350"/>
              </a:lnSpc>
              <a:buNone/>
            </a:pPr>
            <a:r>
              <a:rPr lang="en-US" sz="1050" dirty="0">
                <a:solidFill>
                  <a:srgbClr val="E2E6E9"/>
                </a:solidFill>
                <a:latin typeface="Merriweather" charset="0"/>
                <a:ea typeface="Merriweather" panose="00000500000000000000" pitchFamily="34" charset="-122"/>
                <a:cs typeface="Merriweather" panose="00000500000000000000" pitchFamily="34" charset="-120"/>
              </a:rPr>
              <a:t>任务准备</a:t>
            </a:r>
            <a:endParaRPr lang="en-US" sz="1050" dirty="0"/>
          </a:p>
        </p:txBody>
      </p:sp>
      <p:sp>
        <p:nvSpPr>
          <p:cNvPr id="48" name="Text 8"/>
          <p:cNvSpPr/>
          <p:nvPr/>
        </p:nvSpPr>
        <p:spPr>
          <a:xfrm>
            <a:off x="1851317" y="2802162"/>
            <a:ext cx="905067" cy="174350"/>
          </a:xfrm>
          <a:prstGeom prst="rect">
            <a:avLst/>
          </a:prstGeom>
          <a:noFill/>
        </p:spPr>
        <p:txBody>
          <a:bodyPr wrap="none" lIns="0" tIns="0" rIns="0" bIns="0" rtlCol="0" anchor="t"/>
          <a:lstStyle/>
          <a:p>
            <a:pPr marL="0" indent="0" algn="ctr">
              <a:lnSpc>
                <a:spcPts val="1350"/>
              </a:lnSpc>
              <a:buNone/>
            </a:pPr>
            <a:r>
              <a:rPr lang="en-US" sz="1050" dirty="0">
                <a:solidFill>
                  <a:srgbClr val="E2E6E9"/>
                </a:solidFill>
                <a:latin typeface="Merriweather" charset="0"/>
                <a:ea typeface="Merriweather" panose="00000500000000000000" pitchFamily="34" charset="-122"/>
                <a:cs typeface="Merriweather" panose="00000500000000000000" pitchFamily="34" charset="-120"/>
              </a:rPr>
              <a:t>需求管理</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0"/>
            <a:ext cx="9144000" cy="5143500"/>
          </a:xfrm>
          <a:prstGeom prst="roundRect">
            <a:avLst>
              <a:gd name="adj" fmla="val 0"/>
            </a:avLst>
          </a:prstGeom>
          <a:solidFill>
            <a:srgbClr val="09151A">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469900" y="419100"/>
            <a:ext cx="1524000" cy="241300"/>
          </a:xfrm>
          <a:prstGeom prst="roundRect">
            <a:avLst>
              <a:gd name="adj" fmla="val 21052"/>
            </a:avLst>
          </a:prstGeom>
          <a:solidFill>
            <a:srgbClr val="001D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33400" y="457200"/>
            <a:ext cx="1397000" cy="1651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1000" b="0" i="0" u="none" strike="noStrike">
                <a:solidFill>
                  <a:srgbClr val="E2E6E9"/>
                </a:solidFill>
                <a:latin typeface="Noto Sans SC"/>
                <a:ea typeface="Noto Sans SC"/>
                <a:cs typeface="Noto Sans SC"/>
                <a:sym typeface="Noto Sans SC"/>
              </a:rPr>
              <a:t>PART 03 · 核心功能实现</a:t>
            </a:r>
            <a:endParaRPr lang="en-US" sz="1100"/>
          </a:p>
        </p:txBody>
      </p:sp>
      <p:sp>
        <p:nvSpPr>
          <p:cNvPr id="7" name="AutoShape 7"/>
          <p:cNvSpPr/>
          <p:nvPr/>
        </p:nvSpPr>
        <p:spPr>
          <a:xfrm>
            <a:off x="469900" y="698500"/>
            <a:ext cx="3810000" cy="4191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ct val="125000"/>
              </a:lnSpc>
              <a:defRPr/>
            </a:pPr>
            <a:r>
              <a:rPr lang="en-US" sz="2700" b="0" i="0" u="none" strike="noStrike">
                <a:solidFill>
                  <a:srgbClr val="F5F0F0"/>
                </a:solidFill>
                <a:latin typeface="Noto Sans SC"/>
                <a:ea typeface="Noto Sans SC"/>
                <a:cs typeface="Noto Sans SC"/>
                <a:sym typeface="Noto Sans SC"/>
              </a:rPr>
              <a:t>阻塞与精确恢复</a:t>
            </a:r>
            <a:endParaRPr lang="en-US" sz="1100"/>
          </a:p>
        </p:txBody>
      </p:sp>
      <p:sp>
        <p:nvSpPr>
          <p:cNvPr id="8" name="AutoShape 8"/>
          <p:cNvSpPr/>
          <p:nvPr/>
        </p:nvSpPr>
        <p:spPr>
          <a:xfrm>
            <a:off x="469900" y="1422400"/>
            <a:ext cx="1689100" cy="2159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ct val="125000"/>
              </a:lnSpc>
              <a:defRPr/>
            </a:pPr>
            <a:r>
              <a:rPr lang="en-US" sz="1500" b="1" i="0" u="none" strike="noStrike">
                <a:solidFill>
                  <a:srgbClr val="F5F0F0"/>
                </a:solidFill>
                <a:latin typeface="Noto Sans SC"/>
                <a:ea typeface="Noto Sans SC"/>
                <a:cs typeface="Noto Sans SC"/>
                <a:sym typeface="Noto Sans SC"/>
              </a:rPr>
              <a:t>▌ 恢复流程</a:t>
            </a:r>
            <a:endParaRPr lang="en-US" sz="1100"/>
          </a:p>
        </p:txBody>
      </p:sp>
      <p:sp>
        <p:nvSpPr>
          <p:cNvPr id="10" name="AutoShape 10"/>
          <p:cNvSpPr/>
          <p:nvPr/>
        </p:nvSpPr>
        <p:spPr>
          <a:xfrm>
            <a:off x="914400" y="1803400"/>
            <a:ext cx="3683000" cy="9525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FFD700"/>
                </a:solidFill>
                <a:latin typeface="Noto Sans SC"/>
                <a:ea typeface="Noto Sans SC"/>
                <a:cs typeface="Noto Sans SC"/>
                <a:sym typeface="Noto Sans SC"/>
              </a:rPr>
              <a:t>01. 任务阻塞</a:t>
            </a:r>
            <a:endParaRPr lang="en-US" sz="1100"/>
          </a:p>
          <a:p>
            <a:pPr indent="0" algn="l">
              <a:lnSpc>
                <a:spcPct val="125000"/>
              </a:lnSpc>
            </a:pPr>
            <a:r>
              <a:rPr lang="en-US" sz="1100" b="0" i="0" u="none" strike="noStrike">
                <a:solidFill>
                  <a:srgbClr val="E2E6E9">
                    <a:alpha val="80000"/>
                  </a:srgbClr>
                </a:solidFill>
                <a:latin typeface="Noto Sans SC"/>
                <a:ea typeface="Noto Sans SC"/>
                <a:cs typeface="Noto Sans SC"/>
                <a:sym typeface="Noto Sans SC"/>
              </a:rPr>
              <a:t>用户在任意状态点击“阻塞”，系统自动将当前状态序列化并保存到 task_blockage.previous_state 字段中。</a:t>
            </a:r>
            <a:endParaRPr lang="en-US" sz="1100" b="0" i="0" u="none" strike="noStrike">
              <a:solidFill>
                <a:srgbClr val="E2E6E9">
                  <a:alpha val="80000"/>
                </a:srgbClr>
              </a:solidFill>
              <a:latin typeface="Noto Sans SC"/>
              <a:ea typeface="Noto Sans SC"/>
              <a:cs typeface="Noto Sans SC"/>
              <a:sym typeface="Noto Sans SC"/>
            </a:endParaRPr>
          </a:p>
        </p:txBody>
      </p:sp>
      <p:sp>
        <p:nvSpPr>
          <p:cNvPr id="12" name="AutoShape 12"/>
          <p:cNvSpPr/>
          <p:nvPr/>
        </p:nvSpPr>
        <p:spPr>
          <a:xfrm>
            <a:off x="914400" y="2882900"/>
            <a:ext cx="3683000" cy="9525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FFD700"/>
                </a:solidFill>
                <a:latin typeface="Noto Sans SC"/>
                <a:ea typeface="Noto Sans SC"/>
                <a:cs typeface="Noto Sans SC"/>
                <a:sym typeface="Noto Sans SC"/>
              </a:rPr>
              <a:t>02. 问题处理</a:t>
            </a:r>
            <a:endParaRPr lang="en-US" sz="1100"/>
          </a:p>
          <a:p>
            <a:pPr indent="0" algn="l">
              <a:lnSpc>
                <a:spcPct val="125000"/>
              </a:lnSpc>
            </a:pPr>
            <a:r>
              <a:rPr lang="en-US" sz="1100" b="0" i="0" u="none" strike="noStrike">
                <a:solidFill>
                  <a:srgbClr val="E2E6E9">
                    <a:alpha val="80000"/>
                  </a:srgbClr>
                </a:solidFill>
                <a:latin typeface="Noto Sans SC"/>
                <a:ea typeface="Noto Sans SC"/>
                <a:cs typeface="Noto Sans SC"/>
                <a:sym typeface="Noto Sans SC"/>
              </a:rPr>
              <a:t>相关负责人员介入，集中精力解决导致任务阻塞的具体问题或资源障碍，期间任务状态保持冻结。</a:t>
            </a:r>
            <a:endParaRPr lang="en-US" sz="1100" b="0" i="0" u="none" strike="noStrike">
              <a:solidFill>
                <a:srgbClr val="E2E6E9">
                  <a:alpha val="80000"/>
                </a:srgbClr>
              </a:solidFill>
              <a:latin typeface="Noto Sans SC"/>
              <a:ea typeface="Noto Sans SC"/>
              <a:cs typeface="Noto Sans SC"/>
              <a:sym typeface="Noto Sans SC"/>
            </a:endParaRPr>
          </a:p>
        </p:txBody>
      </p:sp>
      <p:sp>
        <p:nvSpPr>
          <p:cNvPr id="14" name="AutoShape 14"/>
          <p:cNvSpPr/>
          <p:nvPr/>
        </p:nvSpPr>
        <p:spPr>
          <a:xfrm>
            <a:off x="914400" y="3962400"/>
            <a:ext cx="3683000" cy="9525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25000"/>
              </a:lnSpc>
              <a:defRPr/>
            </a:pPr>
            <a:r>
              <a:rPr lang="en-US" sz="1300" b="1" i="0" u="none" strike="noStrike">
                <a:solidFill>
                  <a:srgbClr val="FFD700"/>
                </a:solidFill>
                <a:latin typeface="Noto Sans SC"/>
                <a:ea typeface="Noto Sans SC"/>
                <a:cs typeface="Noto Sans SC"/>
                <a:sym typeface="Noto Sans SC"/>
              </a:rPr>
              <a:t>03. 一键恢复</a:t>
            </a:r>
            <a:endParaRPr lang="en-US" sz="1100"/>
          </a:p>
          <a:p>
            <a:pPr indent="0" algn="l">
              <a:lnSpc>
                <a:spcPct val="125000"/>
              </a:lnSpc>
            </a:pPr>
            <a:r>
              <a:rPr lang="en-US" sz="1100" b="0" i="0" u="none" strike="noStrike">
                <a:solidFill>
                  <a:srgbClr val="E2E6E9">
                    <a:alpha val="80000"/>
                  </a:srgbClr>
                </a:solidFill>
                <a:latin typeface="Noto Sans SC"/>
                <a:ea typeface="Noto Sans SC"/>
                <a:cs typeface="Noto Sans SC"/>
                <a:sym typeface="Noto Sans SC"/>
              </a:rPr>
              <a:t>障碍清除后，用户点击“恢复”按钮、精确地恢复到阻塞前的运行状态。</a:t>
            </a:r>
            <a:endParaRPr lang="en-US" sz="1100" b="0" i="0" u="none" strike="noStrike">
              <a:solidFill>
                <a:srgbClr val="E2E6E9">
                  <a:alpha val="80000"/>
                </a:srgbClr>
              </a:solidFill>
              <a:latin typeface="Noto Sans SC"/>
              <a:ea typeface="Noto Sans SC"/>
              <a:cs typeface="Noto Sans SC"/>
              <a:sym typeface="Noto Sans SC"/>
            </a:endParaRPr>
          </a:p>
        </p:txBody>
      </p:sp>
      <p:sp>
        <p:nvSpPr>
          <p:cNvPr id="15" name="AutoShape 15"/>
          <p:cNvSpPr/>
          <p:nvPr/>
        </p:nvSpPr>
        <p:spPr>
          <a:xfrm>
            <a:off x="4737100" y="812800"/>
            <a:ext cx="1905000" cy="2159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ct val="125000"/>
              </a:lnSpc>
              <a:defRPr/>
            </a:pPr>
            <a:r>
              <a:rPr lang="en-US" sz="1500" b="1" i="0" u="none" strike="noStrike">
                <a:solidFill>
                  <a:srgbClr val="F5F0F0"/>
                </a:solidFill>
                <a:latin typeface="Noto Sans SC"/>
                <a:ea typeface="Noto Sans SC"/>
                <a:cs typeface="Noto Sans SC"/>
                <a:sym typeface="Noto Sans SC"/>
              </a:rPr>
              <a:t>▌ 性能量化对比</a:t>
            </a:r>
            <a:endParaRPr lang="en-US" sz="1100"/>
          </a:p>
        </p:txBody>
      </p:sp>
      <p:pic>
        <p:nvPicPr>
          <p:cNvPr id="22" name="图片 27"/>
          <p:cNvPicPr>
            <a:picLocks noChangeAspect="1"/>
          </p:cNvPicPr>
          <p:nvPr/>
        </p:nvPicPr>
        <p:blipFill>
          <a:blip r:embed="rId2"/>
          <a:srcRect r="19429"/>
          <a:stretch>
            <a:fillRect/>
          </a:stretch>
        </p:blipFill>
        <p:spPr>
          <a:xfrm>
            <a:off x="4787900" y="1422400"/>
            <a:ext cx="4031615" cy="304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0"/>
            <a:ext cx="9144000" cy="5143500"/>
          </a:xfrm>
          <a:prstGeom prst="roundRect">
            <a:avLst>
              <a:gd name="adj" fmla="val 0"/>
            </a:avLst>
          </a:prstGeom>
          <a:solidFill>
            <a:srgbClr val="09151A">
              <a:alpha val="9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t="162" b="162"/>
          <a:stretch>
            <a:fillRect/>
          </a:stretch>
        </p:blipFill>
        <p:spPr>
          <a:xfrm>
            <a:off x="8026400" y="4838700"/>
            <a:ext cx="1066800" cy="254000"/>
          </a:xfrm>
          <a:prstGeom prst="rect">
            <a:avLst/>
          </a:prstGeom>
          <a:noFill/>
          <a:ln w="25400" cap="flat" cmpd="sng">
            <a:noFill/>
            <a:prstDash val="solid"/>
            <a:round/>
          </a:ln>
        </p:spPr>
      </p:pic>
      <p:sp>
        <p:nvSpPr>
          <p:cNvPr id="5" name="AutoShape 5"/>
          <p:cNvSpPr/>
          <p:nvPr/>
        </p:nvSpPr>
        <p:spPr>
          <a:xfrm>
            <a:off x="1244600" y="317500"/>
            <a:ext cx="863600" cy="177800"/>
          </a:xfrm>
          <a:prstGeom prst="roundRect">
            <a:avLst>
              <a:gd name="adj" fmla="val 21428"/>
            </a:avLst>
          </a:prstGeom>
          <a:solidFill>
            <a:srgbClr val="001D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308100" y="342900"/>
            <a:ext cx="736600" cy="1143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900"/>
              </a:lnSpc>
              <a:defRPr/>
            </a:pPr>
            <a:r>
              <a:rPr lang="en-US" sz="700" b="0" i="0" u="none" strike="noStrike">
                <a:solidFill>
                  <a:srgbClr val="E2E6E9"/>
                </a:solidFill>
                <a:latin typeface="Merriweather"/>
                <a:ea typeface="Merriweather"/>
                <a:cs typeface="Merriweather"/>
                <a:sym typeface="Merriweather"/>
              </a:rPr>
              <a:t>PART 05 · 总结与展望</a:t>
            </a:r>
            <a:endParaRPr lang="en-US" sz="1100"/>
          </a:p>
        </p:txBody>
      </p:sp>
      <p:sp>
        <p:nvSpPr>
          <p:cNvPr id="7" name="AutoShape 7"/>
          <p:cNvSpPr/>
          <p:nvPr/>
        </p:nvSpPr>
        <p:spPr>
          <a:xfrm>
            <a:off x="1244600" y="520700"/>
            <a:ext cx="3556000" cy="3302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2600"/>
              </a:lnSpc>
              <a:defRPr/>
            </a:pPr>
            <a:r>
              <a:rPr lang="en-US" sz="2100" b="0" i="0" u="none" strike="noStrike">
                <a:solidFill>
                  <a:srgbClr val="F5F0F0"/>
                </a:solidFill>
                <a:latin typeface="Merriweather"/>
                <a:ea typeface="Merriweather"/>
                <a:cs typeface="Merriweather"/>
                <a:sym typeface="Merriweather"/>
              </a:rPr>
              <a:t>核心成果与未来规划</a:t>
            </a:r>
            <a:endParaRPr lang="en-US" sz="1100"/>
          </a:p>
        </p:txBody>
      </p:sp>
      <p:sp>
        <p:nvSpPr>
          <p:cNvPr id="8" name="AutoShape 8"/>
          <p:cNvSpPr/>
          <p:nvPr/>
        </p:nvSpPr>
        <p:spPr>
          <a:xfrm>
            <a:off x="1244600" y="965200"/>
            <a:ext cx="2171700" cy="863600"/>
          </a:xfrm>
          <a:prstGeom prst="roundRect">
            <a:avLst>
              <a:gd name="adj" fmla="val 5882"/>
            </a:avLst>
          </a:prstGeom>
          <a:solidFill>
            <a:srgbClr val="003180">
              <a:alpha val="100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9" name="AutoShape 9"/>
          <p:cNvSpPr/>
          <p:nvPr/>
        </p:nvSpPr>
        <p:spPr>
          <a:xfrm>
            <a:off x="1358900" y="1066800"/>
            <a:ext cx="1905000" cy="1651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300"/>
              </a:lnSpc>
              <a:defRPr/>
            </a:pPr>
            <a:r>
              <a:rPr lang="en-US" sz="1000" b="1" i="0" u="none" strike="noStrike">
                <a:solidFill>
                  <a:srgbClr val="E2E6E9"/>
                </a:solidFill>
                <a:latin typeface="Merriweather"/>
                <a:ea typeface="Merriweather"/>
                <a:cs typeface="Merriweather"/>
                <a:sym typeface="Merriweather"/>
              </a:rPr>
              <a:t>① 状态机驱动闭环</a:t>
            </a:r>
            <a:endParaRPr lang="en-US" sz="1100"/>
          </a:p>
        </p:txBody>
      </p:sp>
      <p:sp>
        <p:nvSpPr>
          <p:cNvPr id="10" name="AutoShape 10"/>
          <p:cNvSpPr/>
          <p:nvPr/>
        </p:nvSpPr>
        <p:spPr>
          <a:xfrm>
            <a:off x="1358900" y="1295400"/>
            <a:ext cx="1943100" cy="4826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ts val="1150"/>
              </a:lnSpc>
              <a:defRPr/>
            </a:pPr>
            <a:r>
              <a:rPr lang="en-US" sz="800" b="0" i="0" u="none" strike="noStrike">
                <a:solidFill>
                  <a:srgbClr val="E2E6E9"/>
                </a:solidFill>
                <a:latin typeface="Merriweather"/>
                <a:ea typeface="Merriweather"/>
                <a:cs typeface="Merriweather"/>
                <a:sym typeface="Merriweather"/>
              </a:rPr>
              <a:t>8主状态+4异常流，实现全链路闭环</a:t>
            </a:r>
            <a:endParaRPr lang="en-US" sz="1100"/>
          </a:p>
          <a:p>
            <a:pPr indent="0" algn="l">
              <a:lnSpc>
                <a:spcPts val="1150"/>
              </a:lnSpc>
            </a:pPr>
            <a:r>
              <a:rPr lang="en-US" sz="800" b="0" i="0" u="none" strike="noStrike">
                <a:solidFill>
                  <a:srgbClr val="E2E6E9"/>
                </a:solidFill>
                <a:latin typeface="Merriweather"/>
                <a:ea typeface="Merriweather"/>
                <a:cs typeface="Merriweather"/>
                <a:sym typeface="Merriweather"/>
              </a:rPr>
              <a:t>previous_state 实现精确恢复机制</a:t>
            </a:r>
            <a:endParaRPr lang="en-US" sz="800" b="0" i="0" u="none" strike="noStrike">
              <a:solidFill>
                <a:srgbClr val="E2E6E9"/>
              </a:solidFill>
              <a:latin typeface="Merriweather"/>
              <a:ea typeface="Merriweather"/>
              <a:cs typeface="Merriweather"/>
              <a:sym typeface="Merriweather"/>
            </a:endParaRPr>
          </a:p>
        </p:txBody>
      </p:sp>
      <p:sp>
        <p:nvSpPr>
          <p:cNvPr id="11" name="AutoShape 11"/>
          <p:cNvSpPr/>
          <p:nvPr/>
        </p:nvSpPr>
        <p:spPr>
          <a:xfrm>
            <a:off x="3492500" y="965200"/>
            <a:ext cx="2171700" cy="863600"/>
          </a:xfrm>
          <a:prstGeom prst="roundRect">
            <a:avLst>
              <a:gd name="adj" fmla="val 5882"/>
            </a:avLst>
          </a:prstGeom>
          <a:solidFill>
            <a:srgbClr val="003180">
              <a:alpha val="100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12" name="AutoShape 12"/>
          <p:cNvSpPr/>
          <p:nvPr/>
        </p:nvSpPr>
        <p:spPr>
          <a:xfrm>
            <a:off x="3594100" y="1066800"/>
            <a:ext cx="1905000" cy="1651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300"/>
              </a:lnSpc>
              <a:defRPr/>
            </a:pPr>
            <a:r>
              <a:rPr lang="en-US" sz="1000" b="1" i="0" u="none" strike="noStrike">
                <a:solidFill>
                  <a:srgbClr val="E2E6E9"/>
                </a:solidFill>
                <a:latin typeface="Merriweather"/>
                <a:ea typeface="Merriweather"/>
                <a:cs typeface="Merriweather"/>
                <a:sym typeface="Merriweather"/>
              </a:rPr>
              <a:t>② 微服务分层部署</a:t>
            </a:r>
            <a:endParaRPr lang="en-US" sz="1100"/>
          </a:p>
        </p:txBody>
      </p:sp>
      <p:sp>
        <p:nvSpPr>
          <p:cNvPr id="13" name="AutoShape 13"/>
          <p:cNvSpPr/>
          <p:nvPr/>
        </p:nvSpPr>
        <p:spPr>
          <a:xfrm>
            <a:off x="3594100" y="1295400"/>
            <a:ext cx="1943100" cy="4826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ts val="1150"/>
              </a:lnSpc>
              <a:defRPr/>
            </a:pPr>
            <a:r>
              <a:rPr lang="en-US" sz="800" b="0" i="0" u="none" strike="noStrike">
                <a:solidFill>
                  <a:srgbClr val="E2E6E9"/>
                </a:solidFill>
                <a:latin typeface="Merriweather"/>
                <a:ea typeface="Merriweather"/>
                <a:cs typeface="Merriweather"/>
                <a:sym typeface="Merriweather"/>
              </a:rPr>
              <a:t>7服务+6独立数据库，高内聚低耦合</a:t>
            </a:r>
            <a:endParaRPr lang="en-US" sz="1100"/>
          </a:p>
          <a:p>
            <a:pPr indent="0" algn="l">
              <a:lnSpc>
                <a:spcPts val="1150"/>
              </a:lnSpc>
            </a:pPr>
            <a:r>
              <a:rPr lang="en-US" sz="800" b="0" i="0" u="none" strike="noStrike">
                <a:solidFill>
                  <a:srgbClr val="E2E6E9"/>
                </a:solidFill>
                <a:latin typeface="Merriweather"/>
                <a:ea typeface="Merriweather"/>
                <a:cs typeface="Merriweather"/>
                <a:sym typeface="Merriweather"/>
              </a:rPr>
              <a:t>Redis + MQ 异步解耦，提效显著</a:t>
            </a:r>
            <a:endParaRPr lang="en-US" sz="800" b="0" i="0" u="none" strike="noStrike">
              <a:solidFill>
                <a:srgbClr val="E2E6E9"/>
              </a:solidFill>
              <a:latin typeface="Merriweather"/>
              <a:ea typeface="Merriweather"/>
              <a:cs typeface="Merriweather"/>
              <a:sym typeface="Merriweather"/>
            </a:endParaRPr>
          </a:p>
        </p:txBody>
      </p:sp>
      <p:sp>
        <p:nvSpPr>
          <p:cNvPr id="14" name="AutoShape 14"/>
          <p:cNvSpPr/>
          <p:nvPr/>
        </p:nvSpPr>
        <p:spPr>
          <a:xfrm>
            <a:off x="5727700" y="965200"/>
            <a:ext cx="2171700" cy="863600"/>
          </a:xfrm>
          <a:prstGeom prst="roundRect">
            <a:avLst>
              <a:gd name="adj" fmla="val 5882"/>
            </a:avLst>
          </a:prstGeom>
          <a:solidFill>
            <a:srgbClr val="003180">
              <a:alpha val="100000"/>
            </a:srgbClr>
          </a:solidFill>
          <a:ln w="12700" cap="flat" cmpd="sng">
            <a:solidFill>
              <a:srgbClr val="194A99">
                <a:alpha val="100000"/>
              </a:srgbClr>
            </a:solidFill>
            <a:prstDash val="solid"/>
            <a:miter lim="10000000"/>
          </a:ln>
        </p:spPr>
        <p:txBody>
          <a:bodyPr vert="horz" wrap="square" lIns="63500" tIns="63500" rIns="63500" bIns="63500" rtlCol="0" anchor="ctr"/>
          <a:lstStyle/>
          <a:p>
            <a:pPr algn="ctr">
              <a:defRPr/>
            </a:pPr>
          </a:p>
        </p:txBody>
      </p:sp>
      <p:sp>
        <p:nvSpPr>
          <p:cNvPr id="15" name="AutoShape 15"/>
          <p:cNvSpPr/>
          <p:nvPr/>
        </p:nvSpPr>
        <p:spPr>
          <a:xfrm>
            <a:off x="5842000" y="1066800"/>
            <a:ext cx="1905000" cy="1651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300"/>
              </a:lnSpc>
              <a:defRPr/>
            </a:pPr>
            <a:r>
              <a:rPr lang="en-US" sz="1000" b="1" i="0" u="none" strike="noStrike">
                <a:solidFill>
                  <a:srgbClr val="E2E6E9"/>
                </a:solidFill>
                <a:latin typeface="Merriweather"/>
                <a:ea typeface="Merriweather"/>
                <a:cs typeface="Merriweather"/>
                <a:sym typeface="Merriweather"/>
              </a:rPr>
              <a:t>③ 异步解耦提效</a:t>
            </a:r>
            <a:endParaRPr lang="en-US" sz="1100"/>
          </a:p>
        </p:txBody>
      </p:sp>
      <p:sp>
        <p:nvSpPr>
          <p:cNvPr id="16" name="AutoShape 16"/>
          <p:cNvSpPr/>
          <p:nvPr/>
        </p:nvSpPr>
        <p:spPr>
          <a:xfrm>
            <a:off x="5842000" y="1295400"/>
            <a:ext cx="1943100" cy="4826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ts val="1150"/>
              </a:lnSpc>
              <a:defRPr/>
            </a:pPr>
            <a:r>
              <a:rPr lang="en-US" sz="800" b="0" i="0" u="none" strike="noStrike">
                <a:solidFill>
                  <a:srgbClr val="E2E6E9"/>
                </a:solidFill>
                <a:latin typeface="Merriweather"/>
                <a:ea typeface="Merriweather"/>
                <a:cs typeface="Merriweather"/>
                <a:sym typeface="Merriweather"/>
              </a:rPr>
              <a:t>Redis缓存 + RabbitMQ事件总线架构</a:t>
            </a:r>
            <a:endParaRPr lang="en-US" sz="1100"/>
          </a:p>
          <a:p>
            <a:pPr indent="0" algn="l">
              <a:lnSpc>
                <a:spcPts val="1150"/>
              </a:lnSpc>
            </a:pPr>
            <a:r>
              <a:rPr lang="en-US" sz="800" b="0" i="0" u="none" strike="noStrike">
                <a:solidFill>
                  <a:srgbClr val="E2E6E9"/>
                </a:solidFill>
                <a:latin typeface="Merriweather"/>
                <a:ea typeface="Merriweather"/>
                <a:cs typeface="Merriweather"/>
                <a:sym typeface="Merriweather"/>
              </a:rPr>
              <a:t>通知/审计/报表 从主链路完全剥离</a:t>
            </a:r>
            <a:endParaRPr lang="en-US" sz="800" b="0" i="0" u="none" strike="noStrike">
              <a:solidFill>
                <a:srgbClr val="E2E6E9"/>
              </a:solidFill>
              <a:latin typeface="Merriweather"/>
              <a:ea typeface="Merriweather"/>
              <a:cs typeface="Merriweather"/>
              <a:sym typeface="Merriweather"/>
            </a:endParaRPr>
          </a:p>
        </p:txBody>
      </p:sp>
      <p:sp>
        <p:nvSpPr>
          <p:cNvPr id="17" name="AutoShape 17"/>
          <p:cNvSpPr/>
          <p:nvPr/>
        </p:nvSpPr>
        <p:spPr>
          <a:xfrm>
            <a:off x="1244600" y="2032000"/>
            <a:ext cx="1524000" cy="2286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00"/>
              </a:lnSpc>
              <a:defRPr/>
            </a:pPr>
            <a:r>
              <a:rPr lang="en-US" sz="1300" b="1" i="0" u="none" strike="noStrike">
                <a:solidFill>
                  <a:srgbClr val="F5F0F0"/>
                </a:solidFill>
                <a:latin typeface="Merriweather"/>
                <a:ea typeface="Merriweather"/>
                <a:cs typeface="Merriweather"/>
                <a:sym typeface="Merriweather"/>
              </a:rPr>
              <a:t>未来迭代规划</a:t>
            </a:r>
            <a:endParaRPr lang="en-US" sz="1100"/>
          </a:p>
        </p:txBody>
      </p:sp>
      <p:pic>
        <p:nvPicPr>
          <p:cNvPr id="18" name="Picture 18"/>
          <p:cNvPicPr>
            <a:picLocks noChangeAspect="1"/>
          </p:cNvPicPr>
          <p:nvPr/>
        </p:nvPicPr>
        <p:blipFill>
          <a:blip r:embed="rId3"/>
          <a:srcRect l="78" r="78"/>
          <a:stretch>
            <a:fillRect/>
          </a:stretch>
        </p:blipFill>
        <p:spPr>
          <a:xfrm>
            <a:off x="1244600" y="2413000"/>
            <a:ext cx="6654800" cy="2628900"/>
          </a:xfrm>
          <a:prstGeom prst="rect">
            <a:avLst/>
          </a:prstGeom>
          <a:noFill/>
          <a:ln w="25400" cap="flat" cmpd="sng">
            <a:noFill/>
            <a:prstDash val="solid"/>
            <a:round/>
          </a:ln>
        </p:spPr>
      </p:pic>
      <p:sp>
        <p:nvSpPr>
          <p:cNvPr id="19" name="AutoShape 19"/>
          <p:cNvSpPr/>
          <p:nvPr/>
        </p:nvSpPr>
        <p:spPr>
          <a:xfrm>
            <a:off x="1524000" y="3175000"/>
            <a:ext cx="1778000" cy="3048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ts val="2400"/>
              </a:lnSpc>
              <a:defRPr/>
            </a:pPr>
            <a:r>
              <a:rPr lang="en-US" sz="1400" b="1" i="0" u="none" strike="noStrike">
                <a:solidFill>
                  <a:srgbClr val="F5F0F0"/>
                </a:solidFill>
                <a:latin typeface="Merriweather"/>
                <a:ea typeface="Merriweather"/>
                <a:cs typeface="Merriweather"/>
                <a:sym typeface="Merriweather"/>
              </a:rPr>
              <a:t>容器化部署</a:t>
            </a:r>
            <a:endParaRPr lang="en-US" sz="1100"/>
          </a:p>
        </p:txBody>
      </p:sp>
      <p:sp>
        <p:nvSpPr>
          <p:cNvPr id="20" name="AutoShape 20"/>
          <p:cNvSpPr/>
          <p:nvPr/>
        </p:nvSpPr>
        <p:spPr>
          <a:xfrm>
            <a:off x="1524000" y="3683000"/>
            <a:ext cx="1778000" cy="762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8000"/>
              </a:lnSpc>
              <a:defRPr/>
            </a:pPr>
            <a:r>
              <a:rPr lang="en-US" sz="1100" b="0" i="0" u="none" strike="noStrike">
                <a:solidFill>
                  <a:srgbClr val="E2E6E9"/>
                </a:solidFill>
                <a:latin typeface="Merriweather"/>
                <a:ea typeface="Merriweather"/>
                <a:cs typeface="Merriweather"/>
                <a:sym typeface="Merriweather"/>
              </a:rPr>
              <a:t>Docker 容器化打包</a:t>
            </a:r>
            <a:endParaRPr lang="en-US" sz="1100"/>
          </a:p>
          <a:p>
            <a:pPr indent="0" algn="ctr">
              <a:lnSpc>
                <a:spcPct val="108000"/>
              </a:lnSpc>
            </a:pPr>
            <a:r>
              <a:rPr lang="en-US" sz="1100" b="0" i="0" u="none" strike="noStrike">
                <a:solidFill>
                  <a:srgbClr val="E2E6E9"/>
                </a:solidFill>
                <a:latin typeface="Merriweather"/>
                <a:ea typeface="Merriweather"/>
                <a:cs typeface="Merriweather"/>
                <a:sym typeface="Merriweather"/>
              </a:rPr>
              <a:t>K8s 集群实现弹性扩缩容</a:t>
            </a:r>
            <a:endParaRPr lang="en-US" sz="1100" b="0" i="0" u="none" strike="noStrike">
              <a:solidFill>
                <a:srgbClr val="E2E6E9"/>
              </a:solidFill>
              <a:latin typeface="Merriweather"/>
              <a:ea typeface="Merriweather"/>
              <a:cs typeface="Merriweather"/>
              <a:sym typeface="Merriweather"/>
            </a:endParaRPr>
          </a:p>
        </p:txBody>
      </p:sp>
      <p:sp>
        <p:nvSpPr>
          <p:cNvPr id="21" name="AutoShape 21"/>
          <p:cNvSpPr/>
          <p:nvPr/>
        </p:nvSpPr>
        <p:spPr>
          <a:xfrm>
            <a:off x="3683000" y="3175000"/>
            <a:ext cx="1778000" cy="3048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ts val="2400"/>
              </a:lnSpc>
              <a:defRPr/>
            </a:pPr>
            <a:r>
              <a:rPr lang="en-US" sz="1400" b="1" i="0" u="none" strike="noStrike">
                <a:solidFill>
                  <a:srgbClr val="F5F0F0"/>
                </a:solidFill>
                <a:latin typeface="Merriweather"/>
                <a:ea typeface="Merriweather"/>
                <a:cs typeface="Merriweather"/>
                <a:sym typeface="Merriweather"/>
              </a:rPr>
              <a:t>智能分配</a:t>
            </a:r>
            <a:endParaRPr lang="en-US" sz="1100"/>
          </a:p>
        </p:txBody>
      </p:sp>
      <p:sp>
        <p:nvSpPr>
          <p:cNvPr id="22" name="AutoShape 22"/>
          <p:cNvSpPr/>
          <p:nvPr/>
        </p:nvSpPr>
        <p:spPr>
          <a:xfrm>
            <a:off x="3683000" y="3683000"/>
            <a:ext cx="1778000" cy="762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8000"/>
              </a:lnSpc>
              <a:defRPr/>
            </a:pPr>
            <a:r>
              <a:rPr lang="en-US" sz="1100" b="0" i="0" u="none" strike="noStrike">
                <a:solidFill>
                  <a:srgbClr val="E2E6E9"/>
                </a:solidFill>
                <a:latin typeface="Merriweather"/>
                <a:ea typeface="Merriweather"/>
                <a:cs typeface="Merriweather"/>
                <a:sym typeface="Merriweather"/>
              </a:rPr>
              <a:t>引入 AI 算法进行任务推荐</a:t>
            </a:r>
            <a:endParaRPr lang="en-US" sz="1100"/>
          </a:p>
          <a:p>
            <a:pPr indent="0" algn="ctr">
              <a:lnSpc>
                <a:spcPct val="108000"/>
              </a:lnSpc>
            </a:pPr>
            <a:r>
              <a:rPr lang="en-US" sz="1100" b="0" i="0" u="none" strike="noStrike">
                <a:solidFill>
                  <a:srgbClr val="E2E6E9"/>
                </a:solidFill>
                <a:latin typeface="Merriweather"/>
                <a:ea typeface="Merriweather"/>
                <a:cs typeface="Merriweather"/>
                <a:sym typeface="Merriweather"/>
              </a:rPr>
              <a:t>基于数据模型的风险预警</a:t>
            </a:r>
            <a:endParaRPr lang="en-US" sz="1100" b="0" i="0" u="none" strike="noStrike">
              <a:solidFill>
                <a:srgbClr val="E2E6E9"/>
              </a:solidFill>
              <a:latin typeface="Merriweather"/>
              <a:ea typeface="Merriweather"/>
              <a:cs typeface="Merriweather"/>
              <a:sym typeface="Merriweather"/>
            </a:endParaRPr>
          </a:p>
        </p:txBody>
      </p:sp>
      <p:sp>
        <p:nvSpPr>
          <p:cNvPr id="23" name="AutoShape 23"/>
          <p:cNvSpPr/>
          <p:nvPr/>
        </p:nvSpPr>
        <p:spPr>
          <a:xfrm>
            <a:off x="5842000" y="3175000"/>
            <a:ext cx="1778000" cy="3048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ts val="2400"/>
              </a:lnSpc>
              <a:defRPr/>
            </a:pPr>
            <a:r>
              <a:rPr lang="en-US" sz="1400" b="1" i="0" u="none" strike="noStrike">
                <a:solidFill>
                  <a:srgbClr val="F5F0F0"/>
                </a:solidFill>
                <a:latin typeface="Merriweather"/>
                <a:ea typeface="Merriweather"/>
                <a:cs typeface="Merriweather"/>
                <a:sym typeface="Merriweather"/>
              </a:rPr>
              <a:t>多租户SaaS化</a:t>
            </a:r>
            <a:endParaRPr lang="en-US" sz="1100"/>
          </a:p>
        </p:txBody>
      </p:sp>
      <p:sp>
        <p:nvSpPr>
          <p:cNvPr id="24" name="AutoShape 24"/>
          <p:cNvSpPr/>
          <p:nvPr/>
        </p:nvSpPr>
        <p:spPr>
          <a:xfrm>
            <a:off x="5842000" y="3683000"/>
            <a:ext cx="1778000" cy="762000"/>
          </a:xfrm>
          <a:prstGeom prst="roundRect">
            <a:avLst>
              <a:gd name="adj" fmla="val 0"/>
            </a:avLst>
          </a:prstGeom>
          <a:noFill/>
          <a:ln w="25400" cap="flat" cmpd="sng">
            <a:noFill/>
            <a:prstDash val="solid"/>
            <a:round/>
          </a:ln>
        </p:spPr>
        <p:txBody>
          <a:bodyPr vert="horz" wrap="square" lIns="0" tIns="0" rIns="0" bIns="0" rtlCol="0" anchor="t" anchorCtr="0"/>
          <a:lstStyle/>
          <a:p>
            <a:pPr indent="0" algn="ctr">
              <a:lnSpc>
                <a:spcPct val="108000"/>
              </a:lnSpc>
              <a:defRPr/>
            </a:pPr>
            <a:r>
              <a:rPr lang="en-US" sz="1100" b="0" i="0" u="none" strike="noStrike">
                <a:solidFill>
                  <a:srgbClr val="E2E6E9"/>
                </a:solidFill>
                <a:latin typeface="Merriweather"/>
                <a:ea typeface="Merriweather"/>
                <a:cs typeface="Merriweather"/>
                <a:sym typeface="Merriweather"/>
              </a:rPr>
              <a:t>企业级严格的数据逻辑隔离</a:t>
            </a:r>
            <a:endParaRPr lang="en-US" sz="1100"/>
          </a:p>
          <a:p>
            <a:pPr indent="0" algn="ctr">
              <a:lnSpc>
                <a:spcPct val="108000"/>
              </a:lnSpc>
            </a:pPr>
            <a:r>
              <a:rPr lang="en-US" sz="1100" b="0" i="0" u="none" strike="noStrike">
                <a:solidFill>
                  <a:srgbClr val="E2E6E9"/>
                </a:solidFill>
                <a:latin typeface="Merriweather"/>
                <a:ea typeface="Merriweather"/>
                <a:cs typeface="Merriweather"/>
                <a:sym typeface="Merriweather"/>
              </a:rPr>
              <a:t>支持灵活的定制化配置需求</a:t>
            </a:r>
            <a:endParaRPr lang="en-US" sz="1100" b="0" i="0" u="none" strike="noStrike">
              <a:solidFill>
                <a:srgbClr val="E2E6E9"/>
              </a:solidFill>
              <a:latin typeface="Merriweather"/>
              <a:ea typeface="Merriweather"/>
              <a:cs typeface="Merriweather"/>
              <a:sym typeface="Merriweath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custDataLst>
              <p:tags r:id="rId1"/>
            </p:custDataLst>
          </p:nvPr>
        </p:nvPicPr>
        <p:blipFill>
          <a:blip r:embed="rId2"/>
          <a:srcRect/>
          <a:stretch>
            <a:fillRect/>
          </a:stretch>
        </p:blipFill>
        <p:spPr>
          <a:xfrm>
            <a:off x="0" y="0"/>
            <a:ext cx="9144000" cy="5143500"/>
          </a:xfrm>
          <a:prstGeom prst="rect">
            <a:avLst/>
          </a:prstGeom>
          <a:noFill/>
          <a:ln w="25400" cap="flat" cmpd="sng">
            <a:noFill/>
            <a:prstDash val="solid"/>
            <a:round/>
          </a:ln>
        </p:spPr>
      </p:pic>
      <p:sp>
        <p:nvSpPr>
          <p:cNvPr id="3" name="AutoShape 3"/>
          <p:cNvSpPr/>
          <p:nvPr>
            <p:custDataLst>
              <p:tags r:id="rId3"/>
            </p:custDataLst>
          </p:nvPr>
        </p:nvSpPr>
        <p:spPr>
          <a:xfrm>
            <a:off x="0" y="0"/>
            <a:ext cx="9144000" cy="5143500"/>
          </a:xfrm>
          <a:prstGeom prst="roundRect">
            <a:avLst>
              <a:gd name="adj" fmla="val 0"/>
            </a:avLst>
          </a:prstGeom>
          <a:solidFill>
            <a:srgbClr val="09151A">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4"/>
            </p:custDataLst>
          </p:nvPr>
        </p:nvSpPr>
        <p:spPr>
          <a:xfrm>
            <a:off x="520700" y="431800"/>
            <a:ext cx="1460500" cy="279400"/>
          </a:xfrm>
          <a:prstGeom prst="roundRect">
            <a:avLst>
              <a:gd name="adj" fmla="val 18181"/>
            </a:avLst>
          </a:prstGeom>
          <a:solidFill>
            <a:srgbClr val="001D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5"/>
            </p:custDataLst>
          </p:nvPr>
        </p:nvSpPr>
        <p:spPr>
          <a:xfrm>
            <a:off x="609600" y="482600"/>
            <a:ext cx="1282700" cy="1905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450"/>
              </a:lnSpc>
              <a:defRPr/>
            </a:pPr>
            <a:r>
              <a:rPr lang="en-US" sz="900" b="0" i="0" u="none" strike="noStrike">
                <a:solidFill>
                  <a:srgbClr val="E2E6E9"/>
                </a:solidFill>
                <a:latin typeface="Merriweather"/>
                <a:ea typeface="Merriweather"/>
                <a:cs typeface="Merriweather"/>
                <a:sym typeface="Merriweather"/>
              </a:rPr>
              <a:t>PART 05 · 总结与展望</a:t>
            </a:r>
            <a:endParaRPr lang="en-US" sz="1100"/>
          </a:p>
        </p:txBody>
      </p:sp>
      <p:sp>
        <p:nvSpPr>
          <p:cNvPr id="7" name="AutoShape 7"/>
          <p:cNvSpPr/>
          <p:nvPr>
            <p:custDataLst>
              <p:tags r:id="rId6"/>
            </p:custDataLst>
          </p:nvPr>
        </p:nvSpPr>
        <p:spPr>
          <a:xfrm>
            <a:off x="520700" y="762000"/>
            <a:ext cx="5080000" cy="4699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3650"/>
              </a:lnSpc>
              <a:defRPr/>
            </a:pPr>
            <a:r>
              <a:rPr lang="en-US" sz="2900" b="0" i="0" u="none" strike="noStrike">
                <a:solidFill>
                  <a:srgbClr val="F5F0F0"/>
                </a:solidFill>
                <a:latin typeface="Merriweather"/>
                <a:ea typeface="Merriweather"/>
                <a:cs typeface="Merriweather"/>
                <a:sym typeface="Merriweather"/>
              </a:rPr>
              <a:t>局限与改进路线图</a:t>
            </a:r>
            <a:endParaRPr lang="en-US" sz="1100"/>
          </a:p>
        </p:txBody>
      </p:sp>
      <p:pic>
        <p:nvPicPr>
          <p:cNvPr id="8" name="Picture 8"/>
          <p:cNvPicPr>
            <a:picLocks noChangeAspect="1"/>
          </p:cNvPicPr>
          <p:nvPr>
            <p:custDataLst>
              <p:tags r:id="rId7"/>
            </p:custDataLst>
          </p:nvPr>
        </p:nvPicPr>
        <p:blipFill>
          <a:blip r:embed="rId8"/>
          <a:srcRect l="65" r="65"/>
          <a:stretch>
            <a:fillRect/>
          </a:stretch>
        </p:blipFill>
        <p:spPr>
          <a:xfrm>
            <a:off x="520700" y="1447800"/>
            <a:ext cx="1498600" cy="927100"/>
          </a:xfrm>
          <a:prstGeom prst="rect">
            <a:avLst/>
          </a:prstGeom>
          <a:noFill/>
          <a:ln w="25400" cap="flat" cmpd="sng">
            <a:noFill/>
            <a:prstDash val="solid"/>
            <a:round/>
          </a:ln>
        </p:spPr>
      </p:pic>
      <p:sp>
        <p:nvSpPr>
          <p:cNvPr id="9" name="AutoShape 9"/>
          <p:cNvSpPr/>
          <p:nvPr>
            <p:custDataLst>
              <p:tags r:id="rId9"/>
            </p:custDataLst>
          </p:nvPr>
        </p:nvSpPr>
        <p:spPr>
          <a:xfrm>
            <a:off x="520700" y="2552700"/>
            <a:ext cx="2578100" cy="2286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00"/>
              </a:lnSpc>
              <a:defRPr/>
            </a:pPr>
            <a:r>
              <a:rPr lang="en-US" sz="1500" b="1" i="0" u="none" strike="noStrike">
                <a:solidFill>
                  <a:srgbClr val="E2E6E9"/>
                </a:solidFill>
                <a:latin typeface="Merriweather"/>
                <a:ea typeface="Merriweather"/>
                <a:cs typeface="Merriweather"/>
                <a:sym typeface="Merriweather"/>
              </a:rPr>
              <a:t>已知局限 Current Limitations</a:t>
            </a:r>
            <a:endParaRPr lang="en-US" sz="1100"/>
          </a:p>
        </p:txBody>
      </p:sp>
      <p:sp>
        <p:nvSpPr>
          <p:cNvPr id="10" name="AutoShape 10"/>
          <p:cNvSpPr/>
          <p:nvPr>
            <p:custDataLst>
              <p:tags r:id="rId10"/>
            </p:custDataLst>
          </p:nvPr>
        </p:nvSpPr>
        <p:spPr>
          <a:xfrm>
            <a:off x="520700" y="2984500"/>
            <a:ext cx="2578100" cy="2413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50"/>
              </a:lnSpc>
              <a:defRPr/>
            </a:pPr>
            <a:r>
              <a:rPr lang="en-US" sz="1200" b="0" i="0" u="none" strike="noStrike">
                <a:solidFill>
                  <a:srgbClr val="96A0AA"/>
                </a:solidFill>
                <a:latin typeface="Merriweather"/>
                <a:ea typeface="Merriweather"/>
                <a:cs typeface="Merriweather"/>
                <a:sym typeface="Merriweather"/>
              </a:rPr>
              <a:t>现状分析 / Analysis</a:t>
            </a:r>
            <a:endParaRPr lang="en-US" sz="1100"/>
          </a:p>
        </p:txBody>
      </p:sp>
      <p:sp>
        <p:nvSpPr>
          <p:cNvPr id="11" name="AutoShape 11"/>
          <p:cNvSpPr/>
          <p:nvPr>
            <p:custDataLst>
              <p:tags r:id="rId11"/>
            </p:custDataLst>
          </p:nvPr>
        </p:nvSpPr>
        <p:spPr>
          <a:xfrm>
            <a:off x="520700" y="3429000"/>
            <a:ext cx="2578100" cy="1651000"/>
          </a:xfrm>
          <a:prstGeom prst="roundRect">
            <a:avLst>
              <a:gd name="adj" fmla="val 0"/>
            </a:avLst>
          </a:prstGeom>
          <a:noFill/>
          <a:ln w="25400" cap="flat" cmpd="sng">
            <a:noFill/>
            <a:prstDash val="solid"/>
            <a:round/>
          </a:ln>
        </p:spPr>
        <p:txBody>
          <a:bodyPr vert="horz" wrap="square" lIns="0" tIns="0" rIns="0" bIns="0" rtlCol="0" anchor="t" anchorCtr="0"/>
          <a:lstStyle/>
          <a:p>
            <a:pPr marL="139700" indent="-139700" algn="l">
              <a:lnSpc>
                <a:spcPts val="1900"/>
              </a:lnSpc>
              <a:buClr>
                <a:srgbClr val="E2E6E9"/>
              </a:buClr>
              <a:buChar char="•"/>
              <a:defRPr/>
            </a:pPr>
            <a:r>
              <a:rPr lang="en-US" sz="1100" b="0" i="0" u="none" strike="noStrike">
                <a:solidFill>
                  <a:srgbClr val="E2E6E9"/>
                </a:solidFill>
                <a:latin typeface="Noto Sans SC"/>
                <a:ea typeface="Noto Sans SC"/>
                <a:cs typeface="Noto Sans SC"/>
                <a:sym typeface="Noto Sans SC"/>
              </a:rPr>
              <a:t>闭环步骤固定：四步流程无法灵活调整，适用性受限</a:t>
            </a:r>
            <a:endParaRPr lang="en-US" sz="1100"/>
          </a:p>
          <a:p>
            <a:pPr marL="139700" indent="-139700" algn="l">
              <a:lnSpc>
                <a:spcPts val="1900"/>
              </a:lnSpc>
              <a:buClr>
                <a:srgbClr val="E2E6E9"/>
              </a:buClr>
              <a:buChar char="•"/>
            </a:pPr>
            <a:r>
              <a:rPr lang="en-US" sz="1100" b="0" i="0" u="none" strike="noStrike">
                <a:solidFill>
                  <a:srgbClr val="E2E6E9"/>
                </a:solidFill>
                <a:latin typeface="Noto Sans SC"/>
                <a:ea typeface="Noto Sans SC"/>
                <a:cs typeface="Noto Sans SC"/>
                <a:sym typeface="Noto Sans SC"/>
              </a:rPr>
              <a:t>阻塞分类人工：需手动选择原因，影响处理效率</a:t>
            </a:r>
            <a:endParaRPr lang="en-US" sz="1100" b="0" i="0" u="none" strike="noStrike">
              <a:solidFill>
                <a:srgbClr val="E2E6E9"/>
              </a:solidFill>
              <a:latin typeface="Noto Sans SC"/>
              <a:ea typeface="Noto Sans SC"/>
              <a:cs typeface="Noto Sans SC"/>
              <a:sym typeface="Noto Sans SC"/>
            </a:endParaRPr>
          </a:p>
          <a:p>
            <a:pPr marL="139700" indent="-139700" algn="l">
              <a:lnSpc>
                <a:spcPts val="1900"/>
              </a:lnSpc>
              <a:buClr>
                <a:srgbClr val="E2E6E9"/>
              </a:buClr>
              <a:buChar char="•"/>
            </a:pPr>
            <a:r>
              <a:rPr lang="en-US" sz="1100" b="0" i="0" u="none" strike="noStrike">
                <a:solidFill>
                  <a:srgbClr val="E2E6E9"/>
                </a:solidFill>
                <a:latin typeface="Noto Sans SC"/>
                <a:ea typeface="Noto Sans SC"/>
                <a:cs typeface="Noto Sans SC"/>
                <a:sym typeface="Noto Sans SC"/>
              </a:rPr>
              <a:t>部署环境单一：仅支持单机Docker，未验证K8s集群</a:t>
            </a:r>
            <a:endParaRPr lang="en-US" sz="1100" b="0" i="0" u="none" strike="noStrike">
              <a:solidFill>
                <a:srgbClr val="E2E6E9"/>
              </a:solidFill>
              <a:latin typeface="Noto Sans SC"/>
              <a:ea typeface="Noto Sans SC"/>
              <a:cs typeface="Noto Sans SC"/>
              <a:sym typeface="Noto Sans SC"/>
            </a:endParaRPr>
          </a:p>
        </p:txBody>
      </p:sp>
      <p:pic>
        <p:nvPicPr>
          <p:cNvPr id="12" name="Picture 12"/>
          <p:cNvPicPr>
            <a:picLocks noChangeAspect="1"/>
          </p:cNvPicPr>
          <p:nvPr>
            <p:custDataLst>
              <p:tags r:id="rId12"/>
            </p:custDataLst>
          </p:nvPr>
        </p:nvPicPr>
        <p:blipFill>
          <a:blip r:embed="rId13"/>
          <a:srcRect l="65" r="65"/>
          <a:stretch>
            <a:fillRect/>
          </a:stretch>
        </p:blipFill>
        <p:spPr>
          <a:xfrm>
            <a:off x="3276600" y="1447800"/>
            <a:ext cx="1498600" cy="927100"/>
          </a:xfrm>
          <a:prstGeom prst="rect">
            <a:avLst/>
          </a:prstGeom>
          <a:noFill/>
          <a:ln w="25400" cap="flat" cmpd="sng">
            <a:noFill/>
            <a:prstDash val="solid"/>
            <a:round/>
          </a:ln>
        </p:spPr>
      </p:pic>
      <p:sp>
        <p:nvSpPr>
          <p:cNvPr id="13" name="AutoShape 13"/>
          <p:cNvSpPr/>
          <p:nvPr>
            <p:custDataLst>
              <p:tags r:id="rId14"/>
            </p:custDataLst>
          </p:nvPr>
        </p:nvSpPr>
        <p:spPr>
          <a:xfrm>
            <a:off x="3276600" y="2552700"/>
            <a:ext cx="2578100" cy="2286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00"/>
              </a:lnSpc>
              <a:defRPr/>
            </a:pPr>
            <a:r>
              <a:rPr lang="en-US" sz="1500" b="1" i="0" u="none" strike="noStrike">
                <a:solidFill>
                  <a:srgbClr val="E2E6E9"/>
                </a:solidFill>
                <a:latin typeface="Merriweather"/>
                <a:ea typeface="Merriweather"/>
                <a:cs typeface="Merriweather"/>
                <a:sym typeface="Merriweather"/>
              </a:rPr>
              <a:t>短期改进 (1-3个月)</a:t>
            </a:r>
            <a:endParaRPr lang="en-US" sz="1100"/>
          </a:p>
        </p:txBody>
      </p:sp>
      <p:sp>
        <p:nvSpPr>
          <p:cNvPr id="14" name="AutoShape 14"/>
          <p:cNvSpPr/>
          <p:nvPr>
            <p:custDataLst>
              <p:tags r:id="rId15"/>
            </p:custDataLst>
          </p:nvPr>
        </p:nvSpPr>
        <p:spPr>
          <a:xfrm>
            <a:off x="3276600" y="2984500"/>
            <a:ext cx="2578100" cy="2413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50"/>
              </a:lnSpc>
              <a:defRPr/>
            </a:pPr>
            <a:r>
              <a:rPr lang="en-US" sz="1200" b="0" i="0" u="none" strike="noStrike">
                <a:solidFill>
                  <a:srgbClr val="96A0AA"/>
                </a:solidFill>
                <a:latin typeface="Merriweather"/>
                <a:ea typeface="Merriweather"/>
                <a:cs typeface="Merriweather"/>
                <a:sym typeface="Merriweather"/>
              </a:rPr>
              <a:t>快速迭代 / Quick Iteration</a:t>
            </a:r>
            <a:endParaRPr lang="en-US" sz="1100"/>
          </a:p>
        </p:txBody>
      </p:sp>
      <p:sp>
        <p:nvSpPr>
          <p:cNvPr id="15" name="AutoShape 15"/>
          <p:cNvSpPr/>
          <p:nvPr>
            <p:custDataLst>
              <p:tags r:id="rId16"/>
            </p:custDataLst>
          </p:nvPr>
        </p:nvSpPr>
        <p:spPr>
          <a:xfrm>
            <a:off x="3276600" y="3429000"/>
            <a:ext cx="2578100" cy="1651000"/>
          </a:xfrm>
          <a:prstGeom prst="roundRect">
            <a:avLst>
              <a:gd name="adj" fmla="val 0"/>
            </a:avLst>
          </a:prstGeom>
          <a:noFill/>
          <a:ln w="25400" cap="flat" cmpd="sng">
            <a:noFill/>
            <a:prstDash val="solid"/>
            <a:round/>
          </a:ln>
        </p:spPr>
        <p:txBody>
          <a:bodyPr vert="horz" wrap="square" lIns="0" tIns="0" rIns="0" bIns="0" rtlCol="0" anchor="t" anchorCtr="0"/>
          <a:lstStyle/>
          <a:p>
            <a:pPr marL="139700" indent="-139700" algn="l">
              <a:lnSpc>
                <a:spcPts val="1900"/>
              </a:lnSpc>
              <a:buClr>
                <a:srgbClr val="E2E6E9"/>
              </a:buClr>
              <a:buChar char="•"/>
              <a:defRPr/>
            </a:pPr>
            <a:r>
              <a:rPr lang="en-US" sz="1100" b="0" i="0" u="none" strike="noStrike">
                <a:solidFill>
                  <a:srgbClr val="E2E6E9"/>
                </a:solidFill>
                <a:latin typeface="Noto Sans SC"/>
                <a:ea typeface="Noto Sans SC"/>
                <a:cs typeface="Noto Sans SC"/>
                <a:sym typeface="Noto Sans SC"/>
              </a:rPr>
              <a:t>闭环配置化：开发可视化界面，支持自定义流程步骤</a:t>
            </a:r>
            <a:endParaRPr lang="en-US" sz="1100"/>
          </a:p>
          <a:p>
            <a:pPr marL="139700" indent="-139700" algn="l">
              <a:lnSpc>
                <a:spcPts val="1900"/>
              </a:lnSpc>
              <a:buClr>
                <a:srgbClr val="E2E6E9"/>
              </a:buClr>
              <a:buChar char="•"/>
            </a:pPr>
            <a:r>
              <a:rPr lang="en-US" sz="1100" b="0" i="0" u="none" strike="noStrike">
                <a:solidFill>
                  <a:srgbClr val="E2E6E9"/>
                </a:solidFill>
                <a:latin typeface="Noto Sans SC"/>
                <a:ea typeface="Noto Sans SC"/>
                <a:cs typeface="Noto Sans SC"/>
                <a:sym typeface="Noto Sans SC"/>
              </a:rPr>
              <a:t>拖拽式建模：提供工作流拖拽界面，降低配置门槛</a:t>
            </a:r>
            <a:endParaRPr lang="en-US" sz="1100" b="0" i="0" u="none" strike="noStrike">
              <a:solidFill>
                <a:srgbClr val="E2E6E9"/>
              </a:solidFill>
              <a:latin typeface="Noto Sans SC"/>
              <a:ea typeface="Noto Sans SC"/>
              <a:cs typeface="Noto Sans SC"/>
              <a:sym typeface="Noto Sans SC"/>
            </a:endParaRPr>
          </a:p>
          <a:p>
            <a:pPr marL="139700" indent="-139700" algn="l">
              <a:lnSpc>
                <a:spcPts val="1900"/>
              </a:lnSpc>
              <a:buClr>
                <a:srgbClr val="E2E6E9"/>
              </a:buClr>
              <a:buChar char="•"/>
            </a:pPr>
            <a:r>
              <a:rPr lang="en-US" sz="1100" b="0" i="0" u="none" strike="noStrike">
                <a:solidFill>
                  <a:srgbClr val="E2E6E9"/>
                </a:solidFill>
                <a:latin typeface="Noto Sans SC"/>
                <a:ea typeface="Noto Sans SC"/>
                <a:cs typeface="Noto Sans SC"/>
                <a:sym typeface="Noto Sans SC"/>
              </a:rPr>
              <a:t>质量保障：完善单元测试，覆盖率提升至80%以上</a:t>
            </a:r>
            <a:endParaRPr lang="en-US" sz="1100" b="0" i="0" u="none" strike="noStrike">
              <a:solidFill>
                <a:srgbClr val="E2E6E9"/>
              </a:solidFill>
              <a:latin typeface="Noto Sans SC"/>
              <a:ea typeface="Noto Sans SC"/>
              <a:cs typeface="Noto Sans SC"/>
              <a:sym typeface="Noto Sans SC"/>
            </a:endParaRPr>
          </a:p>
        </p:txBody>
      </p:sp>
      <p:pic>
        <p:nvPicPr>
          <p:cNvPr id="16" name="Picture 16"/>
          <p:cNvPicPr>
            <a:picLocks noChangeAspect="1"/>
          </p:cNvPicPr>
          <p:nvPr>
            <p:custDataLst>
              <p:tags r:id="rId17"/>
            </p:custDataLst>
          </p:nvPr>
        </p:nvPicPr>
        <p:blipFill>
          <a:blip r:embed="rId18"/>
          <a:srcRect l="65" r="65"/>
          <a:stretch>
            <a:fillRect/>
          </a:stretch>
        </p:blipFill>
        <p:spPr>
          <a:xfrm>
            <a:off x="6045200" y="1447800"/>
            <a:ext cx="1498600" cy="927100"/>
          </a:xfrm>
          <a:prstGeom prst="rect">
            <a:avLst/>
          </a:prstGeom>
          <a:noFill/>
          <a:ln w="25400" cap="flat" cmpd="sng">
            <a:noFill/>
            <a:prstDash val="solid"/>
            <a:round/>
          </a:ln>
        </p:spPr>
      </p:pic>
      <p:sp>
        <p:nvSpPr>
          <p:cNvPr id="17" name="AutoShape 17"/>
          <p:cNvSpPr/>
          <p:nvPr>
            <p:custDataLst>
              <p:tags r:id="rId19"/>
            </p:custDataLst>
          </p:nvPr>
        </p:nvSpPr>
        <p:spPr>
          <a:xfrm>
            <a:off x="6045200" y="2552700"/>
            <a:ext cx="2578100" cy="2286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00"/>
              </a:lnSpc>
              <a:defRPr/>
            </a:pPr>
            <a:r>
              <a:rPr lang="en-US" sz="1500" b="1" i="0" u="none" strike="noStrike">
                <a:solidFill>
                  <a:srgbClr val="E2E6E9"/>
                </a:solidFill>
                <a:latin typeface="Merriweather"/>
                <a:ea typeface="Merriweather"/>
                <a:cs typeface="Merriweather"/>
                <a:sym typeface="Merriweather"/>
              </a:rPr>
              <a:t>中期计划 (3-6个月)</a:t>
            </a:r>
            <a:endParaRPr lang="en-US" sz="1100"/>
          </a:p>
        </p:txBody>
      </p:sp>
      <p:sp>
        <p:nvSpPr>
          <p:cNvPr id="18" name="AutoShape 18"/>
          <p:cNvSpPr/>
          <p:nvPr>
            <p:custDataLst>
              <p:tags r:id="rId20"/>
            </p:custDataLst>
          </p:nvPr>
        </p:nvSpPr>
        <p:spPr>
          <a:xfrm>
            <a:off x="6045200" y="2984500"/>
            <a:ext cx="2578100" cy="2413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50"/>
              </a:lnSpc>
              <a:defRPr/>
            </a:pPr>
            <a:r>
              <a:rPr lang="en-US" sz="1200" b="0" i="0" u="none" strike="noStrike">
                <a:solidFill>
                  <a:srgbClr val="96A0AA"/>
                </a:solidFill>
                <a:latin typeface="Merriweather"/>
                <a:ea typeface="Merriweather"/>
                <a:cs typeface="Merriweather"/>
                <a:sym typeface="Merriweather"/>
              </a:rPr>
              <a:t>架构升级 / Architecture Upgrade</a:t>
            </a:r>
            <a:endParaRPr lang="en-US" sz="1100"/>
          </a:p>
        </p:txBody>
      </p:sp>
      <p:sp>
        <p:nvSpPr>
          <p:cNvPr id="19" name="AutoShape 19"/>
          <p:cNvSpPr/>
          <p:nvPr>
            <p:custDataLst>
              <p:tags r:id="rId21"/>
            </p:custDataLst>
          </p:nvPr>
        </p:nvSpPr>
        <p:spPr>
          <a:xfrm>
            <a:off x="6045200" y="3429000"/>
            <a:ext cx="2578100" cy="1651000"/>
          </a:xfrm>
          <a:prstGeom prst="roundRect">
            <a:avLst>
              <a:gd name="adj" fmla="val 0"/>
            </a:avLst>
          </a:prstGeom>
          <a:noFill/>
          <a:ln w="25400" cap="flat" cmpd="sng">
            <a:noFill/>
            <a:prstDash val="solid"/>
            <a:round/>
          </a:ln>
        </p:spPr>
        <p:txBody>
          <a:bodyPr vert="horz" wrap="square" lIns="0" tIns="0" rIns="0" bIns="0" rtlCol="0" anchor="t" anchorCtr="0"/>
          <a:lstStyle/>
          <a:p>
            <a:pPr marL="139700" indent="-139700" algn="l">
              <a:lnSpc>
                <a:spcPts val="2400"/>
              </a:lnSpc>
              <a:buClr>
                <a:srgbClr val="E2E6E9"/>
              </a:buClr>
              <a:buChar char="•"/>
              <a:defRPr/>
            </a:pPr>
            <a:r>
              <a:rPr lang="en-US" sz="1100" b="0" i="0" u="none" strike="noStrike">
                <a:solidFill>
                  <a:srgbClr val="E2E6E9"/>
                </a:solidFill>
                <a:latin typeface="Noto Sans SC"/>
                <a:ea typeface="Noto Sans SC"/>
                <a:cs typeface="Noto Sans SC"/>
                <a:sym typeface="Noto Sans SC"/>
              </a:rPr>
              <a:t>实时性增强：引入Websocket实现任务状态的实时推送</a:t>
            </a:r>
            <a:endParaRPr lang="en-US" sz="1100"/>
          </a:p>
          <a:p>
            <a:pPr marL="139700" indent="-139700" algn="l">
              <a:lnSpc>
                <a:spcPts val="2400"/>
              </a:lnSpc>
              <a:buClr>
                <a:srgbClr val="E2E6E9"/>
              </a:buClr>
              <a:buChar char="•"/>
            </a:pPr>
            <a:r>
              <a:rPr lang="en-US" sz="1100" b="0" i="0" u="none" strike="noStrike">
                <a:solidFill>
                  <a:srgbClr val="E2E6E9"/>
                </a:solidFill>
                <a:latin typeface="Noto Sans SC"/>
                <a:ea typeface="Noto Sans SC"/>
                <a:cs typeface="Noto Sans SC"/>
                <a:sym typeface="Noto Sans SC"/>
              </a:rPr>
              <a:t>监控告警：集成Prometheus+Grafana，建立监控体系</a:t>
            </a:r>
            <a:endParaRPr lang="en-US" sz="1100" b="0" i="0" u="none" strike="noStrike">
              <a:solidFill>
                <a:srgbClr val="E2E6E9"/>
              </a:solidFill>
              <a:latin typeface="Noto Sans SC"/>
              <a:ea typeface="Noto Sans SC"/>
              <a:cs typeface="Noto Sans SC"/>
              <a:sym typeface="Noto Sans SC"/>
            </a:endParaRPr>
          </a:p>
          <a:p>
            <a:pPr marL="0" indent="0" algn="l">
              <a:lnSpc>
                <a:spcPts val="2400"/>
              </a:lnSpc>
              <a:buClr>
                <a:srgbClr val="E2E6E9"/>
              </a:buClr>
              <a:buNone/>
            </a:pPr>
            <a:endParaRPr lang="en-US" sz="1100" b="0" i="0" u="none" strike="noStrike">
              <a:solidFill>
                <a:srgbClr val="E2E6E9"/>
              </a:solidFill>
              <a:latin typeface="Noto Sans SC"/>
              <a:ea typeface="Noto Sans SC"/>
              <a:cs typeface="Noto Sans SC"/>
              <a:sym typeface="Noto Sans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9144000" cy="5143500"/>
          </a:xfrm>
          <a:prstGeom prst="rect">
            <a:avLst/>
          </a:prstGeom>
          <a:noFill/>
          <a:ln w="25400" cap="flat" cmpd="sng">
            <a:noFill/>
            <a:prstDash val="solid"/>
            <a:round/>
          </a:ln>
        </p:spPr>
      </p:pic>
      <p:sp>
        <p:nvSpPr>
          <p:cNvPr id="3" name="AutoShape 3"/>
          <p:cNvSpPr/>
          <p:nvPr/>
        </p:nvSpPr>
        <p:spPr>
          <a:xfrm>
            <a:off x="0" y="0"/>
            <a:ext cx="9144000" cy="5143500"/>
          </a:xfrm>
          <a:prstGeom prst="roundRect">
            <a:avLst>
              <a:gd name="adj" fmla="val 0"/>
            </a:avLst>
          </a:prstGeom>
          <a:solidFill>
            <a:srgbClr val="09151A">
              <a:alpha val="9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t="162" b="162"/>
          <a:stretch>
            <a:fillRect/>
          </a:stretch>
        </p:blipFill>
        <p:spPr>
          <a:xfrm>
            <a:off x="8026400" y="4838700"/>
            <a:ext cx="1066800" cy="254000"/>
          </a:xfrm>
          <a:prstGeom prst="rect">
            <a:avLst/>
          </a:prstGeom>
          <a:noFill/>
          <a:ln w="25400" cap="flat" cmpd="sng">
            <a:noFill/>
            <a:prstDash val="solid"/>
            <a:round/>
          </a:ln>
        </p:spPr>
      </p:pic>
      <p:pic>
        <p:nvPicPr>
          <p:cNvPr id="5" name="Picture 5"/>
          <p:cNvPicPr>
            <a:picLocks noChangeAspect="1"/>
          </p:cNvPicPr>
          <p:nvPr/>
        </p:nvPicPr>
        <p:blipFill>
          <a:blip r:embed="rId3"/>
          <a:srcRect/>
          <a:stretch>
            <a:fillRect/>
          </a:stretch>
        </p:blipFill>
        <p:spPr>
          <a:xfrm>
            <a:off x="5715000" y="0"/>
            <a:ext cx="3429000" cy="5143500"/>
          </a:xfrm>
          <a:prstGeom prst="rect">
            <a:avLst/>
          </a:prstGeom>
          <a:noFill/>
          <a:ln w="25400" cap="flat" cmpd="sng">
            <a:noFill/>
            <a:prstDash val="solid"/>
            <a:round/>
          </a:ln>
        </p:spPr>
      </p:pic>
      <p:sp>
        <p:nvSpPr>
          <p:cNvPr id="6" name="AutoShape 6"/>
          <p:cNvSpPr/>
          <p:nvPr/>
        </p:nvSpPr>
        <p:spPr>
          <a:xfrm>
            <a:off x="927100" y="495300"/>
            <a:ext cx="3860800" cy="482600"/>
          </a:xfrm>
          <a:prstGeom prst="roundRect">
            <a:avLst>
              <a:gd name="adj" fmla="val 0"/>
            </a:avLst>
          </a:prstGeom>
          <a:noFill/>
          <a:ln w="25400" cap="flat" cmpd="sng">
            <a:noFill/>
            <a:prstDash val="solid"/>
            <a:round/>
          </a:ln>
        </p:spPr>
        <p:txBody>
          <a:bodyPr vert="horz" wrap="none" lIns="0" tIns="0" rIns="0" bIns="0" rtlCol="0" anchor="t" anchorCtr="0"/>
          <a:lstStyle/>
          <a:p>
            <a:pPr indent="0" algn="ctr">
              <a:lnSpc>
                <a:spcPts val="3750"/>
              </a:lnSpc>
              <a:defRPr/>
            </a:pPr>
            <a:r>
              <a:rPr lang="en-US" sz="3000" b="0" i="0" u="none" strike="noStrike">
                <a:solidFill>
                  <a:srgbClr val="F5F0F0"/>
                </a:solidFill>
                <a:latin typeface="Merriweather"/>
                <a:ea typeface="Merriweather"/>
                <a:cs typeface="Merriweather"/>
                <a:sym typeface="Merriweather"/>
              </a:rPr>
              <a:t>感谢聆听</a:t>
            </a:r>
            <a:endParaRPr lang="en-US" sz="1100"/>
          </a:p>
        </p:txBody>
      </p:sp>
      <p:sp>
        <p:nvSpPr>
          <p:cNvPr id="8" name="AutoShape 8"/>
          <p:cNvSpPr/>
          <p:nvPr/>
        </p:nvSpPr>
        <p:spPr>
          <a:xfrm>
            <a:off x="520700" y="1625600"/>
            <a:ext cx="2260600" cy="38100"/>
          </a:xfrm>
          <a:prstGeom prst="roundRect">
            <a:avLst>
              <a:gd name="adj" fmla="val 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46100" y="1828800"/>
            <a:ext cx="1930400" cy="2413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50"/>
              </a:lnSpc>
              <a:defRPr/>
            </a:pPr>
            <a:r>
              <a:rPr lang="en-US" sz="1500" b="1" i="0" u="none" strike="noStrike">
                <a:solidFill>
                  <a:srgbClr val="E2E6E9"/>
                </a:solidFill>
                <a:latin typeface="Merriweather"/>
                <a:ea typeface="Merriweather"/>
                <a:cs typeface="Merriweather"/>
                <a:sym typeface="Merriweather"/>
              </a:rPr>
              <a:t>状态机驱动</a:t>
            </a:r>
            <a:endParaRPr lang="en-US" sz="1100"/>
          </a:p>
        </p:txBody>
      </p:sp>
      <p:sp>
        <p:nvSpPr>
          <p:cNvPr id="10" name="AutoShape 10"/>
          <p:cNvSpPr/>
          <p:nvPr/>
        </p:nvSpPr>
        <p:spPr>
          <a:xfrm>
            <a:off x="546100" y="2159000"/>
            <a:ext cx="2222500" cy="889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endParaRPr lang="en-US" sz="1200" b="0" i="0" u="none" strike="noStrike">
              <a:solidFill>
                <a:srgbClr val="E2E6E9"/>
              </a:solidFill>
              <a:latin typeface="Merriweather"/>
              <a:ea typeface="Merriweather"/>
              <a:cs typeface="Merriweather"/>
              <a:sym typeface="Merriweather"/>
            </a:endParaRPr>
          </a:p>
          <a:p>
            <a:pPr indent="0" algn="l">
              <a:lnSpc>
                <a:spcPct val="108000"/>
              </a:lnSpc>
              <a:defRPr/>
            </a:pPr>
            <a:r>
              <a:rPr lang="en-US" sz="1200" b="0" i="0" u="none" strike="noStrike">
                <a:solidFill>
                  <a:srgbClr val="E2E6E9"/>
                </a:solidFill>
                <a:latin typeface="Merriweather"/>
                <a:ea typeface="Merriweather"/>
                <a:cs typeface="Merriweather"/>
                <a:sym typeface="Merriweather"/>
              </a:rPr>
              <a:t>previous_state精确恢复，全链路闭环不可追踪。</a:t>
            </a:r>
            <a:endParaRPr lang="en-US" sz="1100"/>
          </a:p>
        </p:txBody>
      </p:sp>
      <p:sp>
        <p:nvSpPr>
          <p:cNvPr id="11" name="AutoShape 11"/>
          <p:cNvSpPr/>
          <p:nvPr/>
        </p:nvSpPr>
        <p:spPr>
          <a:xfrm>
            <a:off x="2933700" y="1625600"/>
            <a:ext cx="2260600" cy="38100"/>
          </a:xfrm>
          <a:prstGeom prst="roundRect">
            <a:avLst>
              <a:gd name="adj" fmla="val 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959100" y="1828800"/>
            <a:ext cx="1930400" cy="2413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50"/>
              </a:lnSpc>
              <a:defRPr/>
            </a:pPr>
            <a:r>
              <a:rPr lang="en-US" sz="1500" b="1" i="0" u="none" strike="noStrike">
                <a:solidFill>
                  <a:srgbClr val="E2E6E9"/>
                </a:solidFill>
                <a:latin typeface="Merriweather"/>
                <a:ea typeface="Merriweather"/>
                <a:cs typeface="Merriweather"/>
                <a:sym typeface="Merriweather"/>
              </a:rPr>
              <a:t>微服务架构</a:t>
            </a:r>
            <a:endParaRPr lang="en-US" sz="1100"/>
          </a:p>
        </p:txBody>
      </p:sp>
      <p:sp>
        <p:nvSpPr>
          <p:cNvPr id="13" name="AutoShape 13"/>
          <p:cNvSpPr/>
          <p:nvPr/>
        </p:nvSpPr>
        <p:spPr>
          <a:xfrm>
            <a:off x="2959100" y="2159000"/>
            <a:ext cx="2222500" cy="889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endParaRPr lang="en-US" sz="1200" b="0" i="0" u="none" strike="noStrike">
              <a:solidFill>
                <a:srgbClr val="E2E6E9"/>
              </a:solidFill>
              <a:latin typeface="Merriweather"/>
              <a:ea typeface="Merriweather"/>
              <a:cs typeface="Merriweather"/>
              <a:sym typeface="Merriweather"/>
            </a:endParaRPr>
          </a:p>
          <a:p>
            <a:pPr indent="0" algn="l">
              <a:lnSpc>
                <a:spcPct val="108000"/>
              </a:lnSpc>
              <a:defRPr/>
            </a:pPr>
            <a:r>
              <a:rPr lang="en-US" sz="1200" b="0" i="0" u="none" strike="noStrike">
                <a:solidFill>
                  <a:srgbClr val="E2E6E9"/>
                </a:solidFill>
                <a:latin typeface="Merriweather"/>
                <a:ea typeface="Merriweather"/>
                <a:cs typeface="Merriweather"/>
                <a:sym typeface="Merriweather"/>
              </a:rPr>
              <a:t>7服务+6库隔离，高内聚低耦合，Redis+MQ异步解耦提效显著。</a:t>
            </a:r>
            <a:endParaRPr lang="en-US" sz="1100"/>
          </a:p>
        </p:txBody>
      </p:sp>
      <p:sp>
        <p:nvSpPr>
          <p:cNvPr id="14" name="AutoShape 14"/>
          <p:cNvSpPr/>
          <p:nvPr/>
        </p:nvSpPr>
        <p:spPr>
          <a:xfrm>
            <a:off x="520700" y="3200400"/>
            <a:ext cx="4673600" cy="38100"/>
          </a:xfrm>
          <a:prstGeom prst="roundRect">
            <a:avLst>
              <a:gd name="adj" fmla="val 0"/>
            </a:avLst>
          </a:prstGeom>
          <a:solidFill>
            <a:srgbClr val="609D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46100" y="3403600"/>
            <a:ext cx="1930400" cy="241300"/>
          </a:xfrm>
          <a:prstGeom prst="roundRect">
            <a:avLst>
              <a:gd name="adj" fmla="val 0"/>
            </a:avLst>
          </a:prstGeom>
          <a:noFill/>
          <a:ln w="25400" cap="flat" cmpd="sng">
            <a:noFill/>
            <a:prstDash val="solid"/>
            <a:round/>
          </a:ln>
        </p:spPr>
        <p:txBody>
          <a:bodyPr vert="horz" wrap="none" lIns="0" tIns="0" rIns="0" bIns="0" rtlCol="0" anchor="t" anchorCtr="0"/>
          <a:lstStyle/>
          <a:p>
            <a:pPr indent="0" algn="l">
              <a:lnSpc>
                <a:spcPts val="1850"/>
              </a:lnSpc>
              <a:defRPr/>
            </a:pPr>
            <a:r>
              <a:rPr lang="en-US" sz="1500" b="1" i="0" u="none" strike="noStrike">
                <a:solidFill>
                  <a:srgbClr val="E2E6E9"/>
                </a:solidFill>
                <a:latin typeface="Merriweather"/>
                <a:ea typeface="Merriweather"/>
                <a:cs typeface="Merriweather"/>
                <a:sym typeface="Merriweather"/>
              </a:rPr>
              <a:t>全面验证</a:t>
            </a:r>
            <a:endParaRPr lang="en-US" sz="1100"/>
          </a:p>
        </p:txBody>
      </p:sp>
      <p:sp>
        <p:nvSpPr>
          <p:cNvPr id="16" name="AutoShape 16"/>
          <p:cNvSpPr/>
          <p:nvPr/>
        </p:nvSpPr>
        <p:spPr>
          <a:xfrm>
            <a:off x="546100" y="3733800"/>
            <a:ext cx="4635500" cy="635000"/>
          </a:xfrm>
          <a:prstGeom prst="roundRect">
            <a:avLst>
              <a:gd name="adj" fmla="val 0"/>
            </a:avLst>
          </a:prstGeom>
          <a:noFill/>
          <a:ln w="254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E2E6E9"/>
                </a:solidFill>
                <a:latin typeface="Merriweather"/>
                <a:ea typeface="Merriweather"/>
                <a:cs typeface="Merriweather"/>
                <a:sym typeface="Merriweather"/>
              </a:rPr>
              <a:t>五大模块100%覆盖，性能提升60%，越权访问与误操作清零。</a:t>
            </a:r>
            <a:endParaRPr lang="en-US" sz="1100"/>
          </a:p>
        </p:txBody>
      </p:sp>
      <p:sp>
        <p:nvSpPr>
          <p:cNvPr id="17" name="AutoShape 17"/>
          <p:cNvSpPr/>
          <p:nvPr/>
        </p:nvSpPr>
        <p:spPr>
          <a:xfrm>
            <a:off x="546100" y="4318000"/>
            <a:ext cx="46355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17000"/>
              </a:lnSpc>
              <a:defRPr/>
            </a:pPr>
            <a:endParaRPr lang="en-US" sz="1200" b="1" i="0" u="none" strike="noStrike">
              <a:solidFill>
                <a:srgbClr val="609DFF"/>
              </a:solidFill>
              <a:latin typeface="Merriweather"/>
              <a:ea typeface="Merriweather"/>
              <a:cs typeface="Merriweather"/>
              <a:sym typeface="Merriweather"/>
            </a:endParaRPr>
          </a:p>
        </p:txBody>
      </p:sp>
    </p:spTree>
  </p:cSld>
  <p:clrMapOvr>
    <a:masterClrMapping/>
  </p:clrMapOvr>
</p:sld>
</file>

<file path=ppt/tags/tag1.xml><?xml version="1.0" encoding="utf-8"?>
<p:tagLst xmlns:p="http://schemas.openxmlformats.org/presentationml/2006/main">
  <p:tag name="KSO_WM_DIAGRAM_VIRTUALLY_FRAME" val="{&quot;height&quot;:119,&quot;left&quot;:115,&quot;top&quot;:269,&quot;width&quot;:528.1}"/>
</p:tagLst>
</file>

<file path=ppt/tags/tag2.xml><?xml version="1.0" encoding="utf-8"?>
<p:tagLst xmlns:p="http://schemas.openxmlformats.org/presentationml/2006/main">
  <p:tag name="KSO_WM_DIAGRAM_VIRTUALLY_FRAME" val="{&quot;height&quot;:119,&quot;left&quot;:115,&quot;top&quot;:269,&quot;width&quot;:528.1}"/>
</p:tagLst>
</file>

<file path=ppt/tags/tag3.xml><?xml version="1.0" encoding="utf-8"?>
<p:tagLst xmlns:p="http://schemas.openxmlformats.org/presentationml/2006/main">
  <p:tag name="KSO_WM_DIAGRAM_VIRTUALLY_FRAME" val="{&quot;height&quot;:119,&quot;left&quot;:115,&quot;top&quot;:269,&quot;width&quot;:528.1}"/>
</p:tagLst>
</file>

<file path=ppt/tags/tag4.xml><?xml version="1.0" encoding="utf-8"?>
<p:tagLst xmlns:p="http://schemas.openxmlformats.org/presentationml/2006/main">
  <p:tag name="KSO_WM_DIAGRAM_VIRTUALLY_FRAME" val="{&quot;height&quot;:119,&quot;left&quot;:115,&quot;top&quot;:269,&quot;width&quot;:528.1}"/>
</p:tagLst>
</file>

<file path=ppt/tags/tag5.xml><?xml version="1.0" encoding="utf-8"?>
<p:tagLst xmlns:p="http://schemas.openxmlformats.org/presentationml/2006/main">
  <p:tag name="KSO_WM_DIAGRAM_VIRTUALLY_FRAME" val="{&quot;height&quot;:119,&quot;left&quot;:115,&quot;top&quot;:269,&quot;width&quot;:528.1}"/>
</p:tagLst>
</file>

<file path=ppt/tags/tag6.xml><?xml version="1.0" encoding="utf-8"?>
<p:tagLst xmlns:p="http://schemas.openxmlformats.org/presentationml/2006/main">
  <p:tag name="KSO_WM_DIAGRAM_VIRTUALLY_FRAME" val="{&quot;height&quot;:119,&quot;left&quot;:115,&quot;top&quot;:269,&quot;width&quot;:528.1}"/>
</p:tagLst>
</file>

<file path=ppt/tags/tag7.xml><?xml version="1.0" encoding="utf-8"?>
<p:tagLst xmlns:p="http://schemas.openxmlformats.org/presentationml/2006/main">
  <p:tag name="KSO_WM_DIAGRAM_VIRTUALLY_FRAME" val="{&quot;height&quot;:119,&quot;left&quot;:115,&quot;top&quot;:269,&quot;width&quot;:528.1}"/>
</p:tagLst>
</file>

<file path=ppt/tags/tag8.xml><?xml version="1.0" encoding="utf-8"?>
<p:tagLst xmlns:p="http://schemas.openxmlformats.org/presentationml/2006/main">
  <p:tag name="KSO_WM_DIAGRAM_VIRTUALLY_FRAME" val="{&quot;height&quot;:119,&quot;left&quot;:115,&quot;top&quot;:269,&quot;width&quot;:528.1}"/>
</p:tagLst>
</file>

<file path=ppt/tags/tag9.xml><?xml version="1.0" encoding="utf-8"?>
<p:tagLst xmlns:p="http://schemas.openxmlformats.org/presentationml/2006/main">
  <p:tag name="KSO_WM_DIAGRAM_VIRTUALLY_FRAME" val="{&quot;height&quot;:119,&quot;left&quot;:115,&quot;top&quot;:269,&quot;width&quot;:528.1}"/>
</p:tagLst>
</file>

<file path=ppt/tags/tag10.xml><?xml version="1.0" encoding="utf-8"?>
<p:tagLst xmlns:p="http://schemas.openxmlformats.org/presentationml/2006/main">
  <p:tag name="KSO_WM_DIAGRAM_VIRTUALLY_FRAME" val="{&quot;height&quot;:119,&quot;left&quot;:115,&quot;top&quot;:269,&quot;width&quot;:528.1}"/>
</p:tagLst>
</file>

<file path=ppt/tags/tag11.xml><?xml version="1.0" encoding="utf-8"?>
<p:tagLst xmlns:p="http://schemas.openxmlformats.org/presentationml/2006/main">
  <p:tag name="KSO_WM_DIAGRAM_VIRTUALLY_FRAME" val="{&quot;height&quot;:119,&quot;left&quot;:115,&quot;top&quot;:269,&quot;width&quot;:528.1}"/>
</p:tagLst>
</file>

<file path=ppt/tags/tag12.xml><?xml version="1.0" encoding="utf-8"?>
<p:tagLst xmlns:p="http://schemas.openxmlformats.org/presentationml/2006/main">
  <p:tag name="KSO_WM_DIAGRAM_VIRTUALLY_FRAME" val="{&quot;height&quot;:119,&quot;left&quot;:115,&quot;top&quot;:269,&quot;width&quot;:528.1}"/>
</p:tagLst>
</file>

<file path=ppt/tags/tag13.xml><?xml version="1.0" encoding="utf-8"?>
<p:tagLst xmlns:p="http://schemas.openxmlformats.org/presentationml/2006/main">
  <p:tag name="KSO_WM_DIAGRAM_VIRTUALLY_FRAME" val="{&quot;height&quot;:119,&quot;left&quot;:115,&quot;top&quot;:269,&quot;width&quot;:528.1}"/>
</p:tagLst>
</file>

<file path=ppt/tags/tag14.xml><?xml version="1.0" encoding="utf-8"?>
<p:tagLst xmlns:p="http://schemas.openxmlformats.org/presentationml/2006/main">
  <p:tag name="KSO_WM_DIAGRAM_VIRTUALLY_FRAME" val="{&quot;height&quot;:119,&quot;left&quot;:115,&quot;top&quot;:269,&quot;width&quot;:528.1}"/>
</p:tagLst>
</file>

<file path=ppt/tags/tag15.xml><?xml version="1.0" encoding="utf-8"?>
<p:tagLst xmlns:p="http://schemas.openxmlformats.org/presentationml/2006/main">
  <p:tag name="KSO_WM_DIAGRAM_VIRTUALLY_FRAME" val="{&quot;height&quot;:119,&quot;left&quot;:115,&quot;top&quot;:269,&quot;width&quot;:528.1}"/>
</p:tagLst>
</file>

<file path=ppt/tags/tag16.xml><?xml version="1.0" encoding="utf-8"?>
<p:tagLst xmlns:p="http://schemas.openxmlformats.org/presentationml/2006/main">
  <p:tag name="KSO_WM_DIAGRAM_VIRTUALLY_FRAME" val="{&quot;height&quot;:119,&quot;left&quot;:115,&quot;top&quot;:269,&quot;width&quot;:528.1}"/>
</p:tagLst>
</file>

<file path=ppt/tags/tag17.xml><?xml version="1.0" encoding="utf-8"?>
<p:tagLst xmlns:p="http://schemas.openxmlformats.org/presentationml/2006/main">
  <p:tag name="KSO_WM_DIAGRAM_VIRTUALLY_FRAME" val="{&quot;height&quot;:405,&quot;left&quot;:0,&quot;top&quot;:0,&quot;width&quot;:720}"/>
</p:tagLst>
</file>

<file path=ppt/tags/tag18.xml><?xml version="1.0" encoding="utf-8"?>
<p:tagLst xmlns:p="http://schemas.openxmlformats.org/presentationml/2006/main">
  <p:tag name="KSO_WM_DIAGRAM_VIRTUALLY_FRAME" val="{&quot;height&quot;:405,&quot;left&quot;:0,&quot;top&quot;:0,&quot;width&quot;:720}"/>
</p:tagLst>
</file>

<file path=ppt/tags/tag19.xml><?xml version="1.0" encoding="utf-8"?>
<p:tagLst xmlns:p="http://schemas.openxmlformats.org/presentationml/2006/main">
  <p:tag name="KSO_WM_DIAGRAM_VIRTUALLY_FRAME" val="{&quot;height&quot;:405,&quot;left&quot;:0,&quot;top&quot;:0,&quot;width&quot;:720}"/>
</p:tagLst>
</file>

<file path=ppt/tags/tag20.xml><?xml version="1.0" encoding="utf-8"?>
<p:tagLst xmlns:p="http://schemas.openxmlformats.org/presentationml/2006/main">
  <p:tag name="KSO_WM_DIAGRAM_VIRTUALLY_FRAME" val="{&quot;height&quot;:405,&quot;left&quot;:0,&quot;top&quot;:0,&quot;width&quot;:720}"/>
</p:tagLst>
</file>

<file path=ppt/tags/tag21.xml><?xml version="1.0" encoding="utf-8"?>
<p:tagLst xmlns:p="http://schemas.openxmlformats.org/presentationml/2006/main">
  <p:tag name="KSO_WM_DIAGRAM_VIRTUALLY_FRAME" val="{&quot;height&quot;:405,&quot;left&quot;:0,&quot;top&quot;:0,&quot;width&quot;:720}"/>
</p:tagLst>
</file>

<file path=ppt/tags/tag22.xml><?xml version="1.0" encoding="utf-8"?>
<p:tagLst xmlns:p="http://schemas.openxmlformats.org/presentationml/2006/main">
  <p:tag name="KSO_WM_DIAGRAM_VIRTUALLY_FRAME" val="{&quot;height&quot;:405,&quot;left&quot;:0,&quot;top&quot;:0,&quot;width&quot;:720}"/>
</p:tagLst>
</file>

<file path=ppt/tags/tag23.xml><?xml version="1.0" encoding="utf-8"?>
<p:tagLst xmlns:p="http://schemas.openxmlformats.org/presentationml/2006/main">
  <p:tag name="KSO_WM_DIAGRAM_VIRTUALLY_FRAME" val="{&quot;height&quot;:405,&quot;left&quot;:0,&quot;top&quot;:0,&quot;width&quot;:720}"/>
</p:tagLst>
</file>

<file path=ppt/tags/tag24.xml><?xml version="1.0" encoding="utf-8"?>
<p:tagLst xmlns:p="http://schemas.openxmlformats.org/presentationml/2006/main">
  <p:tag name="KSO_WM_DIAGRAM_VIRTUALLY_FRAME" val="{&quot;height&quot;:405,&quot;left&quot;:0,&quot;top&quot;:0,&quot;width&quot;:720}"/>
</p:tagLst>
</file>

<file path=ppt/tags/tag25.xml><?xml version="1.0" encoding="utf-8"?>
<p:tagLst xmlns:p="http://schemas.openxmlformats.org/presentationml/2006/main">
  <p:tag name="KSO_WM_DIAGRAM_VIRTUALLY_FRAME" val="{&quot;height&quot;:405,&quot;left&quot;:0,&quot;top&quot;:0,&quot;width&quot;:720}"/>
</p:tagLst>
</file>

<file path=ppt/tags/tag26.xml><?xml version="1.0" encoding="utf-8"?>
<p:tagLst xmlns:p="http://schemas.openxmlformats.org/presentationml/2006/main">
  <p:tag name="KSO_WM_DIAGRAM_VIRTUALLY_FRAME" val="{&quot;height&quot;:405,&quot;left&quot;:0,&quot;top&quot;:0,&quot;width&quot;:720}"/>
</p:tagLst>
</file>

<file path=ppt/tags/tag27.xml><?xml version="1.0" encoding="utf-8"?>
<p:tagLst xmlns:p="http://schemas.openxmlformats.org/presentationml/2006/main">
  <p:tag name="KSO_WM_DIAGRAM_VIRTUALLY_FRAME" val="{&quot;height&quot;:405,&quot;left&quot;:0,&quot;top&quot;:0,&quot;width&quot;:720}"/>
</p:tagLst>
</file>

<file path=ppt/tags/tag28.xml><?xml version="1.0" encoding="utf-8"?>
<p:tagLst xmlns:p="http://schemas.openxmlformats.org/presentationml/2006/main">
  <p:tag name="KSO_WM_DIAGRAM_VIRTUALLY_FRAME" val="{&quot;height&quot;:405,&quot;left&quot;:0,&quot;top&quot;:0,&quot;width&quot;:720}"/>
</p:tagLst>
</file>

<file path=ppt/tags/tag29.xml><?xml version="1.0" encoding="utf-8"?>
<p:tagLst xmlns:p="http://schemas.openxmlformats.org/presentationml/2006/main">
  <p:tag name="KSO_WM_DIAGRAM_VIRTUALLY_FRAME" val="{&quot;height&quot;:405,&quot;left&quot;:0,&quot;top&quot;:0,&quot;width&quot;:720}"/>
</p:tagLst>
</file>

<file path=ppt/tags/tag30.xml><?xml version="1.0" encoding="utf-8"?>
<p:tagLst xmlns:p="http://schemas.openxmlformats.org/presentationml/2006/main">
  <p:tag name="KSO_WM_DIAGRAM_VIRTUALLY_FRAME" val="{&quot;height&quot;:405,&quot;left&quot;:0,&quot;top&quot;:0,&quot;width&quot;:720}"/>
</p:tagLst>
</file>

<file path=ppt/tags/tag31.xml><?xml version="1.0" encoding="utf-8"?>
<p:tagLst xmlns:p="http://schemas.openxmlformats.org/presentationml/2006/main">
  <p:tag name="KSO_WM_DIAGRAM_VIRTUALLY_FRAME" val="{&quot;height&quot;:405,&quot;left&quot;:0,&quot;top&quot;:0,&quot;width&quot;:720}"/>
</p:tagLst>
</file>

<file path=ppt/tags/tag32.xml><?xml version="1.0" encoding="utf-8"?>
<p:tagLst xmlns:p="http://schemas.openxmlformats.org/presentationml/2006/main">
  <p:tag name="KSO_WM_DIAGRAM_VIRTUALLY_FRAME" val="{&quot;height&quot;:405,&quot;left&quot;:0,&quot;top&quot;:0,&quot;width&quot;:720}"/>
</p:tagLst>
</file>

<file path=ppt/tags/tag33.xml><?xml version="1.0" encoding="utf-8"?>
<p:tagLst xmlns:p="http://schemas.openxmlformats.org/presentationml/2006/main">
  <p:tag name="KSO_WM_DIAGRAM_VIRTUALLY_FRAME" val="{&quot;height&quot;:405,&quot;left&quot;:0,&quot;top&quot;:0,&quot;width&quot;:72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2524</Words>
  <Application>WPS 演示</Application>
  <PresentationFormat/>
  <Paragraphs>285</Paragraphs>
  <Slides>12</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12</vt:i4>
      </vt:variant>
    </vt:vector>
  </HeadingPairs>
  <TitlesOfParts>
    <vt:vector size="35" baseType="lpstr">
      <vt:lpstr>Arial</vt:lpstr>
      <vt:lpstr>宋体</vt:lpstr>
      <vt:lpstr>Wingdings</vt:lpstr>
      <vt:lpstr>Arial</vt:lpstr>
      <vt:lpstr>Merriweather</vt:lpstr>
      <vt:lpstr>Thonburi</vt:lpstr>
      <vt:lpstr>Noto Sans SC</vt:lpstr>
      <vt:lpstr>Calibri</vt:lpstr>
      <vt:lpstr>Helvetica Neue</vt:lpstr>
      <vt:lpstr>宋体</vt:lpstr>
      <vt:lpstr>汉仪书宋二KW</vt:lpstr>
      <vt:lpstr>微软雅黑</vt:lpstr>
      <vt:lpstr>汉仪旗黑</vt:lpstr>
      <vt:lpstr>Arial Unicode MS</vt:lpstr>
      <vt:lpstr>Merriweather</vt:lpstr>
      <vt:lpstr>Noto Sans SC</vt:lpstr>
      <vt:lpstr>苹方-简</vt:lpstr>
      <vt:lpstr>宋体-简</vt:lpstr>
      <vt:lpstr>Apple Color Emoji</vt:lpstr>
      <vt:lpstr>Merriweather</vt:lpstr>
      <vt:lpstr>Merriweather</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LuFei</cp:lastModifiedBy>
  <cp:revision>7</cp:revision>
  <dcterms:created xsi:type="dcterms:W3CDTF">2026-05-15T07:49:00Z</dcterms:created>
  <dcterms:modified xsi:type="dcterms:W3CDTF">2026-05-15T07:49:00Z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456061168B212E83ECCF066A77494EDF_43</vt:lpwstr>
  </property>
  <property fmtid="{D5CDD505-2E9C-101B-9397-08002B2CF9AE}" pid="3" name="KSOProductBuildVer">
    <vt:lpwstr>2052-12.1.25205.25205</vt:lpwstr>
  </property>
</Properties>
</file>